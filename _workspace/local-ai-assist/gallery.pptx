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731520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8A9099"/>
                </a:solidFill>
                <a:latin typeface="Pretendard"/>
              </a:rPr>
              <a:t>S4 · PART Ⅰ · 형태 후보 4 (내용 동일)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400" b="1" lang="ko-KR">
                <a:solidFill>
                  <a:srgbClr val="15171B"/>
                </a:solidFill>
                <a:latin typeface="Pretendard"/>
              </a:rPr>
              <a:t>문제 인식 — 표본으로는 무엇이 안 되는가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11094415" cy="914"/>
          </a:xfrm>
          <a:prstGeom prst="rect">
            <a:avLst/>
          </a:prstGeom>
          <a:noFill/>
          <a:ln w="1778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50" b="1" lang="ko-KR">
                <a:solidFill>
                  <a:srgbClr val="D66E3A"/>
                </a:solidFill>
                <a:latin typeface="Pretendard"/>
              </a:rPr>
              <a:t>초점(채록): 표본 구조적 한계 = 감사인 미대체 = 3모델 분담 = 실무 근거 — 네 개 동일 비중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0" lang="ko-KR">
                <a:solidFill>
                  <a:srgbClr val="8A9099"/>
                </a:solidFill>
                <a:latin typeface="Pretendard"/>
              </a:rPr>
              <a:t>담기는 것(고정): README §2 비교 5축 · §3 기대효과 3 · 감사인 경계 · 근거 실무 문서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좌앵커 + 중앙 5축 대결 + 우 기대효과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35024"/>
            <a:ext cx="92485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05000"/>
              </a:lnSpc>
            </a:pPr>
            <a:r>
              <a:rPr sz="1300" b="1" lang="ko-KR">
                <a:solidFill>
                  <a:srgbClr val="15171B"/>
                </a:solidFill>
                <a:latin typeface="Pretendard"/>
              </a:rPr>
              <a:t>전수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64208"/>
            <a:ext cx="92485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1" lang="ko-KR">
                <a:solidFill>
                  <a:srgbClr val="D66E3A"/>
                </a:solidFill>
                <a:latin typeface="Pretendard"/>
              </a:rPr>
              <a:t>표본 추출의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847088"/>
            <a:ext cx="92485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30000"/>
              </a:lnSpc>
            </a:pPr>
            <a:r>
              <a:rPr sz="650" b="0" lang="ko-KR">
                <a:solidFill>
                  <a:srgbClr val="555A60"/>
                </a:solidFill>
                <a:latin typeface="Pretendard"/>
              </a:rPr>
              <a:t>표본은 못 본 데이터를 못 본 채 결론을 낸다. 다섯 축 전부에서 갈린다.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6098" y="1335024"/>
            <a:ext cx="2716747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기존 표본 분석 ↔ AI 기반 전수 분석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66098" y="1490472"/>
            <a:ext cx="2716747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66098" y="1572768"/>
            <a:ext cx="977764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r"/>
            <a:r>
              <a:rPr sz="650" b="1" lang="ko-KR">
                <a:solidFill>
                  <a:srgbClr val="8A9099"/>
                </a:solidFill>
                <a:latin typeface="Pretendard"/>
              </a:rPr>
              <a:t>표본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5081" y="1572768"/>
            <a:ext cx="977764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전수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71294" y="1746504"/>
            <a:ext cx="706354" cy="267004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9582" y="1746504"/>
            <a:ext cx="669778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검증 범위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66098" y="1746504"/>
            <a:ext cx="977764" cy="26700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02674" y="1746504"/>
            <a:ext cx="904612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표본 추출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05081" y="1746504"/>
            <a:ext cx="977764" cy="267004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1657" y="1746504"/>
            <a:ext cx="904612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전표 전수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71294" y="2040940"/>
            <a:ext cx="706354" cy="267004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9582" y="2040940"/>
            <a:ext cx="669778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분석 기준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66098" y="2040940"/>
            <a:ext cx="977764" cy="26700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02674" y="2040940"/>
            <a:ext cx="904612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주관 판단 → 감사인 편차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05081" y="2040940"/>
            <a:ext cx="977764" cy="267004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41657" y="2040940"/>
            <a:ext cx="904612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3모델 일관 기준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71294" y="2335377"/>
            <a:ext cx="706354" cy="267004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89582" y="2335377"/>
            <a:ext cx="669778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금액 중요성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66098" y="2335377"/>
            <a:ext cx="977764" cy="26700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02674" y="2335377"/>
            <a:ext cx="904612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고액 위주 → 소액 누락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05081" y="2335377"/>
            <a:ext cx="977764" cy="267004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41657" y="2335377"/>
            <a:ext cx="904612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금액 규모 무관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71294" y="2629814"/>
            <a:ext cx="706354" cy="267004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89582" y="2629814"/>
            <a:ext cx="669778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데이터 전처리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66098" y="2629814"/>
            <a:ext cx="977764" cy="26700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02674" y="2629814"/>
            <a:ext cx="904612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수동 정렬·가공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05081" y="2629814"/>
            <a:ext cx="977764" cy="267004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41657" y="2629814"/>
            <a:ext cx="904612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속성 자동 부여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71294" y="2924251"/>
            <a:ext cx="706354" cy="267004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89582" y="2924251"/>
            <a:ext cx="669778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미정의 패턴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66098" y="2924251"/>
            <a:ext cx="977764" cy="26700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02674" y="2924251"/>
            <a:ext cx="904612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정의된 조건만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05081" y="2924251"/>
            <a:ext cx="977764" cy="267004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41657" y="2924251"/>
            <a:ext cx="904612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머신러닝이 추출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5726" y="1335024"/>
            <a:ext cx="1213866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기대 효과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5726" y="1490472"/>
            <a:ext cx="1213866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65726" y="1572768"/>
            <a:ext cx="1213866" cy="310896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02302" y="1572768"/>
            <a:ext cx="1140713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파생 변수 자동 생성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272659" y="1883664"/>
            <a:ext cx="0" cy="100584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4665726" y="1993392"/>
            <a:ext cx="1213866" cy="310896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02302" y="1993392"/>
            <a:ext cx="1140713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분석 결과 시각화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272659" y="2304288"/>
            <a:ext cx="0" cy="100584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4665726" y="2414016"/>
            <a:ext cx="1213866" cy="310896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02302" y="2414016"/>
            <a:ext cx="1140713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검토 비용 절감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99632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73952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 5축 대결 + 우 두 경로 분기 (둘 다 전체 높이)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09360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09360" y="1335024"/>
            <a:ext cx="2673407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다섯 축에서 갈린다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9360" y="1490472"/>
            <a:ext cx="2673407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0" y="1572768"/>
            <a:ext cx="96172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r"/>
            <a:r>
              <a:rPr sz="650" b="1" lang="ko-KR">
                <a:solidFill>
                  <a:srgbClr val="8A9099"/>
                </a:solidFill>
                <a:latin typeface="Pretendard"/>
              </a:rPr>
              <a:t>표본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21038" y="1572768"/>
            <a:ext cx="96172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전수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298520" y="1746504"/>
            <a:ext cx="695085" cy="267004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6808" y="1746504"/>
            <a:ext cx="658509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검증 범위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09360" y="1746504"/>
            <a:ext cx="961728" cy="26700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45936" y="1746504"/>
            <a:ext cx="888576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표본 추출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21038" y="1746504"/>
            <a:ext cx="961728" cy="267004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57614" y="1746504"/>
            <a:ext cx="888576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전표 전수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298520" y="2040940"/>
            <a:ext cx="695085" cy="267004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6808" y="2040940"/>
            <a:ext cx="658509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분석 기준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040940"/>
            <a:ext cx="961728" cy="26700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45936" y="2040940"/>
            <a:ext cx="888576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주관 판단 → 감사인 편차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21038" y="2040940"/>
            <a:ext cx="961728" cy="267004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057614" y="2040940"/>
            <a:ext cx="888576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3모델 일관 기준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298520" y="2335377"/>
            <a:ext cx="695085" cy="267004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16808" y="2335377"/>
            <a:ext cx="658509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금액 중요성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09360" y="2335377"/>
            <a:ext cx="961728" cy="26700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45936" y="2335377"/>
            <a:ext cx="888576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고액 위주 → 소액 누락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21038" y="2335377"/>
            <a:ext cx="961728" cy="267004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057614" y="2335377"/>
            <a:ext cx="888576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금액 규모 무관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298520" y="2629814"/>
            <a:ext cx="695085" cy="267004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6808" y="2629814"/>
            <a:ext cx="658509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데이터 전처리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309360" y="2629814"/>
            <a:ext cx="961728" cy="26700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45936" y="2629814"/>
            <a:ext cx="888576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수동 정렬·가공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21038" y="2629814"/>
            <a:ext cx="961728" cy="267004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057614" y="2629814"/>
            <a:ext cx="888576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속성 자동 부여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298520" y="2924251"/>
            <a:ext cx="695085" cy="267004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316808" y="2924251"/>
            <a:ext cx="658509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미정의 패턴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309360" y="2924251"/>
            <a:ext cx="961728" cy="26700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45936" y="2924251"/>
            <a:ext cx="888576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정의된 조건만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021038" y="2924251"/>
            <a:ext cx="961728" cy="267004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57614" y="2924251"/>
            <a:ext cx="888576" cy="2670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머신러닝이 추출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65647" y="1335024"/>
            <a:ext cx="2364936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같은 전표, 두 경로 — 근거는 실무 문서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165647" y="1490472"/>
            <a:ext cx="2364936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9402140" y="1572768"/>
            <a:ext cx="1891949" cy="263347"/>
          </a:xfrm>
          <a:prstGeom prst="round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438716" y="1572768"/>
            <a:ext cx="1818797" cy="26334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50" b="1" lang="ko-KR">
                <a:solidFill>
                  <a:srgbClr val="FFFFFF"/>
                </a:solidFill>
                <a:latin typeface="Pretendard"/>
              </a:rPr>
              <a:t>전표 113,465건 · 감리 230건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348115" y="1836115"/>
            <a:ext cx="914" cy="14630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697757" y="1982419"/>
            <a:ext cx="1300715" cy="91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697757" y="1982419"/>
            <a:ext cx="914" cy="102412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998473" y="1982419"/>
            <a:ext cx="914" cy="102412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65647" y="2084832"/>
            <a:ext cx="1064221" cy="252984"/>
          </a:xfrm>
          <a:prstGeom prst="rect">
            <a:avLst/>
          </a:prstGeom>
          <a:solidFill>
            <a:srgbClr val="F2F3F5"/>
          </a:solidFill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202223" y="2084832"/>
            <a:ext cx="991069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표본 추출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65647" y="2365248"/>
            <a:ext cx="1064221" cy="252984"/>
          </a:xfrm>
          <a:prstGeom prst="rect">
            <a:avLst/>
          </a:prstGeom>
          <a:solidFill>
            <a:srgbClr val="F2F3F5"/>
          </a:solidFill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202223" y="2365248"/>
            <a:ext cx="991069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고액 위주 검토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9697757" y="2337816"/>
            <a:ext cx="0" cy="18288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9165647" y="2645664"/>
            <a:ext cx="1064221" cy="252984"/>
          </a:xfrm>
          <a:prstGeom prst="rect">
            <a:avLst/>
          </a:prstGeom>
          <a:solidFill>
            <a:srgbClr val="F2F3F5"/>
          </a:solidFill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202223" y="2645664"/>
            <a:ext cx="991069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소액·미정의 누락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9697757" y="2618232"/>
            <a:ext cx="0" cy="18288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697757" y="2898648"/>
            <a:ext cx="0" cy="4572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9378491" y="2953512"/>
            <a:ext cx="638532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415067" y="2953512"/>
            <a:ext cx="565380" cy="2377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8A9099"/>
                </a:solidFill>
                <a:latin typeface="Pretendard"/>
              </a:rPr>
              <a:t>✕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466362" y="2084832"/>
            <a:ext cx="1064221" cy="252984"/>
          </a:xfrm>
          <a:prstGeom prst="rect">
            <a:avLst/>
          </a:prstGeom>
          <a:solidFill>
            <a:srgbClr val="FFFFFF"/>
          </a:solidFill>
          <a:ln w="1143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502938" y="2084832"/>
            <a:ext cx="991069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전량 투입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466362" y="2365248"/>
            <a:ext cx="1064221" cy="252984"/>
          </a:xfrm>
          <a:prstGeom prst="rect">
            <a:avLst/>
          </a:prstGeom>
          <a:solidFill>
            <a:srgbClr val="FFFFFF"/>
          </a:solidFill>
          <a:ln w="1143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502938" y="2365248"/>
            <a:ext cx="991069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3모델 일관 적용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0998473" y="2337816"/>
            <a:ext cx="0" cy="18288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tangle 121"/>
          <p:cNvSpPr/>
          <p:nvPr/>
        </p:nvSpPr>
        <p:spPr>
          <a:xfrm>
            <a:off x="10466362" y="2645664"/>
            <a:ext cx="1064221" cy="252984"/>
          </a:xfrm>
          <a:prstGeom prst="rect">
            <a:avLst/>
          </a:prstGeom>
          <a:solidFill>
            <a:srgbClr val="FFFFFF"/>
          </a:solidFill>
          <a:ln w="1143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502938" y="2645664"/>
            <a:ext cx="991069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검토 목록 산출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998473" y="2618232"/>
            <a:ext cx="0" cy="18288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0998473" y="2898648"/>
            <a:ext cx="0" cy="4572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10679206" y="2953512"/>
            <a:ext cx="638532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715782" y="2953512"/>
            <a:ext cx="565380" cy="2377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D66E3A"/>
                </a:solidFill>
                <a:latin typeface="Pretendard"/>
              </a:rPr>
              <a:t>✓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48640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2959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상단 5축 가로 3단(축·표본·전수) + 하단 기대효과 / 경계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58368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58368" y="3803903"/>
            <a:ext cx="5221224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다섯 축 — 위가 표본, 아래가 전수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58368" y="3959351"/>
            <a:ext cx="5221224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58368" y="4041647"/>
            <a:ext cx="971092" cy="20116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85800" y="4041647"/>
            <a:ext cx="91622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검증 범위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58368" y="4279391"/>
            <a:ext cx="971092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94944" y="4279391"/>
            <a:ext cx="897940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>
              <a:lnSpc>
                <a:spcPct val="115000"/>
              </a:lnSpc>
            </a:pPr>
            <a:r>
              <a:rPr sz="600" b="0" lang="ko-KR">
                <a:solidFill>
                  <a:srgbClr val="8A9099"/>
                </a:solidFill>
                <a:latin typeface="Pretendard"/>
              </a:rPr>
              <a:t>표본 추출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58368" y="4626863"/>
            <a:ext cx="971092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94944" y="4626863"/>
            <a:ext cx="897940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>
              <a:lnSpc>
                <a:spcPct val="115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전표 전수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720900" y="4041647"/>
            <a:ext cx="971092" cy="20116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748332" y="4041647"/>
            <a:ext cx="91622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분석 기준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720900" y="4279391"/>
            <a:ext cx="971092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757476" y="4279391"/>
            <a:ext cx="897940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>
              <a:lnSpc>
                <a:spcPct val="115000"/>
              </a:lnSpc>
            </a:pPr>
            <a:r>
              <a:rPr sz="600" b="0" lang="ko-KR">
                <a:solidFill>
                  <a:srgbClr val="8A9099"/>
                </a:solidFill>
                <a:latin typeface="Pretendard"/>
              </a:rPr>
              <a:t>주관 판단 → 감사인 편차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720900" y="4626863"/>
            <a:ext cx="971092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757476" y="4626863"/>
            <a:ext cx="897940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>
              <a:lnSpc>
                <a:spcPct val="115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3모델 일관 기준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783433" y="4041647"/>
            <a:ext cx="971092" cy="20116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810865" y="4041647"/>
            <a:ext cx="91622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금액 중요성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783433" y="4279391"/>
            <a:ext cx="971092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820009" y="4279391"/>
            <a:ext cx="897940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>
              <a:lnSpc>
                <a:spcPct val="115000"/>
              </a:lnSpc>
            </a:pPr>
            <a:r>
              <a:rPr sz="600" b="0" lang="ko-KR">
                <a:solidFill>
                  <a:srgbClr val="8A9099"/>
                </a:solidFill>
                <a:latin typeface="Pretendard"/>
              </a:rPr>
              <a:t>고액 위주 → 소액 누락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783433" y="4626863"/>
            <a:ext cx="971092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820009" y="4626863"/>
            <a:ext cx="897940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>
              <a:lnSpc>
                <a:spcPct val="115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금액 규모 무관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845966" y="4041647"/>
            <a:ext cx="971092" cy="20116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873398" y="4041647"/>
            <a:ext cx="91622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데이터 전처리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845966" y="4279391"/>
            <a:ext cx="971092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882542" y="4279391"/>
            <a:ext cx="897940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>
              <a:lnSpc>
                <a:spcPct val="115000"/>
              </a:lnSpc>
            </a:pPr>
            <a:r>
              <a:rPr sz="600" b="0" lang="ko-KR">
                <a:solidFill>
                  <a:srgbClr val="8A9099"/>
                </a:solidFill>
                <a:latin typeface="Pretendard"/>
              </a:rPr>
              <a:t>수동 정렬·가공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845966" y="4626863"/>
            <a:ext cx="971092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882542" y="4626863"/>
            <a:ext cx="897940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>
              <a:lnSpc>
                <a:spcPct val="115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속성 자동 부여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908499" y="4041647"/>
            <a:ext cx="971092" cy="20116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935931" y="4041647"/>
            <a:ext cx="91622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미정의 패턴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908499" y="4279391"/>
            <a:ext cx="971092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945075" y="4279391"/>
            <a:ext cx="897940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>
              <a:lnSpc>
                <a:spcPct val="115000"/>
              </a:lnSpc>
            </a:pPr>
            <a:r>
              <a:rPr sz="600" b="0" lang="ko-KR">
                <a:solidFill>
                  <a:srgbClr val="8A9099"/>
                </a:solidFill>
                <a:latin typeface="Pretendard"/>
              </a:rPr>
              <a:t>정의된 조건만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908499" y="4626863"/>
            <a:ext cx="971092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4945075" y="4626863"/>
            <a:ext cx="897940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>
              <a:lnSpc>
                <a:spcPct val="115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머신러닝이 추출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58368" y="4915407"/>
            <a:ext cx="269492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기대 효과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658368" y="5070855"/>
            <a:ext cx="2694928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58368" y="5153151"/>
            <a:ext cx="2694928" cy="310896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94944" y="5153151"/>
            <a:ext cx="2621776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파생 변수 자동 생성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58368" y="5550407"/>
            <a:ext cx="2694928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2단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536176" y="4915407"/>
            <a:ext cx="2343415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시스템은 확정하지 않는다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536176" y="5070855"/>
            <a:ext cx="2343415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3536176" y="5153151"/>
            <a:ext cx="703024" cy="239775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3572752" y="5153151"/>
            <a:ext cx="629872" cy="23977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시스템</a:t>
            </a:r>
          </a:p>
        </p:txBody>
      </p:sp>
      <p:cxnSp>
        <p:nvCxnSpPr>
          <p:cNvPr id="174" name="Connector 173"/>
          <p:cNvCxnSpPr/>
          <p:nvPr/>
        </p:nvCxnSpPr>
        <p:spPr>
          <a:xfrm>
            <a:off x="4257488" y="5273039"/>
            <a:ext cx="900791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TextBox 174"/>
          <p:cNvSpPr txBox="1"/>
          <p:nvPr/>
        </p:nvSpPr>
        <p:spPr>
          <a:xfrm>
            <a:off x="4239200" y="5135879"/>
            <a:ext cx="937366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D66E3A"/>
                </a:solidFill>
                <a:latin typeface="Pretendard"/>
              </a:rPr>
              <a:t>여기까지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176567" y="5153151"/>
            <a:ext cx="703024" cy="239775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5213143" y="5153151"/>
            <a:ext cx="629872" cy="23977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1차 선별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3536176" y="5420359"/>
            <a:ext cx="703024" cy="239775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3572752" y="5420359"/>
            <a:ext cx="629872" cy="23977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감사인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4257488" y="5540247"/>
            <a:ext cx="900791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4239200" y="5403087"/>
            <a:ext cx="937366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D66E3A"/>
                </a:solidFill>
                <a:latin typeface="Pretendard"/>
              </a:rPr>
              <a:t>여기부터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5176567" y="5420359"/>
            <a:ext cx="703024" cy="239775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213143" y="5420359"/>
            <a:ext cx="629872" cy="23977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부정 확정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199632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473952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 두 경로 분기 + 우 5축 대결 + 하단 근거 띠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309360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309360" y="3803903"/>
            <a:ext cx="1839395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같은 전표를 두 방식에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309360" y="3959351"/>
            <a:ext cx="1839395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6493299" y="4041647"/>
            <a:ext cx="1471516" cy="263347"/>
          </a:xfrm>
          <a:prstGeom prst="round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529875" y="4041647"/>
            <a:ext cx="1398364" cy="26334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50" b="1" lang="ko-KR">
                <a:solidFill>
                  <a:srgbClr val="FFFFFF"/>
                </a:solidFill>
                <a:latin typeface="Pretendard"/>
              </a:rPr>
              <a:t>전표 113,465건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229057" y="4304995"/>
            <a:ext cx="914" cy="14630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6723223" y="4451299"/>
            <a:ext cx="1011667" cy="91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6723223" y="4451299"/>
            <a:ext cx="914" cy="102412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734891" y="4451299"/>
            <a:ext cx="914" cy="102412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6309360" y="4553712"/>
            <a:ext cx="827727" cy="252983"/>
          </a:xfrm>
          <a:prstGeom prst="rect">
            <a:avLst/>
          </a:prstGeom>
          <a:solidFill>
            <a:srgbClr val="F2F3F5"/>
          </a:solidFill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345936" y="4553712"/>
            <a:ext cx="754575" cy="25298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표본 추출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6309360" y="4834128"/>
            <a:ext cx="827727" cy="252983"/>
          </a:xfrm>
          <a:prstGeom prst="rect">
            <a:avLst/>
          </a:prstGeom>
          <a:solidFill>
            <a:srgbClr val="F2F3F5"/>
          </a:solidFill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345936" y="4834128"/>
            <a:ext cx="754575" cy="25298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고액 위주 검토</a:t>
            </a:r>
          </a:p>
        </p:txBody>
      </p:sp>
      <p:cxnSp>
        <p:nvCxnSpPr>
          <p:cNvPr id="201" name="Connector 200"/>
          <p:cNvCxnSpPr/>
          <p:nvPr/>
        </p:nvCxnSpPr>
        <p:spPr>
          <a:xfrm>
            <a:off x="6723223" y="4806695"/>
            <a:ext cx="0" cy="18289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Rectangle 201"/>
          <p:cNvSpPr/>
          <p:nvPr/>
        </p:nvSpPr>
        <p:spPr>
          <a:xfrm>
            <a:off x="6309360" y="5114544"/>
            <a:ext cx="827727" cy="252983"/>
          </a:xfrm>
          <a:prstGeom prst="rect">
            <a:avLst/>
          </a:prstGeom>
          <a:solidFill>
            <a:srgbClr val="F2F3F5"/>
          </a:solidFill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6345936" y="5114544"/>
            <a:ext cx="754575" cy="25298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소액·미정의 누락</a:t>
            </a:r>
          </a:p>
        </p:txBody>
      </p:sp>
      <p:cxnSp>
        <p:nvCxnSpPr>
          <p:cNvPr id="204" name="Connector 203"/>
          <p:cNvCxnSpPr/>
          <p:nvPr/>
        </p:nvCxnSpPr>
        <p:spPr>
          <a:xfrm>
            <a:off x="6723223" y="5087111"/>
            <a:ext cx="0" cy="18289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6723223" y="5367527"/>
            <a:ext cx="0" cy="45721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Oval 205"/>
          <p:cNvSpPr/>
          <p:nvPr/>
        </p:nvSpPr>
        <p:spPr>
          <a:xfrm>
            <a:off x="6474905" y="5422392"/>
            <a:ext cx="496636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6511481" y="5422392"/>
            <a:ext cx="423484" cy="2377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8A9099"/>
                </a:solidFill>
                <a:latin typeface="Pretendard"/>
              </a:rPr>
              <a:t>✕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7321027" y="4553712"/>
            <a:ext cx="827727" cy="252983"/>
          </a:xfrm>
          <a:prstGeom prst="rect">
            <a:avLst/>
          </a:prstGeom>
          <a:solidFill>
            <a:srgbClr val="FFFFFF"/>
          </a:solidFill>
          <a:ln w="1143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7357603" y="4553712"/>
            <a:ext cx="754575" cy="25298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전량 투입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7321027" y="4834128"/>
            <a:ext cx="827727" cy="252983"/>
          </a:xfrm>
          <a:prstGeom prst="rect">
            <a:avLst/>
          </a:prstGeom>
          <a:solidFill>
            <a:srgbClr val="FFFFFF"/>
          </a:solidFill>
          <a:ln w="1143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7357603" y="4834128"/>
            <a:ext cx="754575" cy="25298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3모델 일관 적용</a:t>
            </a:r>
          </a:p>
        </p:txBody>
      </p:sp>
      <p:cxnSp>
        <p:nvCxnSpPr>
          <p:cNvPr id="212" name="Connector 211"/>
          <p:cNvCxnSpPr/>
          <p:nvPr/>
        </p:nvCxnSpPr>
        <p:spPr>
          <a:xfrm>
            <a:off x="7734891" y="4806695"/>
            <a:ext cx="0" cy="18289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Rectangle 212"/>
          <p:cNvSpPr/>
          <p:nvPr/>
        </p:nvSpPr>
        <p:spPr>
          <a:xfrm>
            <a:off x="7321027" y="5114544"/>
            <a:ext cx="827727" cy="252983"/>
          </a:xfrm>
          <a:prstGeom prst="rect">
            <a:avLst/>
          </a:prstGeom>
          <a:solidFill>
            <a:srgbClr val="FFFFFF"/>
          </a:solidFill>
          <a:ln w="1143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7357603" y="5114544"/>
            <a:ext cx="754575" cy="25298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검토 목록 산출</a:t>
            </a:r>
          </a:p>
        </p:txBody>
      </p:sp>
      <p:cxnSp>
        <p:nvCxnSpPr>
          <p:cNvPr id="215" name="Connector 214"/>
          <p:cNvCxnSpPr/>
          <p:nvPr/>
        </p:nvCxnSpPr>
        <p:spPr>
          <a:xfrm>
            <a:off x="7734891" y="5087111"/>
            <a:ext cx="0" cy="18289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7734891" y="5367527"/>
            <a:ext cx="0" cy="45721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Oval 216"/>
          <p:cNvSpPr/>
          <p:nvPr/>
        </p:nvSpPr>
        <p:spPr>
          <a:xfrm>
            <a:off x="7486573" y="5422392"/>
            <a:ext cx="496636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7523149" y="5422392"/>
            <a:ext cx="423484" cy="2377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D66E3A"/>
                </a:solidFill>
                <a:latin typeface="Pretendard"/>
              </a:rPr>
              <a:t>✓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8331635" y="3803903"/>
            <a:ext cx="319894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다섯 축 비교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8331635" y="3959351"/>
            <a:ext cx="3198948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8331635" y="4041647"/>
            <a:ext cx="115617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r"/>
            <a:r>
              <a:rPr sz="650" b="1" lang="ko-KR">
                <a:solidFill>
                  <a:srgbClr val="8A9099"/>
                </a:solidFill>
                <a:latin typeface="Pretendard"/>
              </a:rPr>
              <a:t>표본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0374405" y="4041647"/>
            <a:ext cx="115617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전수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9515246" y="4215383"/>
            <a:ext cx="831726" cy="18847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9533534" y="4215383"/>
            <a:ext cx="795150" cy="18847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검증 범위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8331635" y="4215383"/>
            <a:ext cx="1156178" cy="18847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8368211" y="4215383"/>
            <a:ext cx="1083026" cy="18847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표본 추출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0374405" y="4215383"/>
            <a:ext cx="1156178" cy="188478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0410981" y="4215383"/>
            <a:ext cx="1083026" cy="18847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전표 전수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515246" y="4431294"/>
            <a:ext cx="831726" cy="18847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9533534" y="4431294"/>
            <a:ext cx="795150" cy="18847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분석 기준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8331635" y="4431294"/>
            <a:ext cx="1156178" cy="18847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8368211" y="4431294"/>
            <a:ext cx="1083026" cy="18847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주관 판단 → 감사인 편차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0374405" y="4431294"/>
            <a:ext cx="1156178" cy="188478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0410981" y="4431294"/>
            <a:ext cx="1083026" cy="18847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3모델 일관 기준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9515246" y="4647204"/>
            <a:ext cx="831726" cy="18847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9533534" y="4647204"/>
            <a:ext cx="795150" cy="18847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금액 중요성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8331635" y="4647204"/>
            <a:ext cx="1156178" cy="18847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8368211" y="4647204"/>
            <a:ext cx="1083026" cy="18847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고액 위주 → 소액 누락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10374405" y="4647204"/>
            <a:ext cx="1156178" cy="188478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0410981" y="4647204"/>
            <a:ext cx="1083026" cy="18847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금액 규모 무관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8331635" y="4872259"/>
            <a:ext cx="3198948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2축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8331635" y="5155723"/>
            <a:ext cx="319894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근거는 실무 문서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331635" y="5329459"/>
            <a:ext cx="1029740" cy="35810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8368211" y="5329459"/>
            <a:ext cx="956588" cy="3581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감리 230건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416239" y="5329459"/>
            <a:ext cx="1029740" cy="35810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9452815" y="5329459"/>
            <a:ext cx="956588" cy="3581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기준서 240호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10500843" y="5329459"/>
            <a:ext cx="1029740" cy="35810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10537419" y="5329459"/>
            <a:ext cx="956588" cy="3581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기준서 520호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548640" y="6528816"/>
            <a:ext cx="11094415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후보 4개는 전부 같은 내용이다 — 다른 것은 배치·인코딩뿐 · 라벨은 자리에 맞게 접혔다(… 외 N개) · 번호로 회신 (예: S4=1 · S7=3 · S13=전탈락)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731520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8A9099"/>
                </a:solidFill>
                <a:latin typeface="Pretendard"/>
              </a:rPr>
              <a:t>S5 · PART Ⅰ · 형태 후보 4 (내용 동일)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400" b="1" lang="ko-KR">
                <a:solidFill>
                  <a:srgbClr val="15171B"/>
                </a:solidFill>
                <a:latin typeface="Pretendard"/>
              </a:rPr>
              <a:t>시스템 한 장 요약 — 무엇이 들어가 무엇이 나오는가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11094415" cy="914"/>
          </a:xfrm>
          <a:prstGeom prst="rect">
            <a:avLst/>
          </a:prstGeom>
          <a:noFill/>
          <a:ln w="1778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50" b="1" lang="ko-KR">
                <a:solidFill>
                  <a:srgbClr val="D66E3A"/>
                </a:solidFill>
                <a:latin typeface="Pretendard"/>
              </a:rPr>
              <a:t>초점(채록): 감사인을 대체하지 않는다 · 세 모델이 각기 다른 질문에 답한다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0" lang="ko-KR">
                <a:solidFill>
                  <a:srgbClr val="8A9099"/>
                </a:solidFill>
                <a:latin typeface="Pretendard"/>
              </a:rPr>
              <a:t>담기는 것(고정): 파이프라인 5단 · 3모델 질문·산출물 · 감사인 경계 · 원장 규모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 세로 파이프라인 + 우 3종에서 오른쪽 가지 뻗어 설명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35024"/>
            <a:ext cx="1975821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전표에서 검토 목록까지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490472"/>
            <a:ext cx="1975821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1572768"/>
            <a:ext cx="1975821" cy="301752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72768"/>
            <a:ext cx="1902669" cy="30175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전표 원장 355,786행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46278" y="1874520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58368" y="1901952"/>
            <a:ext cx="1975821" cy="301752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1901952"/>
            <a:ext cx="1902669" cy="30175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파생 변수 자동 부여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46278" y="2203704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58368" y="2231136"/>
            <a:ext cx="1975821" cy="301752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231136"/>
            <a:ext cx="1902669" cy="30175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분석 모델 3종 병렬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646278" y="2532888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58368" y="2560320"/>
            <a:ext cx="1975821" cy="301752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2560320"/>
            <a:ext cx="1902669" cy="30175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검토 조합 구성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646278" y="2862072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58368" y="2889504"/>
            <a:ext cx="1975821" cy="301752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2889504"/>
            <a:ext cx="1902669" cy="30175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FFFFFF"/>
                </a:solidFill>
                <a:latin typeface="Pretendard"/>
              </a:rPr>
              <a:t>검토 대상 전표 목록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7069" y="1335024"/>
            <a:ext cx="3062522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3종 병렬 — 가지를 뻗어 하나씩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17069" y="1490472"/>
            <a:ext cx="3062522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17069" y="2194560"/>
            <a:ext cx="796255" cy="40233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3645" y="2194560"/>
            <a:ext cx="723103" cy="40233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50" b="1" lang="ko-KR">
                <a:solidFill>
                  <a:srgbClr val="FFFFFF"/>
                </a:solidFill>
                <a:latin typeface="Pretendard"/>
              </a:rPr>
              <a:t>분석 모델
3종 병렬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3613325" y="1847088"/>
            <a:ext cx="146304" cy="548640"/>
          </a:xfrm>
          <a:prstGeom prst="line">
            <a:avLst/>
          </a:prstGeom>
          <a:ln w="11430">
            <a:solidFill>
              <a:srgbClr val="9697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759629" y="1691640"/>
            <a:ext cx="2119962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32781" y="1709928"/>
            <a:ext cx="1973658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룰 기반 검증 29종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32781" y="1837944"/>
            <a:ext cx="1973658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사전 정의 조건에 해당? → 근거가 명확한 목록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613325" y="2395728"/>
            <a:ext cx="146304" cy="0"/>
          </a:xfrm>
          <a:prstGeom prst="line">
            <a:avLst/>
          </a:prstGeom>
          <a:ln w="11430">
            <a:solidFill>
              <a:srgbClr val="9697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759629" y="2240280"/>
            <a:ext cx="2119962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32781" y="2258568"/>
            <a:ext cx="1973658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분석적 검토 5종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32781" y="2386584"/>
            <a:ext cx="1973658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그룹 분포에 통계적 이상치? → 참고 신호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613325" y="2395728"/>
            <a:ext cx="146304" cy="548640"/>
          </a:xfrm>
          <a:prstGeom prst="line">
            <a:avLst/>
          </a:prstGeom>
          <a:ln w="11430">
            <a:solidFill>
              <a:srgbClr val="9697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3759629" y="2788920"/>
            <a:ext cx="2119962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32781" y="2807208"/>
            <a:ext cx="1973658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비지도 학습 VAE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32781" y="2935224"/>
            <a:ext cx="1973658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정의되지 않은 패턴? → 신종·복합 후보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99632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상단 가로 파이프라인 밴드 + 하단 3종 가지 + 경계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1335024"/>
            <a:ext cx="5221224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전표에서 검토 목록까지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1490472"/>
            <a:ext cx="5221224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entagon 50"/>
          <p:cNvSpPr/>
          <p:nvPr/>
        </p:nvSpPr>
        <p:spPr>
          <a:xfrm>
            <a:off x="6309360" y="1572768"/>
            <a:ext cx="1110081" cy="365760"/>
          </a:xfrm>
          <a:prstGeom prst="homePlate">
            <a:avLst>
              <a:gd name="adj" fmla="val 5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eaLnBrk="0"/>
            <a:r>
              <a:rPr sz="650" b="1" lang="ko-KR">
                <a:solidFill>
                  <a:srgbClr val="15171B"/>
                </a:solidFill>
                <a:latin typeface="Pretendard"/>
              </a:rPr>
              <a:t>전표 원장 355,786행</a:t>
            </a:r>
          </a:p>
        </p:txBody>
      </p:sp>
      <p:sp>
        <p:nvSpPr>
          <p:cNvPr id="52" name="Chevron 51"/>
          <p:cNvSpPr/>
          <p:nvPr/>
        </p:nvSpPr>
        <p:spPr>
          <a:xfrm>
            <a:off x="7337145" y="1572768"/>
            <a:ext cx="1110081" cy="365760"/>
          </a:xfrm>
          <a:prstGeom prst="chevron">
            <a:avLst>
              <a:gd name="adj" fmla="val 5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eaLnBrk="0"/>
            <a:r>
              <a:rPr sz="650" b="1" lang="ko-KR">
                <a:solidFill>
                  <a:srgbClr val="15171B"/>
                </a:solidFill>
                <a:latin typeface="Pretendard"/>
              </a:rPr>
              <a:t>파생 변수 자동 부여</a:t>
            </a:r>
          </a:p>
        </p:txBody>
      </p:sp>
      <p:sp>
        <p:nvSpPr>
          <p:cNvPr id="53" name="Chevron 52"/>
          <p:cNvSpPr/>
          <p:nvPr/>
        </p:nvSpPr>
        <p:spPr>
          <a:xfrm>
            <a:off x="8364931" y="1572768"/>
            <a:ext cx="1110081" cy="365760"/>
          </a:xfrm>
          <a:prstGeom prst="chevron">
            <a:avLst>
              <a:gd name="adj" fmla="val 55000"/>
            </a:avLst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eaLnBrk="0"/>
            <a:r>
              <a:rPr sz="650" b="1" lang="ko-KR">
                <a:solidFill>
                  <a:srgbClr val="FFFFFF"/>
                </a:solidFill>
                <a:latin typeface="Pretendard"/>
              </a:rPr>
              <a:t>분석 모델 3종 병렬</a:t>
            </a:r>
          </a:p>
        </p:txBody>
      </p:sp>
      <p:sp>
        <p:nvSpPr>
          <p:cNvPr id="54" name="Chevron 53"/>
          <p:cNvSpPr/>
          <p:nvPr/>
        </p:nvSpPr>
        <p:spPr>
          <a:xfrm>
            <a:off x="9392716" y="1572768"/>
            <a:ext cx="1110081" cy="365760"/>
          </a:xfrm>
          <a:prstGeom prst="chevron">
            <a:avLst>
              <a:gd name="adj" fmla="val 5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eaLnBrk="0"/>
            <a:r>
              <a:rPr sz="650" b="1" lang="ko-KR">
                <a:solidFill>
                  <a:srgbClr val="15171B"/>
                </a:solidFill>
                <a:latin typeface="Pretendard"/>
              </a:rPr>
              <a:t>검토 조합 구성</a:t>
            </a:r>
          </a:p>
        </p:txBody>
      </p:sp>
      <p:sp>
        <p:nvSpPr>
          <p:cNvPr id="55" name="Chevron 54"/>
          <p:cNvSpPr/>
          <p:nvPr/>
        </p:nvSpPr>
        <p:spPr>
          <a:xfrm>
            <a:off x="10420502" y="1572768"/>
            <a:ext cx="1110081" cy="365760"/>
          </a:xfrm>
          <a:prstGeom prst="chevron">
            <a:avLst>
              <a:gd name="adj" fmla="val 55000"/>
            </a:avLst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eaLnBrk="0"/>
            <a:r>
              <a:rPr sz="650" b="1" lang="ko-KR">
                <a:solidFill>
                  <a:srgbClr val="FFFFFF"/>
                </a:solidFill>
                <a:latin typeface="Pretendard"/>
              </a:rPr>
              <a:t>검토 대상 전표 목록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2032384"/>
            <a:ext cx="320621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3종은 각각 다른 질문에 답한다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2187832"/>
            <a:ext cx="3206218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09360" y="2543240"/>
            <a:ext cx="705368" cy="40233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45936" y="2543240"/>
            <a:ext cx="632216" cy="40233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50" b="1" lang="ko-KR">
                <a:solidFill>
                  <a:srgbClr val="FFFFFF"/>
                </a:solidFill>
                <a:latin typeface="Pretendard"/>
              </a:rPr>
              <a:t>3종 병렬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7014728" y="2428222"/>
            <a:ext cx="146304" cy="316186"/>
          </a:xfrm>
          <a:prstGeom prst="line">
            <a:avLst/>
          </a:prstGeom>
          <a:ln w="11430">
            <a:solidFill>
              <a:srgbClr val="9697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161032" y="2283844"/>
            <a:ext cx="2354546" cy="28875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34184" y="2302132"/>
            <a:ext cx="2208242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룰 기반 검증 29종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34184" y="2430148"/>
            <a:ext cx="2208242" cy="12416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사전 정의 조건에 해당? → 근거가 명확한 목록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014728" y="2744408"/>
            <a:ext cx="146304" cy="0"/>
          </a:xfrm>
          <a:prstGeom prst="line">
            <a:avLst/>
          </a:prstGeom>
          <a:ln w="11430">
            <a:solidFill>
              <a:srgbClr val="9697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7161032" y="2600031"/>
            <a:ext cx="2354546" cy="28875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34184" y="2618319"/>
            <a:ext cx="2208242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분석적 검토 5종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34184" y="2746335"/>
            <a:ext cx="2208242" cy="12416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그룹 분포에 통계적 이상치? → 참고 신호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014728" y="2744408"/>
            <a:ext cx="146304" cy="316186"/>
          </a:xfrm>
          <a:prstGeom prst="line">
            <a:avLst/>
          </a:prstGeom>
          <a:ln w="11430">
            <a:solidFill>
              <a:srgbClr val="9697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7161032" y="2916217"/>
            <a:ext cx="2354546" cy="28875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34184" y="2934505"/>
            <a:ext cx="2208242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비지도 학습 VAE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34184" y="3062521"/>
            <a:ext cx="2208242" cy="12416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정의되지 않은 패턴? → 신종·복합 후보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98458" y="2032384"/>
            <a:ext cx="1832125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어디서 멈추나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698458" y="2187832"/>
            <a:ext cx="1832125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698458" y="2270128"/>
            <a:ext cx="1832125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00" b="1" lang="ko-KR">
                <a:solidFill>
                  <a:srgbClr val="8A9099"/>
                </a:solidFill>
                <a:latin typeface="Pretendard"/>
              </a:rPr>
              <a:t>시스템 영역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98458" y="2398144"/>
            <a:ext cx="574132" cy="22739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35034" y="2398144"/>
            <a:ext cx="500980" cy="22739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전수 스크리닝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327455" y="2398144"/>
            <a:ext cx="574132" cy="22739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364031" y="2398144"/>
            <a:ext cx="500980" cy="22739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속성 자동 전처리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956451" y="2398144"/>
            <a:ext cx="574132" cy="22739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993027" y="2398144"/>
            <a:ext cx="500980" cy="22739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1차 선별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698458" y="2692104"/>
            <a:ext cx="1832125" cy="2743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698458" y="2728680"/>
            <a:ext cx="1832125" cy="14264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1" lang="ko-KR">
                <a:solidFill>
                  <a:srgbClr val="D66E3A"/>
                </a:solidFill>
                <a:latin typeface="Pretendard"/>
              </a:rPr>
              <a:t>시스템은 여기서 멈춘다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98458" y="2863280"/>
            <a:ext cx="1832125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00" b="1" lang="ko-KR">
                <a:solidFill>
                  <a:srgbClr val="15171B"/>
                </a:solidFill>
                <a:latin typeface="Pretendard"/>
              </a:rPr>
              <a:t>감사인 영역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698458" y="2991296"/>
            <a:ext cx="888630" cy="227391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735034" y="2991296"/>
            <a:ext cx="815478" cy="22739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증빙 확인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641953" y="2991296"/>
            <a:ext cx="888630" cy="227391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678529" y="2991296"/>
            <a:ext cx="815478" cy="22739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부정 여부 확정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8640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2959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좌앵커 + 파이프라인 + 우 3종 팬아웃 + 경계 카탈로그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58368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58368" y="3803903"/>
            <a:ext cx="1157594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05000"/>
              </a:lnSpc>
            </a:pPr>
            <a:r>
              <a:rPr sz="1300" b="1" lang="ko-KR">
                <a:solidFill>
                  <a:srgbClr val="15171B"/>
                </a:solidFill>
                <a:latin typeface="Pretendard"/>
              </a:rPr>
              <a:t>3모델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8368" y="4133087"/>
            <a:ext cx="1157594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1" lang="ko-KR">
                <a:solidFill>
                  <a:srgbClr val="D66E3A"/>
                </a:solidFill>
                <a:latin typeface="Pretendard"/>
              </a:rPr>
              <a:t>감사인을 대체하지 않는다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8368" y="4315967"/>
            <a:ext cx="1157594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30000"/>
              </a:lnSpc>
            </a:pPr>
            <a:r>
              <a:rPr sz="650" b="0" lang="ko-KR">
                <a:solidFill>
                  <a:srgbClr val="555A60"/>
                </a:solidFill>
                <a:latin typeface="Pretendard"/>
              </a:rPr>
              <a:t>1차 스크리닝까지만 한다. 세 모델이 각기 다른 질문에 답하고, 확정은 사람이 한다.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998842" y="3803903"/>
            <a:ext cx="1607769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파이프라인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998842" y="3959351"/>
            <a:ext cx="1607769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998842" y="4041647"/>
            <a:ext cx="1607769" cy="301751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35418" y="4041647"/>
            <a:ext cx="1534617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전표 원장 355,786행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2802726" y="4343399"/>
            <a:ext cx="0" cy="18289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1998842" y="4370831"/>
            <a:ext cx="1607769" cy="301751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035418" y="4370831"/>
            <a:ext cx="1534617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파생 변수 자동 부여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2802726" y="4672583"/>
            <a:ext cx="0" cy="18289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1998842" y="4700015"/>
            <a:ext cx="1607769" cy="301751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035418" y="4700015"/>
            <a:ext cx="1534617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분석 모델 3종 병렬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2802726" y="5001767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1998842" y="5029199"/>
            <a:ext cx="1607769" cy="301751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035418" y="5029199"/>
            <a:ext cx="1534617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검토 조합 구성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2802726" y="5330951"/>
            <a:ext cx="0" cy="18289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ectangle 109"/>
          <p:cNvSpPr/>
          <p:nvPr/>
        </p:nvSpPr>
        <p:spPr>
          <a:xfrm>
            <a:off x="1998842" y="5358383"/>
            <a:ext cx="1607769" cy="301751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035418" y="5358383"/>
            <a:ext cx="1534617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FFFFFF"/>
                </a:solidFill>
                <a:latin typeface="Pretendard"/>
              </a:rPr>
              <a:t>검토 대상 전표 목록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789491" y="3803903"/>
            <a:ext cx="209010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3종 병렬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789491" y="3959351"/>
            <a:ext cx="2090100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789491" y="4041647"/>
            <a:ext cx="2090100" cy="141821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826067" y="4041647"/>
            <a:ext cx="2016948" cy="14182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50" b="1" lang="ko-KR">
                <a:solidFill>
                  <a:srgbClr val="FFFFFF"/>
                </a:solidFill>
                <a:latin typeface="Pretendard"/>
              </a:rPr>
              <a:t>전표 데이터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990659" y="4347725"/>
            <a:ext cx="201168" cy="91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4191827" y="4258551"/>
            <a:ext cx="1687764" cy="1783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228403" y="4258551"/>
            <a:ext cx="1614612" cy="1783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룰 기반 검증 29종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990659" y="4553505"/>
            <a:ext cx="201168" cy="91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4191827" y="4464331"/>
            <a:ext cx="1687764" cy="1783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228403" y="4464331"/>
            <a:ext cx="1614612" cy="1783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분석적 검토 5종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990659" y="4759285"/>
            <a:ext cx="201168" cy="91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4191827" y="4670111"/>
            <a:ext cx="1687764" cy="1783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228403" y="4670111"/>
            <a:ext cx="1614612" cy="1783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비지도 학습 VAE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990659" y="4183469"/>
            <a:ext cx="914" cy="575816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789491" y="5022196"/>
            <a:ext cx="209010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어디서 멈추나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789491" y="5177644"/>
            <a:ext cx="2090100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789491" y="5259940"/>
            <a:ext cx="627030" cy="1863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826067" y="5259940"/>
            <a:ext cx="553878" cy="18638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시스템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4434809" y="5353131"/>
            <a:ext cx="799464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5252561" y="5259940"/>
            <a:ext cx="627030" cy="186381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289137" y="5259940"/>
            <a:ext cx="553878" cy="18638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여기까지 1차 선별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789491" y="5473754"/>
            <a:ext cx="627030" cy="1863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826067" y="5473754"/>
            <a:ext cx="553878" cy="18638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감사인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4434809" y="5566945"/>
            <a:ext cx="799464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135"/>
          <p:cNvSpPr/>
          <p:nvPr/>
        </p:nvSpPr>
        <p:spPr>
          <a:xfrm>
            <a:off x="5252561" y="5473754"/>
            <a:ext cx="627030" cy="186381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289137" y="5473754"/>
            <a:ext cx="553878" cy="18638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여기부터 부정 확정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99632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473952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 3종 가지 크게 + 우상 경계 + 우하 파이프라인 띠 (좌우 반전)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309360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309360" y="3803903"/>
            <a:ext cx="3023006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3종 병렬 — 가지를 뻗어 하나씩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309360" y="3959351"/>
            <a:ext cx="3023006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309360" y="4663439"/>
            <a:ext cx="725521" cy="40233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45936" y="4663439"/>
            <a:ext cx="652369" cy="40233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50" b="1" lang="ko-KR">
                <a:solidFill>
                  <a:srgbClr val="FFFFFF"/>
                </a:solidFill>
                <a:latin typeface="Pretendard"/>
              </a:rPr>
              <a:t>분석 모델
3종 병렬</a:t>
            </a:r>
          </a:p>
        </p:txBody>
      </p:sp>
      <p:cxnSp>
        <p:nvCxnSpPr>
          <p:cNvPr id="147" name="Connector 146"/>
          <p:cNvCxnSpPr/>
          <p:nvPr/>
        </p:nvCxnSpPr>
        <p:spPr>
          <a:xfrm flipV="1">
            <a:off x="7034881" y="4315967"/>
            <a:ext cx="146304" cy="548640"/>
          </a:xfrm>
          <a:prstGeom prst="line">
            <a:avLst/>
          </a:prstGeom>
          <a:ln w="11430">
            <a:solidFill>
              <a:srgbClr val="9697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ectangle 147"/>
          <p:cNvSpPr/>
          <p:nvPr/>
        </p:nvSpPr>
        <p:spPr>
          <a:xfrm>
            <a:off x="7181185" y="4160519"/>
            <a:ext cx="2151180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254337" y="4178807"/>
            <a:ext cx="2004876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룰 기반 검증 29종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254337" y="4306823"/>
            <a:ext cx="2004876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사전 정의 조건에 해당? → 근거가 명확한 목록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7034881" y="4864607"/>
            <a:ext cx="146304" cy="0"/>
          </a:xfrm>
          <a:prstGeom prst="line">
            <a:avLst/>
          </a:prstGeom>
          <a:ln w="11430">
            <a:solidFill>
              <a:srgbClr val="9697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ectangle 151"/>
          <p:cNvSpPr/>
          <p:nvPr/>
        </p:nvSpPr>
        <p:spPr>
          <a:xfrm>
            <a:off x="7181185" y="4709159"/>
            <a:ext cx="2151180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254337" y="4727447"/>
            <a:ext cx="2004876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분석적 검토 5종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254337" y="4855463"/>
            <a:ext cx="2004876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그룹 분포에 통계적 이상치? → 참고 신호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7034881" y="4864607"/>
            <a:ext cx="146304" cy="548640"/>
          </a:xfrm>
          <a:prstGeom prst="line">
            <a:avLst/>
          </a:prstGeom>
          <a:ln w="11430">
            <a:solidFill>
              <a:srgbClr val="9697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ctangle 155"/>
          <p:cNvSpPr/>
          <p:nvPr/>
        </p:nvSpPr>
        <p:spPr>
          <a:xfrm>
            <a:off x="7181185" y="5257799"/>
            <a:ext cx="2151180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7254337" y="5276087"/>
            <a:ext cx="2004876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비지도 학습 VAE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254337" y="5404103"/>
            <a:ext cx="2004876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정의되지 않은 패턴? → 신종·복합 후보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515246" y="3803903"/>
            <a:ext cx="2015337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어디서 멈추나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515246" y="3959351"/>
            <a:ext cx="2015337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515246" y="4041647"/>
            <a:ext cx="2015337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00" b="1" lang="ko-KR">
                <a:solidFill>
                  <a:srgbClr val="8A9099"/>
                </a:solidFill>
                <a:latin typeface="Pretendard"/>
              </a:rPr>
              <a:t>시스템 영역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9515246" y="4169663"/>
            <a:ext cx="635203" cy="14755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9551822" y="4169663"/>
            <a:ext cx="562051" cy="14755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전수 스크리닝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0205313" y="4169663"/>
            <a:ext cx="635203" cy="14755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0241889" y="4169663"/>
            <a:ext cx="562051" cy="14755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속성 자동 전처리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0895380" y="4169663"/>
            <a:ext cx="635203" cy="14755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0931956" y="4169663"/>
            <a:ext cx="562051" cy="14755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1차 선별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515246" y="4383783"/>
            <a:ext cx="2015337" cy="2743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9515246" y="4420359"/>
            <a:ext cx="2015337" cy="14264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1" lang="ko-KR">
                <a:solidFill>
                  <a:srgbClr val="D66E3A"/>
                </a:solidFill>
                <a:latin typeface="Pretendard"/>
              </a:rPr>
              <a:t>시스템은 여기서 멈춘다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515246" y="4554958"/>
            <a:ext cx="2015337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00" b="1" lang="ko-KR">
                <a:solidFill>
                  <a:srgbClr val="15171B"/>
                </a:solidFill>
                <a:latin typeface="Pretendard"/>
              </a:rPr>
              <a:t>감사인 영역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515246" y="4682974"/>
            <a:ext cx="980236" cy="147550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551822" y="4682974"/>
            <a:ext cx="907084" cy="14755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증빙 확인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550347" y="4682974"/>
            <a:ext cx="980236" cy="147550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586923" y="4682974"/>
            <a:ext cx="907084" cy="14755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부정 여부 확정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515246" y="4976829"/>
            <a:ext cx="2015337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파이프라인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9515246" y="5132277"/>
            <a:ext cx="2015337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515246" y="5214573"/>
            <a:ext cx="359176" cy="47299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551822" y="5214573"/>
            <a:ext cx="286024" cy="47299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원장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9929286" y="5214573"/>
            <a:ext cx="359176" cy="47299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9965862" y="5214573"/>
            <a:ext cx="286024" cy="47299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파생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0343327" y="5214573"/>
            <a:ext cx="359176" cy="472994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0379903" y="5214573"/>
            <a:ext cx="286024" cy="47299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3모델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0757367" y="5214573"/>
            <a:ext cx="359176" cy="47299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0793943" y="5214573"/>
            <a:ext cx="286024" cy="47299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조합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1171407" y="5214573"/>
            <a:ext cx="359176" cy="472994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1207983" y="5214573"/>
            <a:ext cx="286024" cy="47299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목록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48640" y="6528816"/>
            <a:ext cx="11094415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후보 4개는 전부 같은 내용이다 — 다른 것은 배치·인코딩뿐 · 라벨은 자리에 맞게 접혔다(… 외 N개) · 번호로 회신 (예: S4=1 · S7=3 · S13=전탈락)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731520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8A9099"/>
                </a:solidFill>
                <a:latin typeface="Pretendard"/>
              </a:rPr>
              <a:t>S7 · PART Ⅱ · 형태 후보 4 (내용 동일)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400" b="1" lang="ko-KR">
                <a:solidFill>
                  <a:srgbClr val="15171B"/>
                </a:solidFill>
                <a:latin typeface="Pretendard"/>
              </a:rPr>
              <a:t>정상 데이터 생성 — 없는 전표를 어떻게 만들었나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11094415" cy="914"/>
          </a:xfrm>
          <a:prstGeom prst="rect">
            <a:avLst/>
          </a:prstGeom>
          <a:noFill/>
          <a:ln w="1778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50" b="1" lang="ko-KR">
                <a:solidFill>
                  <a:srgbClr val="D66E3A"/>
                </a:solidFill>
                <a:latin typeface="Pretendard"/>
              </a:rPr>
              <a:t>초점(채록): 실데이터 부재로 직접 생성 = 회계 무결성 유지 (동급 2위)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0" lang="ko-KR">
                <a:solidFill>
                  <a:srgbClr val="8A9099"/>
                </a:solidFill>
                <a:latin typeface="Pretendard"/>
              </a:rPr>
              <a:t>담기는 것(고정): 생성 8단계 · 무결성 관문 3 + 폐기·재생성 · 시나리오 20종/흐름 7 · EY→K-IFRS · 355,786행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좌앵커 + 중앙 8단계 루프(관문·되돌림) + 우 20종/산출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35024"/>
            <a:ext cx="1249921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05000"/>
              </a:lnSpc>
            </a:pPr>
            <a:r>
              <a:rPr sz="1300" b="1" lang="ko-KR">
                <a:solidFill>
                  <a:srgbClr val="15171B"/>
                </a:solidFill>
                <a:latin typeface="Pretendard"/>
              </a:rPr>
              <a:t>8단계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64208"/>
            <a:ext cx="1249921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1" lang="ko-KR">
                <a:solidFill>
                  <a:srgbClr val="D66E3A"/>
                </a:solidFill>
                <a:latin typeface="Pretendard"/>
              </a:rPr>
              <a:t>실데이터가 없어 직접 만들었다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847088"/>
            <a:ext cx="1249921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30000"/>
              </a:lnSpc>
            </a:pPr>
            <a:r>
              <a:rPr sz="650" b="0" lang="ko-KR">
                <a:solidFill>
                  <a:srgbClr val="555A60"/>
                </a:solidFill>
                <a:latin typeface="Pretendard"/>
              </a:rPr>
              <a:t>EY 오픈소스를 K-IFRS 제조업으로 개편. 무결성을 통과 못한 전표는 폐기하고 다시 만든다.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1169" y="1335024"/>
            <a:ext cx="1922956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생성 순서와 무결성 관문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91169" y="1490472"/>
            <a:ext cx="1922956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83777" y="1572768"/>
            <a:ext cx="1630348" cy="11201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0353" y="1572768"/>
            <a:ext cx="1557196" cy="11201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1 계정과목표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98951" y="1684782"/>
            <a:ext cx="914" cy="27432"/>
          </a:xfrm>
          <a:prstGeom prst="rect">
            <a:avLst/>
          </a:prstGeom>
          <a:noFill/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83777" y="1712214"/>
            <a:ext cx="1630348" cy="11201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0353" y="1712214"/>
            <a:ext cx="1557196" cy="11201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2 마스터데이터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98951" y="1824228"/>
            <a:ext cx="914" cy="27432"/>
          </a:xfrm>
          <a:prstGeom prst="rect">
            <a:avLst/>
          </a:prstGeom>
          <a:noFill/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83777" y="1851660"/>
            <a:ext cx="1630348" cy="11201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20353" y="1851660"/>
            <a:ext cx="1557196" cy="11201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3 문서흐름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98951" y="1963674"/>
            <a:ext cx="914" cy="27432"/>
          </a:xfrm>
          <a:prstGeom prst="rect">
            <a:avLst/>
          </a:prstGeom>
          <a:noFill/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83777" y="1991106"/>
            <a:ext cx="1630348" cy="11201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20353" y="1991106"/>
            <a:ext cx="1557196" cy="11201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4 업무 이벤트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98951" y="2103120"/>
            <a:ext cx="914" cy="27432"/>
          </a:xfrm>
          <a:prstGeom prst="rect">
            <a:avLst/>
          </a:prstGeom>
          <a:noFill/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83777" y="2130552"/>
            <a:ext cx="1630348" cy="11201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0353" y="2130552"/>
            <a:ext cx="1557196" cy="11201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5 전표 생성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98951" y="2242566"/>
            <a:ext cx="914" cy="27432"/>
          </a:xfrm>
          <a:prstGeom prst="rect">
            <a:avLst/>
          </a:prstGeom>
          <a:noFill/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83777" y="2269998"/>
            <a:ext cx="1630348" cy="11201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20353" y="2269998"/>
            <a:ext cx="1557196" cy="11201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6 이상 주입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98951" y="2382012"/>
            <a:ext cx="914" cy="27432"/>
          </a:xfrm>
          <a:prstGeom prst="rect">
            <a:avLst/>
          </a:prstGeom>
          <a:noFill/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83777" y="2409444"/>
            <a:ext cx="1630348" cy="11201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20353" y="2409444"/>
            <a:ext cx="1557196" cy="11201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7 잔액 추적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98951" y="2521458"/>
            <a:ext cx="914" cy="27432"/>
          </a:xfrm>
          <a:prstGeom prst="rect">
            <a:avLst/>
          </a:prstGeom>
          <a:noFill/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383777" y="2548890"/>
            <a:ext cx="1630348" cy="11201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0353" y="2548890"/>
            <a:ext cx="1557196" cy="11201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8 CSV 출력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83777" y="2743200"/>
            <a:ext cx="1630348" cy="237744"/>
          </a:xfrm>
          <a:prstGeom prst="round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20353" y="2743200"/>
            <a:ext cx="1557196" cy="2377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허용 계정 통제 · 계정결정표 교차검증 · 대차 균형 확인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19185" y="1655064"/>
            <a:ext cx="914" cy="1207008"/>
          </a:xfrm>
          <a:prstGeom prst="rect">
            <a:avLst/>
          </a:prstGeom>
          <a:noFill/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19185" y="2862072"/>
            <a:ext cx="164592" cy="914"/>
          </a:xfrm>
          <a:prstGeom prst="rect">
            <a:avLst/>
          </a:prstGeom>
          <a:noFill/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2219185" y="1655064"/>
            <a:ext cx="164592" cy="0"/>
          </a:xfrm>
          <a:prstGeom prst="line">
            <a:avLst/>
          </a:prstGeom>
          <a:ln w="13970">
            <a:solidFill>
              <a:srgbClr val="D66E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091169" y="3008376"/>
            <a:ext cx="192295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D66E3A"/>
                </a:solidFill>
                <a:latin typeface="Pretendard"/>
              </a:rPr>
              <a:t>미통과 전표는 즉시 폐기 후 재생성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97005" y="1335024"/>
            <a:ext cx="1682586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거래 시나리오 20종 · 흐름 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97005" y="1490472"/>
            <a:ext cx="1682586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97005" y="1572768"/>
            <a:ext cx="676656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결산 R2R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73661" y="1610037"/>
            <a:ext cx="731610" cy="7066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3661" y="1610037"/>
            <a:ext cx="731610" cy="70661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50991" y="1572768"/>
            <a:ext cx="182880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97005" y="1717969"/>
            <a:ext cx="676656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자산 A2R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73661" y="1755239"/>
            <a:ext cx="731610" cy="7066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73661" y="1755239"/>
            <a:ext cx="365805" cy="70661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50991" y="1717969"/>
            <a:ext cx="182880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97005" y="1863171"/>
            <a:ext cx="676656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자금 TRE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73661" y="1900440"/>
            <a:ext cx="731610" cy="7066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873661" y="1900440"/>
            <a:ext cx="365805" cy="70661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50991" y="1863171"/>
            <a:ext cx="182880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97005" y="2008372"/>
            <a:ext cx="676656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구매 P2P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73661" y="2045642"/>
            <a:ext cx="731610" cy="7066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73661" y="2045642"/>
            <a:ext cx="241431" cy="70661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50991" y="2008372"/>
            <a:ext cx="182880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97005" y="2153574"/>
            <a:ext cx="676656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판매 O2C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73661" y="2190844"/>
            <a:ext cx="731610" cy="7066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873661" y="2190844"/>
            <a:ext cx="241431" cy="70661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50991" y="2153574"/>
            <a:ext cx="182880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97005" y="2298775"/>
            <a:ext cx="676656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급여·관계사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73661" y="2336045"/>
            <a:ext cx="731610" cy="7066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873661" y="2336045"/>
            <a:ext cx="482862" cy="70661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50991" y="2298775"/>
            <a:ext cx="182880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97005" y="2590281"/>
            <a:ext cx="1682586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산출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97005" y="2745729"/>
            <a:ext cx="1682586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197005" y="2828025"/>
            <a:ext cx="1682586" cy="21692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33581" y="2828025"/>
            <a:ext cx="1609434" cy="21692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FFFFFF"/>
                </a:solidFill>
                <a:latin typeface="Pretendard"/>
              </a:rPr>
              <a:t>정상 원장 355,786행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97005" y="3081527"/>
            <a:ext cx="1682586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1단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99632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73952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상단 8단계 가로 밴드 + 하단 관문 팬인 / 20종 막대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309360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09360" y="1335024"/>
            <a:ext cx="5221224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생성 순서 8단계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1490472"/>
            <a:ext cx="5221224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Pentagon 83"/>
          <p:cNvSpPr/>
          <p:nvPr/>
        </p:nvSpPr>
        <p:spPr>
          <a:xfrm>
            <a:off x="6309360" y="1572768"/>
            <a:ext cx="724662" cy="365760"/>
          </a:xfrm>
          <a:prstGeom prst="homePlate">
            <a:avLst>
              <a:gd name="adj" fmla="val 5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eaLnBrk="0"/>
            <a:r>
              <a:rPr sz="650" b="1" lang="ko-KR">
                <a:solidFill>
                  <a:srgbClr val="15171B"/>
                </a:solidFill>
                <a:latin typeface="Pretendard"/>
              </a:rPr>
              <a:t>1 계정과목표</a:t>
            </a:r>
          </a:p>
        </p:txBody>
      </p:sp>
      <p:sp>
        <p:nvSpPr>
          <p:cNvPr id="85" name="Chevron 84"/>
          <p:cNvSpPr/>
          <p:nvPr/>
        </p:nvSpPr>
        <p:spPr>
          <a:xfrm>
            <a:off x="6951726" y="1572768"/>
            <a:ext cx="724662" cy="365760"/>
          </a:xfrm>
          <a:prstGeom prst="chevron">
            <a:avLst>
              <a:gd name="adj" fmla="val 5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eaLnBrk="0"/>
            <a:r>
              <a:rPr sz="650" b="1" lang="ko-KR">
                <a:solidFill>
                  <a:srgbClr val="15171B"/>
                </a:solidFill>
                <a:latin typeface="Pretendard"/>
              </a:rPr>
              <a:t>2 마스터데이터</a:t>
            </a:r>
          </a:p>
        </p:txBody>
      </p:sp>
      <p:sp>
        <p:nvSpPr>
          <p:cNvPr id="86" name="Chevron 85"/>
          <p:cNvSpPr/>
          <p:nvPr/>
        </p:nvSpPr>
        <p:spPr>
          <a:xfrm>
            <a:off x="7594092" y="1572768"/>
            <a:ext cx="724662" cy="365760"/>
          </a:xfrm>
          <a:prstGeom prst="chevron">
            <a:avLst>
              <a:gd name="adj" fmla="val 5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eaLnBrk="0"/>
            <a:r>
              <a:rPr sz="650" b="1" lang="ko-KR">
                <a:solidFill>
                  <a:srgbClr val="15171B"/>
                </a:solidFill>
                <a:latin typeface="Pretendard"/>
              </a:rPr>
              <a:t>3 문서흐름</a:t>
            </a:r>
          </a:p>
        </p:txBody>
      </p:sp>
      <p:sp>
        <p:nvSpPr>
          <p:cNvPr id="87" name="Chevron 86"/>
          <p:cNvSpPr/>
          <p:nvPr/>
        </p:nvSpPr>
        <p:spPr>
          <a:xfrm>
            <a:off x="8236458" y="1572768"/>
            <a:ext cx="724662" cy="365760"/>
          </a:xfrm>
          <a:prstGeom prst="chevron">
            <a:avLst>
              <a:gd name="adj" fmla="val 5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eaLnBrk="0"/>
            <a:r>
              <a:rPr sz="650" b="1" lang="ko-KR">
                <a:solidFill>
                  <a:srgbClr val="15171B"/>
                </a:solidFill>
                <a:latin typeface="Pretendard"/>
              </a:rPr>
              <a:t>4 업무 이벤트</a:t>
            </a:r>
          </a:p>
        </p:txBody>
      </p:sp>
      <p:sp>
        <p:nvSpPr>
          <p:cNvPr id="88" name="Chevron 87"/>
          <p:cNvSpPr/>
          <p:nvPr/>
        </p:nvSpPr>
        <p:spPr>
          <a:xfrm>
            <a:off x="8878824" y="1572768"/>
            <a:ext cx="724662" cy="365760"/>
          </a:xfrm>
          <a:prstGeom prst="chevron">
            <a:avLst>
              <a:gd name="adj" fmla="val 55000"/>
            </a:avLst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eaLnBrk="0"/>
            <a:r>
              <a:rPr sz="650" b="1" lang="ko-KR">
                <a:solidFill>
                  <a:srgbClr val="FFFFFF"/>
                </a:solidFill>
                <a:latin typeface="Pretendard"/>
              </a:rPr>
              <a:t>5 전표 생성</a:t>
            </a:r>
          </a:p>
        </p:txBody>
      </p:sp>
      <p:sp>
        <p:nvSpPr>
          <p:cNvPr id="89" name="Chevron 88"/>
          <p:cNvSpPr/>
          <p:nvPr/>
        </p:nvSpPr>
        <p:spPr>
          <a:xfrm>
            <a:off x="9521190" y="1572768"/>
            <a:ext cx="724662" cy="365760"/>
          </a:xfrm>
          <a:prstGeom prst="chevron">
            <a:avLst>
              <a:gd name="adj" fmla="val 5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eaLnBrk="0"/>
            <a:r>
              <a:rPr sz="650" b="1" lang="ko-KR">
                <a:solidFill>
                  <a:srgbClr val="15171B"/>
                </a:solidFill>
                <a:latin typeface="Pretendard"/>
              </a:rPr>
              <a:t>6 이상 주입</a:t>
            </a:r>
          </a:p>
        </p:txBody>
      </p:sp>
      <p:sp>
        <p:nvSpPr>
          <p:cNvPr id="90" name="Chevron 89"/>
          <p:cNvSpPr/>
          <p:nvPr/>
        </p:nvSpPr>
        <p:spPr>
          <a:xfrm>
            <a:off x="10163556" y="1572768"/>
            <a:ext cx="724662" cy="365760"/>
          </a:xfrm>
          <a:prstGeom prst="chevron">
            <a:avLst>
              <a:gd name="adj" fmla="val 55000"/>
            </a:avLst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eaLnBrk="0"/>
            <a:r>
              <a:rPr sz="650" b="1" lang="ko-KR">
                <a:solidFill>
                  <a:srgbClr val="FFFFFF"/>
                </a:solidFill>
                <a:latin typeface="Pretendard"/>
              </a:rPr>
              <a:t>7 잔액 추적</a:t>
            </a:r>
          </a:p>
        </p:txBody>
      </p:sp>
      <p:sp>
        <p:nvSpPr>
          <p:cNvPr id="91" name="Chevron 90"/>
          <p:cNvSpPr/>
          <p:nvPr/>
        </p:nvSpPr>
        <p:spPr>
          <a:xfrm>
            <a:off x="10805922" y="1572768"/>
            <a:ext cx="724662" cy="365760"/>
          </a:xfrm>
          <a:prstGeom prst="chevron">
            <a:avLst>
              <a:gd name="adj" fmla="val 5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eaLnBrk="0"/>
            <a:r>
              <a:rPr sz="650" b="1" lang="ko-KR">
                <a:solidFill>
                  <a:srgbClr val="15171B"/>
                </a:solidFill>
                <a:latin typeface="Pretendard"/>
              </a:rPr>
              <a:t>8 CSV 출력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9360" y="1957119"/>
            <a:ext cx="2343415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무결성은 어디서 지켜지나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309360" y="2112567"/>
            <a:ext cx="2343415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309360" y="2194863"/>
            <a:ext cx="2343415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45936" y="2194863"/>
            <a:ext cx="2270263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허용 계정 통제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481067" y="2505759"/>
            <a:ext cx="914" cy="143257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481067" y="2649016"/>
            <a:ext cx="9144" cy="91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7481067" y="2649016"/>
            <a:ext cx="0" cy="110643"/>
          </a:xfrm>
          <a:prstGeom prst="line">
            <a:avLst/>
          </a:prstGeom>
          <a:ln w="1397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6309360" y="2759659"/>
            <a:ext cx="2343415" cy="29260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45936" y="2759659"/>
            <a:ext cx="2270263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50" b="1" lang="ko-KR">
                <a:solidFill>
                  <a:srgbClr val="FFFFFF"/>
                </a:solidFill>
                <a:latin typeface="Pretendard"/>
              </a:rPr>
              <a:t>미통과 전표는 폐기 후 재생성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35655" y="1957119"/>
            <a:ext cx="269492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거래 시나리오 20종 · 흐름 7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835655" y="2112567"/>
            <a:ext cx="2694928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835655" y="2194863"/>
            <a:ext cx="731520" cy="17063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결산 R2R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567175" y="2237220"/>
            <a:ext cx="1670800" cy="8592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567175" y="2237220"/>
            <a:ext cx="1670800" cy="85923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283696" y="2194863"/>
            <a:ext cx="201168" cy="17063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35655" y="2365500"/>
            <a:ext cx="731520" cy="17063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자산 A2R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567175" y="2407858"/>
            <a:ext cx="1670800" cy="8592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67175" y="2407858"/>
            <a:ext cx="835400" cy="85923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283696" y="2365500"/>
            <a:ext cx="201168" cy="17063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835655" y="2536138"/>
            <a:ext cx="731520" cy="17063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자금 TRE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567175" y="2578495"/>
            <a:ext cx="1670800" cy="8592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67175" y="2578495"/>
            <a:ext cx="835400" cy="85923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283696" y="2536138"/>
            <a:ext cx="201168" cy="17063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35655" y="2706775"/>
            <a:ext cx="731520" cy="17063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구매 P2P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567175" y="2749132"/>
            <a:ext cx="1670800" cy="8592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567175" y="2749132"/>
            <a:ext cx="551364" cy="85923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283696" y="2706775"/>
            <a:ext cx="201168" cy="17063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835655" y="2877413"/>
            <a:ext cx="731520" cy="17063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판매 O2C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567175" y="2919770"/>
            <a:ext cx="1670800" cy="8592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567175" y="2919770"/>
            <a:ext cx="551364" cy="85923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1283696" y="2877413"/>
            <a:ext cx="201168" cy="17063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835655" y="3048050"/>
            <a:ext cx="731520" cy="17063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급여·관계사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567175" y="3090407"/>
            <a:ext cx="1670800" cy="8592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567175" y="3090407"/>
            <a:ext cx="1102728" cy="85923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283696" y="3048050"/>
            <a:ext cx="201168" cy="17063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4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48640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22959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 8단계 세로 + 우상 흐름→20종 팬 + 우하 관문 카탈로그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8368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58368" y="3803903"/>
            <a:ext cx="2056466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생성 순서 8단계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8368" y="3959351"/>
            <a:ext cx="2056466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58368" y="4041647"/>
            <a:ext cx="2056466" cy="178307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94944" y="4041647"/>
            <a:ext cx="1983314" cy="17830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1 계정과목표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1686601" y="4219955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658368" y="4247387"/>
            <a:ext cx="2056466" cy="178307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94944" y="4247387"/>
            <a:ext cx="1983314" cy="17830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2 마스터데이터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1686601" y="4425695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ectangle 139"/>
          <p:cNvSpPr/>
          <p:nvPr/>
        </p:nvSpPr>
        <p:spPr>
          <a:xfrm>
            <a:off x="658368" y="4453127"/>
            <a:ext cx="2056466" cy="178307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94944" y="4453127"/>
            <a:ext cx="1983314" cy="17830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3 문서흐름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1686601" y="4631436"/>
            <a:ext cx="0" cy="18287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tangle 142"/>
          <p:cNvSpPr/>
          <p:nvPr/>
        </p:nvSpPr>
        <p:spPr>
          <a:xfrm>
            <a:off x="658368" y="4658867"/>
            <a:ext cx="2056466" cy="178307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94944" y="4658867"/>
            <a:ext cx="1983314" cy="17830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4 업무 이벤트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1686601" y="4837175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ctangle 145"/>
          <p:cNvSpPr/>
          <p:nvPr/>
        </p:nvSpPr>
        <p:spPr>
          <a:xfrm>
            <a:off x="658368" y="4864607"/>
            <a:ext cx="2056466" cy="178307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94944" y="4864607"/>
            <a:ext cx="1983314" cy="17830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FFFFFF"/>
                </a:solidFill>
                <a:latin typeface="Pretendard"/>
              </a:rPr>
              <a:t>5 전표 생성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1686601" y="5042915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ctangle 148"/>
          <p:cNvSpPr/>
          <p:nvPr/>
        </p:nvSpPr>
        <p:spPr>
          <a:xfrm>
            <a:off x="658368" y="5070347"/>
            <a:ext cx="2056466" cy="178307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94944" y="5070347"/>
            <a:ext cx="1983314" cy="17830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6 이상 주입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1686601" y="5248655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ectangle 151"/>
          <p:cNvSpPr/>
          <p:nvPr/>
        </p:nvSpPr>
        <p:spPr>
          <a:xfrm>
            <a:off x="658368" y="5276087"/>
            <a:ext cx="2056466" cy="178307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94944" y="5276087"/>
            <a:ext cx="1983314" cy="17830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FFFFFF"/>
                </a:solidFill>
                <a:latin typeface="Pretendard"/>
              </a:rPr>
              <a:t>7 잔액 추적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1686601" y="5454395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 154"/>
          <p:cNvSpPr/>
          <p:nvPr/>
        </p:nvSpPr>
        <p:spPr>
          <a:xfrm>
            <a:off x="658368" y="5481827"/>
            <a:ext cx="2056466" cy="178307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94944" y="5481827"/>
            <a:ext cx="1983314" cy="17830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8 CSV 출력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897714" y="3803903"/>
            <a:ext cx="2981877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흐름 7종 → 시나리오 20개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897714" y="3959351"/>
            <a:ext cx="2981877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2897714" y="4041647"/>
            <a:ext cx="2981877" cy="122969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2934290" y="4041647"/>
            <a:ext cx="2908725" cy="12296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50" b="1" lang="ko-KR">
                <a:solidFill>
                  <a:srgbClr val="FFFFFF"/>
                </a:solidFill>
                <a:latin typeface="Pretendard"/>
              </a:rPr>
              <a:t>업무 흐름 7종 · 시나리오 20개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098882" y="4313246"/>
            <a:ext cx="201168" cy="91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3300050" y="4229718"/>
            <a:ext cx="2579541" cy="16705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336626" y="4229718"/>
            <a:ext cx="2506389" cy="1670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결산 R2R (6)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098882" y="4507733"/>
            <a:ext cx="201168" cy="91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3300050" y="4424205"/>
            <a:ext cx="2579541" cy="16705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336626" y="4424205"/>
            <a:ext cx="2506389" cy="1670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자산 A2R (3) · 자금 TRE (3)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098882" y="4164617"/>
            <a:ext cx="914" cy="343115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897714" y="4627836"/>
            <a:ext cx="2981877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1갈래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897714" y="4911300"/>
            <a:ext cx="2981877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생성 직후 무결성 검증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897714" y="5066748"/>
            <a:ext cx="2981877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2897714" y="5149044"/>
            <a:ext cx="1133113" cy="16867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934290" y="5149044"/>
            <a:ext cx="1059961" cy="16867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허용 계정 통제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4049116" y="5233383"/>
            <a:ext cx="679074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Rectangle 173"/>
          <p:cNvSpPr/>
          <p:nvPr/>
        </p:nvSpPr>
        <p:spPr>
          <a:xfrm>
            <a:off x="4746478" y="5149044"/>
            <a:ext cx="1133113" cy="168677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4783054" y="5149044"/>
            <a:ext cx="1059961" cy="16867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차단 불가 계정 유입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897714" y="5345154"/>
            <a:ext cx="1133113" cy="16867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2934290" y="5345154"/>
            <a:ext cx="1059961" cy="16867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계정결정표 교차검증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4049116" y="5429493"/>
            <a:ext cx="679074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ectangle 178"/>
          <p:cNvSpPr/>
          <p:nvPr/>
        </p:nvSpPr>
        <p:spPr>
          <a:xfrm>
            <a:off x="4746478" y="5345154"/>
            <a:ext cx="1133113" cy="168677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783054" y="5345154"/>
            <a:ext cx="1059961" cy="16867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재대조 차대 방향·성격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897714" y="5550407"/>
            <a:ext cx="2981877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1개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6199632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473952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 시작(EY) + 중앙 생성 루프 + 우 20종/산출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309360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6309360" y="3803903"/>
            <a:ext cx="1517332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무엇에서 시작했나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309360" y="3959351"/>
            <a:ext cx="1517332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309360" y="4041647"/>
            <a:ext cx="1517332" cy="310896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345936" y="4041647"/>
            <a:ext cx="1444180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EY 오픈소스 DataSynth</a:t>
            </a:r>
          </a:p>
        </p:txBody>
      </p:sp>
      <p:cxnSp>
        <p:nvCxnSpPr>
          <p:cNvPr id="191" name="Connector 190"/>
          <p:cNvCxnSpPr/>
          <p:nvPr/>
        </p:nvCxnSpPr>
        <p:spPr>
          <a:xfrm>
            <a:off x="7068026" y="4352543"/>
            <a:ext cx="0" cy="100584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Rectangle 191"/>
          <p:cNvSpPr/>
          <p:nvPr/>
        </p:nvSpPr>
        <p:spPr>
          <a:xfrm>
            <a:off x="6309360" y="4462271"/>
            <a:ext cx="1517332" cy="31089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345936" y="4462271"/>
            <a:ext cx="1444180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FFFFFF"/>
                </a:solidFill>
                <a:latin typeface="Pretendard"/>
              </a:rPr>
              <a:t>K-IFRS 제조업으로 개편</a:t>
            </a:r>
          </a:p>
        </p:txBody>
      </p:sp>
      <p:cxnSp>
        <p:nvCxnSpPr>
          <p:cNvPr id="194" name="Connector 193"/>
          <p:cNvCxnSpPr/>
          <p:nvPr/>
        </p:nvCxnSpPr>
        <p:spPr>
          <a:xfrm>
            <a:off x="7068026" y="4773167"/>
            <a:ext cx="0" cy="100584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ectangle 194"/>
          <p:cNvSpPr/>
          <p:nvPr/>
        </p:nvSpPr>
        <p:spPr>
          <a:xfrm>
            <a:off x="6309360" y="4882895"/>
            <a:ext cx="1517332" cy="310896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345936" y="4882895"/>
            <a:ext cx="1444180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YAML 17개 환경 설정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009572" y="3803903"/>
            <a:ext cx="182079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생성 루프 — 통과 못하면 되돌아간다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8009572" y="3959351"/>
            <a:ext cx="1820798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8302180" y="4041647"/>
            <a:ext cx="1528190" cy="11201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338756" y="4041647"/>
            <a:ext cx="1455038" cy="11201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1 계정과목표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066276" y="4153661"/>
            <a:ext cx="914" cy="27432"/>
          </a:xfrm>
          <a:prstGeom prst="rect">
            <a:avLst/>
          </a:prstGeom>
          <a:noFill/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8302180" y="4181093"/>
            <a:ext cx="1528190" cy="11201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8338756" y="4181093"/>
            <a:ext cx="1455038" cy="11201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2 마스터데이터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9066276" y="4293107"/>
            <a:ext cx="914" cy="27432"/>
          </a:xfrm>
          <a:prstGeom prst="rect">
            <a:avLst/>
          </a:prstGeom>
          <a:noFill/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8302180" y="4320539"/>
            <a:ext cx="1528190" cy="11201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338756" y="4320539"/>
            <a:ext cx="1455038" cy="11201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3 문서흐름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9066276" y="4432553"/>
            <a:ext cx="914" cy="27432"/>
          </a:xfrm>
          <a:prstGeom prst="rect">
            <a:avLst/>
          </a:prstGeom>
          <a:noFill/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8302180" y="4459985"/>
            <a:ext cx="1528190" cy="11201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8338756" y="4459985"/>
            <a:ext cx="1455038" cy="11201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4 업무 이벤트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9066276" y="4571999"/>
            <a:ext cx="914" cy="27432"/>
          </a:xfrm>
          <a:prstGeom prst="rect">
            <a:avLst/>
          </a:prstGeom>
          <a:noFill/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8302180" y="4599431"/>
            <a:ext cx="1528190" cy="11201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8338756" y="4599431"/>
            <a:ext cx="1455038" cy="11201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5 전표 생성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9066276" y="4711445"/>
            <a:ext cx="914" cy="27432"/>
          </a:xfrm>
          <a:prstGeom prst="rect">
            <a:avLst/>
          </a:prstGeom>
          <a:noFill/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8302180" y="4738877"/>
            <a:ext cx="1528190" cy="11201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8338756" y="4738877"/>
            <a:ext cx="1455038" cy="11201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6 이상 주입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9066276" y="4850891"/>
            <a:ext cx="914" cy="27432"/>
          </a:xfrm>
          <a:prstGeom prst="rect">
            <a:avLst/>
          </a:prstGeom>
          <a:noFill/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8302180" y="4878323"/>
            <a:ext cx="1528190" cy="11201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8338756" y="4878323"/>
            <a:ext cx="1455038" cy="11201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7 잔액 추적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9066276" y="4990337"/>
            <a:ext cx="914" cy="27432"/>
          </a:xfrm>
          <a:prstGeom prst="rect">
            <a:avLst/>
          </a:prstGeom>
          <a:noFill/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8302180" y="5017769"/>
            <a:ext cx="1528190" cy="11201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8338756" y="5017769"/>
            <a:ext cx="1455038" cy="11201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8 CSV 출력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8302180" y="5212079"/>
            <a:ext cx="1528190" cy="237744"/>
          </a:xfrm>
          <a:prstGeom prst="round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8338756" y="5212079"/>
            <a:ext cx="1455038" cy="2377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허용 계정 통제 · 계정결정표 교차검증 · 대차 균형 확인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8137588" y="4123943"/>
            <a:ext cx="914" cy="1207008"/>
          </a:xfrm>
          <a:prstGeom prst="rect">
            <a:avLst/>
          </a:prstGeom>
          <a:noFill/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8137588" y="5330951"/>
            <a:ext cx="164592" cy="914"/>
          </a:xfrm>
          <a:prstGeom prst="rect">
            <a:avLst/>
          </a:prstGeom>
          <a:noFill/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6" name="Connector 225"/>
          <p:cNvCxnSpPr/>
          <p:nvPr/>
        </p:nvCxnSpPr>
        <p:spPr>
          <a:xfrm>
            <a:off x="8137588" y="4123943"/>
            <a:ext cx="164592" cy="0"/>
          </a:xfrm>
          <a:prstGeom prst="line">
            <a:avLst/>
          </a:prstGeom>
          <a:ln w="13970">
            <a:solidFill>
              <a:srgbClr val="D66E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TextBox 226"/>
          <p:cNvSpPr txBox="1"/>
          <p:nvPr/>
        </p:nvSpPr>
        <p:spPr>
          <a:xfrm>
            <a:off x="8009572" y="5477255"/>
            <a:ext cx="182079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D66E3A"/>
                </a:solidFill>
                <a:latin typeface="Pretendard"/>
              </a:rPr>
              <a:t>미통과 전표는 즉시 폐기 후 재생성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0013251" y="3803903"/>
            <a:ext cx="1517332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시나리오 20종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10013251" y="3959351"/>
            <a:ext cx="1517332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10013251" y="4041647"/>
            <a:ext cx="676656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결산 R2R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10689907" y="4078917"/>
            <a:ext cx="566356" cy="7066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0689907" y="4078917"/>
            <a:ext cx="566356" cy="70661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11301984" y="4041647"/>
            <a:ext cx="182880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6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013251" y="4186849"/>
            <a:ext cx="676656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자산 A2R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10689907" y="4224119"/>
            <a:ext cx="566356" cy="7066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10689907" y="4224119"/>
            <a:ext cx="283178" cy="70661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11301984" y="4186849"/>
            <a:ext cx="182880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3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10013251" y="4332051"/>
            <a:ext cx="676656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자금 TRE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10689907" y="4369320"/>
            <a:ext cx="566356" cy="7066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0689907" y="4369320"/>
            <a:ext cx="283178" cy="70661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1301984" y="4332051"/>
            <a:ext cx="182880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3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0013251" y="4477252"/>
            <a:ext cx="676656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구매 P2P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10689907" y="4514522"/>
            <a:ext cx="566356" cy="7066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10689907" y="4514522"/>
            <a:ext cx="186897" cy="70661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11301984" y="4477252"/>
            <a:ext cx="182880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0013251" y="4622454"/>
            <a:ext cx="676656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판매 O2C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10689907" y="4659724"/>
            <a:ext cx="566356" cy="7066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0689907" y="4659724"/>
            <a:ext cx="186897" cy="70661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11301984" y="4622454"/>
            <a:ext cx="182880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0013251" y="4767655"/>
            <a:ext cx="676656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급여·관계사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10689907" y="4804925"/>
            <a:ext cx="566356" cy="7066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0689907" y="4804925"/>
            <a:ext cx="373795" cy="70661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11301984" y="4767655"/>
            <a:ext cx="182880" cy="1452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4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0013251" y="5059161"/>
            <a:ext cx="1517332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무엇이 나왔나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10013251" y="5214609"/>
            <a:ext cx="1517332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10013251" y="5296905"/>
            <a:ext cx="1517332" cy="21692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10049827" y="5296905"/>
            <a:ext cx="1444180" cy="21692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FFFFFF"/>
                </a:solidFill>
                <a:latin typeface="Pretendard"/>
              </a:rPr>
              <a:t>정상 원장 355,786행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0013251" y="5550407"/>
            <a:ext cx="1517332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1단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548640" y="6528816"/>
            <a:ext cx="11094415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후보 4개는 전부 같은 내용이다 — 다른 것은 배치·인코딩뿐 · 라벨은 자리에 맞게 접혔다(… 외 N개) · 번호로 회신 (예: S4=1 · S7=3 · S13=전탈락)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731520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8A9099"/>
                </a:solidFill>
                <a:latin typeface="Pretendard"/>
              </a:rPr>
              <a:t>S8 · PART Ⅱ · 형태 후보 4 (내용 동일)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400" b="1" lang="ko-KR">
                <a:solidFill>
                  <a:srgbClr val="15171B"/>
                </a:solidFill>
                <a:latin typeface="Pretendard"/>
              </a:rPr>
              <a:t>이상 데이터 주입 — 14종은 어디서 왔나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11094415" cy="914"/>
          </a:xfrm>
          <a:prstGeom prst="rect">
            <a:avLst/>
          </a:prstGeom>
          <a:noFill/>
          <a:ln w="1778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50" b="1" lang="ko-KR">
                <a:solidFill>
                  <a:srgbClr val="D66E3A"/>
                </a:solidFill>
                <a:latin typeface="Pretendard"/>
              </a:rPr>
              <a:t>초점(채록): 이상 14종이 실제 사례에서 나왔다 (최우선) · 희소성 0.29%는 후순위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0" lang="ko-KR">
                <a:solidFill>
                  <a:srgbClr val="8A9099"/>
                </a:solidFill>
                <a:latin typeface="Pretendard"/>
              </a:rPr>
              <a:t>담기는 것(고정): 감리 사례→FS01~14 흐름별 · 생성 4단계 · 가공매출 연계 체인 · 330건/113,465건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 흐름→14종 매핑 + 우상 4단계 + 우하 0.29% 면적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35024"/>
            <a:ext cx="277623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금감원 지적사례 → 시나리오 14종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490472"/>
            <a:ext cx="2776230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1572768"/>
            <a:ext cx="832869" cy="207699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72768"/>
            <a:ext cx="759717" cy="20769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매출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901952"/>
            <a:ext cx="832869" cy="207699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1901952"/>
            <a:ext cx="759717" cy="20769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매입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31136"/>
            <a:ext cx="832869" cy="207699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231136"/>
            <a:ext cx="759717" cy="20769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결산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560320"/>
            <a:ext cx="832869" cy="207699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560320"/>
            <a:ext cx="759717" cy="20769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관계사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2889504"/>
            <a:ext cx="832869" cy="207699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2889504"/>
            <a:ext cx="759717" cy="20769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급여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01729" y="1572768"/>
            <a:ext cx="832869" cy="20769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38305" y="1572768"/>
            <a:ext cx="759717" cy="20769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FS01·05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01729" y="1807899"/>
            <a:ext cx="832869" cy="20769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38305" y="1807899"/>
            <a:ext cx="759717" cy="20769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FS09·10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01729" y="2043030"/>
            <a:ext cx="832869" cy="20769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38305" y="2043030"/>
            <a:ext cx="759717" cy="20769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FS03·04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01729" y="2278162"/>
            <a:ext cx="832869" cy="20769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38305" y="2278162"/>
            <a:ext cx="759717" cy="20769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FS06·07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01729" y="2513293"/>
            <a:ext cx="832869" cy="20769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38305" y="2513293"/>
            <a:ext cx="759717" cy="20769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FS02·08·12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01729" y="2748425"/>
            <a:ext cx="832869" cy="20769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38305" y="2748425"/>
            <a:ext cx="759717" cy="20769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FS11·13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01729" y="2983556"/>
            <a:ext cx="832869" cy="20769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38305" y="2983556"/>
            <a:ext cx="759717" cy="20769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FS14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91237" y="1676617"/>
            <a:ext cx="1110492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91237" y="1676617"/>
            <a:ext cx="1110492" cy="235132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491237" y="2005801"/>
            <a:ext cx="1110492" cy="141079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491237" y="2005801"/>
            <a:ext cx="1110492" cy="376211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91237" y="2334985"/>
            <a:ext cx="1110492" cy="282158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491237" y="2664169"/>
            <a:ext cx="1110492" cy="188105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491237" y="2993353"/>
            <a:ext cx="1110492" cy="94053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617478" y="1335024"/>
            <a:ext cx="2262113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이상 전표 한 건을 만드는 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17478" y="1490472"/>
            <a:ext cx="2262113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17478" y="1572768"/>
            <a:ext cx="2262113" cy="224125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4054" y="1572768"/>
            <a:ext cx="2188961" cy="22412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1 베이스 선택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748535" y="1796893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3617478" y="1824325"/>
            <a:ext cx="2262113" cy="224125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4054" y="1824325"/>
            <a:ext cx="2188961" cy="22412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2 목표 속성 변이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7478" y="2085026"/>
            <a:ext cx="2262113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2단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7478" y="2368490"/>
            <a:ext cx="2262113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주입 규모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17478" y="2523938"/>
            <a:ext cx="2262113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17478" y="2606234"/>
            <a:ext cx="2262113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주입 후 전체 113,465건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17478" y="2770826"/>
            <a:ext cx="2262113" cy="429573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612808" y="2959838"/>
            <a:ext cx="73152" cy="7315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685960" y="2996414"/>
            <a:ext cx="407180" cy="914"/>
          </a:xfrm>
          <a:prstGeom prst="rect">
            <a:avLst/>
          </a:prstGeom>
          <a:noFill/>
          <a:ln w="1143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22536" y="2813534"/>
            <a:ext cx="81436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330건 · 0.29%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99632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73952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상단 4단계 가로 밴드 + 하단 14종 칩 격자 / 가공매출 체인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9360" y="1335024"/>
            <a:ext cx="5221224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이상 전표 한 건을 만드는 법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1490472"/>
            <a:ext cx="5221224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Pentagon 66"/>
          <p:cNvSpPr/>
          <p:nvPr/>
        </p:nvSpPr>
        <p:spPr>
          <a:xfrm>
            <a:off x="6309360" y="1572768"/>
            <a:ext cx="1367028" cy="365760"/>
          </a:xfrm>
          <a:prstGeom prst="homePlate">
            <a:avLst>
              <a:gd name="adj" fmla="val 5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eaLnBrk="0"/>
            <a:r>
              <a:rPr sz="650" b="1" lang="ko-KR">
                <a:solidFill>
                  <a:srgbClr val="15171B"/>
                </a:solidFill>
                <a:latin typeface="Pretendard"/>
              </a:rPr>
              <a:t>1 베이스 선택</a:t>
            </a:r>
          </a:p>
        </p:txBody>
      </p:sp>
      <p:sp>
        <p:nvSpPr>
          <p:cNvPr id="68" name="Chevron 67"/>
          <p:cNvSpPr/>
          <p:nvPr/>
        </p:nvSpPr>
        <p:spPr>
          <a:xfrm>
            <a:off x="7594092" y="1572768"/>
            <a:ext cx="1367028" cy="365760"/>
          </a:xfrm>
          <a:prstGeom prst="chevron">
            <a:avLst>
              <a:gd name="adj" fmla="val 5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eaLnBrk="0"/>
            <a:r>
              <a:rPr sz="650" b="1" lang="ko-KR">
                <a:solidFill>
                  <a:srgbClr val="15171B"/>
                </a:solidFill>
                <a:latin typeface="Pretendard"/>
              </a:rPr>
              <a:t>2 목표 속성 변이</a:t>
            </a:r>
          </a:p>
        </p:txBody>
      </p:sp>
      <p:sp>
        <p:nvSpPr>
          <p:cNvPr id="69" name="Chevron 68"/>
          <p:cNvSpPr/>
          <p:nvPr/>
        </p:nvSpPr>
        <p:spPr>
          <a:xfrm>
            <a:off x="8878824" y="1572768"/>
            <a:ext cx="1367028" cy="365760"/>
          </a:xfrm>
          <a:prstGeom prst="chevron">
            <a:avLst>
              <a:gd name="adj" fmla="val 55000"/>
            </a:avLst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eaLnBrk="0"/>
            <a:r>
              <a:rPr sz="650" b="1" lang="ko-KR">
                <a:solidFill>
                  <a:srgbClr val="FFFFFF"/>
                </a:solidFill>
                <a:latin typeface="Pretendard"/>
              </a:rPr>
              <a:t>3 시퀀스 연결</a:t>
            </a:r>
          </a:p>
        </p:txBody>
      </p:sp>
      <p:sp>
        <p:nvSpPr>
          <p:cNvPr id="70" name="Chevron 69"/>
          <p:cNvSpPr/>
          <p:nvPr/>
        </p:nvSpPr>
        <p:spPr>
          <a:xfrm>
            <a:off x="10163556" y="1572768"/>
            <a:ext cx="1367028" cy="365760"/>
          </a:xfrm>
          <a:prstGeom prst="chevron">
            <a:avLst>
              <a:gd name="adj" fmla="val 55000"/>
            </a:avLst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eaLnBrk="0"/>
            <a:r>
              <a:rPr sz="650" b="1" lang="ko-KR">
                <a:solidFill>
                  <a:srgbClr val="FFFFFF"/>
                </a:solidFill>
                <a:latin typeface="Pretendard"/>
              </a:rPr>
              <a:t>4 흔적 제거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9360" y="1957119"/>
            <a:ext cx="2894367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금감원 지적사례에서 뽑은 14종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2112567"/>
            <a:ext cx="2894367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309360" y="2194863"/>
            <a:ext cx="916021" cy="1535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45936" y="2194863"/>
            <a:ext cx="842869" cy="15355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FS01 가공매출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298533" y="2194863"/>
            <a:ext cx="916021" cy="153558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35109" y="2194863"/>
            <a:ext cx="842869" cy="15355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FS02 진행률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287706" y="2194863"/>
            <a:ext cx="916021" cy="153558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24282" y="2194863"/>
            <a:ext cx="842869" cy="15355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FS03 현금횡령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309360" y="2412430"/>
            <a:ext cx="916021" cy="153558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45936" y="2412430"/>
            <a:ext cx="842869" cy="15355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FS04 횡령은폐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298533" y="2412430"/>
            <a:ext cx="916021" cy="153558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35109" y="2412430"/>
            <a:ext cx="842869" cy="15355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FS05 순환거래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87706" y="2412430"/>
            <a:ext cx="916021" cy="153558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24282" y="2412430"/>
            <a:ext cx="842869" cy="15355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FS06 부채누락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309360" y="2629996"/>
            <a:ext cx="916021" cy="153558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45936" y="2629996"/>
            <a:ext cx="842869" cy="15355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FS07 재고과대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298533" y="2629996"/>
            <a:ext cx="916021" cy="153558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335109" y="2629996"/>
            <a:ext cx="842869" cy="15355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FS08 자본화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287706" y="2629996"/>
            <a:ext cx="916021" cy="153558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324282" y="2629996"/>
            <a:ext cx="842869" cy="15355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FS09 컷오프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309360" y="2847563"/>
            <a:ext cx="916021" cy="153558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45936" y="2847563"/>
            <a:ext cx="842869" cy="15355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FS10 대손회피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298533" y="2847563"/>
            <a:ext cx="916021" cy="153558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35109" y="2847563"/>
            <a:ext cx="842869" cy="15355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FS11 특수관계자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287706" y="2847563"/>
            <a:ext cx="916021" cy="153558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324282" y="2847563"/>
            <a:ext cx="842869" cy="15355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FS12 충당금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309360" y="3065129"/>
            <a:ext cx="916021" cy="153558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45936" y="3065129"/>
            <a:ext cx="842869" cy="15355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FS13 손상회피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298533" y="3065129"/>
            <a:ext cx="916021" cy="153558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335109" y="3065129"/>
            <a:ext cx="842869" cy="15355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FS14 유령직원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386607" y="1957119"/>
            <a:ext cx="2143976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가공매출 — 실제 연계 흐름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386607" y="2112567"/>
            <a:ext cx="2143976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386607" y="2194863"/>
            <a:ext cx="2143976" cy="228524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423183" y="2194863"/>
            <a:ext cx="2070824" cy="2285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FFFFFF"/>
                </a:solidFill>
                <a:latin typeface="Pretendard"/>
              </a:rPr>
              <a:t>매출 계상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0458595" y="2423387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05"/>
          <p:cNvSpPr/>
          <p:nvPr/>
        </p:nvSpPr>
        <p:spPr>
          <a:xfrm>
            <a:off x="9386607" y="2450819"/>
            <a:ext cx="2143976" cy="228524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423183" y="2450819"/>
            <a:ext cx="2070824" cy="2285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가공 회수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10458595" y="2679343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9386607" y="2706775"/>
            <a:ext cx="2143976" cy="228524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423183" y="2706775"/>
            <a:ext cx="2070824" cy="2285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매출채권 담보 차입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0458595" y="2935299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9386607" y="2962731"/>
            <a:ext cx="2143976" cy="228524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423183" y="2962731"/>
            <a:ext cx="2070824" cy="2285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차기 역분개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48640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22959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좌앵커 + 중앙 14종 칩 + 하단 희소성 띠 + 우 4단계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58368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58368" y="3803903"/>
            <a:ext cx="1209987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05000"/>
              </a:lnSpc>
            </a:pPr>
            <a:r>
              <a:rPr sz="1300" b="1" lang="ko-KR">
                <a:solidFill>
                  <a:srgbClr val="15171B"/>
                </a:solidFill>
                <a:latin typeface="Pretendard"/>
              </a:rPr>
              <a:t>14종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58368" y="4133087"/>
            <a:ext cx="1209987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1" lang="ko-KR">
                <a:solidFill>
                  <a:srgbClr val="D66E3A"/>
                </a:solidFill>
                <a:latin typeface="Pretendard"/>
              </a:rPr>
              <a:t>실제 사례에서 나왔다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58368" y="4315967"/>
            <a:ext cx="1209987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30000"/>
              </a:lnSpc>
            </a:pPr>
            <a:r>
              <a:rPr sz="650" b="0" lang="ko-KR">
                <a:solidFill>
                  <a:srgbClr val="555A60"/>
                </a:solidFill>
                <a:latin typeface="Pretendard"/>
              </a:rPr>
              <a:t>금감원 지적사례를 수법 14종으로 구조화해 정상 전표에 주입했다. 단건이 아니라 연계 흐름이다.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051235" y="3803903"/>
            <a:ext cx="2094209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이상 데이터 시나리오 14종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051235" y="3959351"/>
            <a:ext cx="2094209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2051235" y="4041647"/>
            <a:ext cx="1010528" cy="19476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087811" y="4041647"/>
            <a:ext cx="937376" cy="19476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FS01 가공매출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134916" y="4041647"/>
            <a:ext cx="1010528" cy="194767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171492" y="4041647"/>
            <a:ext cx="937376" cy="19476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FS02 진행률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051235" y="4300423"/>
            <a:ext cx="1010528" cy="194767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087811" y="4300423"/>
            <a:ext cx="937376" cy="19476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FS03 현금횡령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134916" y="4300423"/>
            <a:ext cx="1010528" cy="194767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171492" y="4300423"/>
            <a:ext cx="937376" cy="19476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FS04 횡령은폐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2051235" y="4559198"/>
            <a:ext cx="1010528" cy="194767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087811" y="4559198"/>
            <a:ext cx="937376" cy="19476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FS05 순환거래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134916" y="4559198"/>
            <a:ext cx="1010528" cy="194767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171492" y="4559198"/>
            <a:ext cx="937376" cy="19476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FS06 부채누락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2051235" y="4817973"/>
            <a:ext cx="1010528" cy="194767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087811" y="4817973"/>
            <a:ext cx="937376" cy="19476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FS07 재고과대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3134916" y="4817973"/>
            <a:ext cx="1010528" cy="194767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171492" y="4817973"/>
            <a:ext cx="937376" cy="19476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FS08 자본화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051235" y="5085892"/>
            <a:ext cx="2094209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6개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051235" y="5305348"/>
            <a:ext cx="2094209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주입 규모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051235" y="5479084"/>
            <a:ext cx="661493" cy="20848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087811" y="5479084"/>
            <a:ext cx="588341" cy="20848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113,465건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767593" y="5479084"/>
            <a:ext cx="661493" cy="20848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804169" y="5479084"/>
            <a:ext cx="588341" cy="20848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이상 330건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483951" y="5479084"/>
            <a:ext cx="661493" cy="208483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520527" y="5479084"/>
            <a:ext cx="588341" cy="20848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0.29%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328325" y="3803903"/>
            <a:ext cx="1551266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한 건을 만드는 4단계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328325" y="3959351"/>
            <a:ext cx="1551266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4328325" y="4041647"/>
            <a:ext cx="1551266" cy="310896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364901" y="4041647"/>
            <a:ext cx="1478114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1 베이스 선택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5103958" y="4352543"/>
            <a:ext cx="0" cy="91440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4328325" y="4453127"/>
            <a:ext cx="1551266" cy="310896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364901" y="4453127"/>
            <a:ext cx="1478114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2 목표 속성 변이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5103958" y="4764023"/>
            <a:ext cx="0" cy="91441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ctangle 155"/>
          <p:cNvSpPr/>
          <p:nvPr/>
        </p:nvSpPr>
        <p:spPr>
          <a:xfrm>
            <a:off x="4328325" y="4864607"/>
            <a:ext cx="1551266" cy="31089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364901" y="4864607"/>
            <a:ext cx="1478114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FFFFFF"/>
                </a:solidFill>
                <a:latin typeface="Pretendard"/>
              </a:rPr>
              <a:t>3 시퀀스 연결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5103958" y="5175503"/>
            <a:ext cx="0" cy="91440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ctangle 158"/>
          <p:cNvSpPr/>
          <p:nvPr/>
        </p:nvSpPr>
        <p:spPr>
          <a:xfrm>
            <a:off x="4328325" y="5276087"/>
            <a:ext cx="1551266" cy="310896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364901" y="5276087"/>
            <a:ext cx="1478114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4 흔적 제거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199632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473952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 가공매출 체인 크게 + 우 흐름→14종 매핑 + 하단 띠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09360" y="3803903"/>
            <a:ext cx="2056466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가공매출 — 단건이 아니다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309360" y="3959351"/>
            <a:ext cx="2056466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309360" y="4041647"/>
            <a:ext cx="2056466" cy="31089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345936" y="4041647"/>
            <a:ext cx="1983314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FFFFFF"/>
                </a:solidFill>
                <a:latin typeface="Pretendard"/>
              </a:rPr>
              <a:t>매출 계상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7337593" y="4352543"/>
            <a:ext cx="0" cy="91440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ectangle 170"/>
          <p:cNvSpPr/>
          <p:nvPr/>
        </p:nvSpPr>
        <p:spPr>
          <a:xfrm>
            <a:off x="6309360" y="4453127"/>
            <a:ext cx="2056466" cy="310896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345936" y="4453127"/>
            <a:ext cx="1983314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가공 회수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7337593" y="4764023"/>
            <a:ext cx="0" cy="91441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Rectangle 173"/>
          <p:cNvSpPr/>
          <p:nvPr/>
        </p:nvSpPr>
        <p:spPr>
          <a:xfrm>
            <a:off x="6309360" y="4864607"/>
            <a:ext cx="2056466" cy="310896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345936" y="4864607"/>
            <a:ext cx="1983314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매출채권 담보 차입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7337593" y="5175503"/>
            <a:ext cx="0" cy="91440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ectangle 176"/>
          <p:cNvSpPr/>
          <p:nvPr/>
        </p:nvSpPr>
        <p:spPr>
          <a:xfrm>
            <a:off x="6309360" y="5276087"/>
            <a:ext cx="2056466" cy="31089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345936" y="5276087"/>
            <a:ext cx="1983314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FFFFFF"/>
                </a:solidFill>
                <a:latin typeface="Pretendard"/>
              </a:rPr>
              <a:t>차기 역분개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8548706" y="3803903"/>
            <a:ext cx="2981877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지적사례 흐름 → 시나리오 14종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548706" y="3959351"/>
            <a:ext cx="2981877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548706" y="4041647"/>
            <a:ext cx="834925" cy="15903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8585282" y="4041647"/>
            <a:ext cx="761773" cy="15903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매출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8548706" y="4228110"/>
            <a:ext cx="834925" cy="15903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8585282" y="4228110"/>
            <a:ext cx="761773" cy="15903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매입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548706" y="4414573"/>
            <a:ext cx="834925" cy="15903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585282" y="4414573"/>
            <a:ext cx="761773" cy="15903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결산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8548706" y="4601036"/>
            <a:ext cx="834925" cy="15903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585282" y="4601036"/>
            <a:ext cx="761773" cy="15903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관계사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8548706" y="4787499"/>
            <a:ext cx="834925" cy="15903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8585282" y="4787499"/>
            <a:ext cx="761773" cy="15903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급여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0695658" y="4041647"/>
            <a:ext cx="834925" cy="15903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0732234" y="4041647"/>
            <a:ext cx="761773" cy="15903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FS01·05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10695658" y="4238150"/>
            <a:ext cx="834925" cy="15903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0732234" y="4238150"/>
            <a:ext cx="761773" cy="15903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FS09·10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10695658" y="4434653"/>
            <a:ext cx="834925" cy="15903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0732234" y="4434653"/>
            <a:ext cx="761773" cy="15903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FS03·04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10695658" y="4631156"/>
            <a:ext cx="834925" cy="15903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0732234" y="4631156"/>
            <a:ext cx="761773" cy="15903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FS06·07</a:t>
            </a:r>
          </a:p>
        </p:txBody>
      </p:sp>
      <p:cxnSp>
        <p:nvCxnSpPr>
          <p:cNvPr id="199" name="Connector 198"/>
          <p:cNvCxnSpPr/>
          <p:nvPr/>
        </p:nvCxnSpPr>
        <p:spPr>
          <a:xfrm>
            <a:off x="9383632" y="4121163"/>
            <a:ext cx="1312026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9383632" y="4121163"/>
            <a:ext cx="1312026" cy="196503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9383632" y="4307626"/>
            <a:ext cx="1312026" cy="206542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9383632" y="4307626"/>
            <a:ext cx="1312026" cy="403045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10695658" y="4836802"/>
            <a:ext cx="834925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3개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548706" y="5120266"/>
            <a:ext cx="2981877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주입 규모 — 쉽게 맞힐 문제로 만들지 않았다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8548706" y="5294002"/>
            <a:ext cx="957383" cy="393565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585282" y="5294002"/>
            <a:ext cx="884231" cy="39356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전체 113,465건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9560953" y="5294002"/>
            <a:ext cx="957383" cy="393565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9597529" y="5294002"/>
            <a:ext cx="884231" cy="39356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이상 330건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0573200" y="5294002"/>
            <a:ext cx="957383" cy="393565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0609776" y="5294002"/>
            <a:ext cx="884231" cy="39356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0.29%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548640" y="6528816"/>
            <a:ext cx="11094415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후보 4개는 전부 같은 내용이다 — 다른 것은 배치·인코딩뿐 · 라벨은 자리에 맞게 접혔다(… 외 N개) · 번호로 회신 (예: S4=1 · S7=3 · S13=전탈락)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731520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8A9099"/>
                </a:solidFill>
                <a:latin typeface="Pretendard"/>
              </a:rPr>
              <a:t>S10 · PART Ⅲ · 형태 후보 4 (내용 동일)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400" b="1" lang="ko-KR">
                <a:solidFill>
                  <a:srgbClr val="15171B"/>
                </a:solidFill>
                <a:latin typeface="Pretendard"/>
              </a:rPr>
              <a:t>룰 29종 — 감으로 만들지 않았다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11094415" cy="914"/>
          </a:xfrm>
          <a:prstGeom prst="rect">
            <a:avLst/>
          </a:prstGeom>
          <a:noFill/>
          <a:ln w="1778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50" b="1" lang="ko-KR">
                <a:solidFill>
                  <a:srgbClr val="D66E3A"/>
                </a:solidFill>
                <a:latin typeface="Pretendard"/>
              </a:rPr>
              <a:t>초점(채록): 룰 하나하나에 출전이 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0" lang="ko-KR">
                <a:solidFill>
                  <a:srgbClr val="8A9099"/>
                </a:solidFill>
                <a:latin typeface="Pretendard"/>
              </a:rPr>
              <a:t>담기는 것(고정): 감리 230건→대상 9종(빈도) · 기준서 240호→수법 10종 · 주제 6 · 정합성 4 분리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 두 출처 팬인 + 중앙 빈도 막대 + 우 수법 10칩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35024"/>
            <a:ext cx="1441465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두 출처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490472"/>
            <a:ext cx="1441465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1572768"/>
            <a:ext cx="1441465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72768"/>
            <a:ext cx="1368313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금감원 감리 지적사례 230건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51084" y="1883664"/>
            <a:ext cx="914" cy="673912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029968"/>
            <a:ext cx="1441465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2029968"/>
            <a:ext cx="1368313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회계감사기준서 240호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07116" y="2340864"/>
            <a:ext cx="914" cy="216712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51084" y="2557576"/>
            <a:ext cx="256032" cy="91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379100" y="2557576"/>
            <a:ext cx="0" cy="110643"/>
          </a:xfrm>
          <a:prstGeom prst="line">
            <a:avLst/>
          </a:prstGeom>
          <a:ln w="1397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58368" y="2668219"/>
            <a:ext cx="1441465" cy="29260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2668219"/>
            <a:ext cx="1368313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50" b="1" lang="ko-KR">
                <a:solidFill>
                  <a:srgbClr val="FFFFFF"/>
                </a:solidFill>
                <a:latin typeface="Pretendard"/>
              </a:rPr>
              <a:t>룰 29종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2713" y="1335024"/>
            <a:ext cx="1972532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감리 지적 빈도 — 실제 건수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2713" y="1490472"/>
            <a:ext cx="1972532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2713" y="1572768"/>
            <a:ext cx="914400" cy="16274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추정계정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97113" y="1613546"/>
            <a:ext cx="692372" cy="8118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97113" y="1613546"/>
            <a:ext cx="692372" cy="81187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5206" y="1572768"/>
            <a:ext cx="274320" cy="16274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147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2713" y="1735511"/>
            <a:ext cx="914400" cy="16274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관계사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97113" y="1776290"/>
            <a:ext cx="692372" cy="8118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97113" y="1776290"/>
            <a:ext cx="376650" cy="81187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5206" y="1735511"/>
            <a:ext cx="274320" cy="16274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2713" y="1898255"/>
            <a:ext cx="914400" cy="16274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컷오프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97113" y="1939033"/>
            <a:ext cx="692372" cy="8118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97113" y="1939033"/>
            <a:ext cx="108010" cy="81187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5206" y="1898255"/>
            <a:ext cx="274320" cy="16274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2713" y="2060999"/>
            <a:ext cx="914400" cy="16274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비용자산화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97113" y="2101777"/>
            <a:ext cx="692372" cy="8118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197113" y="2101777"/>
            <a:ext cx="103855" cy="81187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5206" y="2060999"/>
            <a:ext cx="274320" cy="16274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2713" y="2232886"/>
            <a:ext cx="1972532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5개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2713" y="2516350"/>
            <a:ext cx="1972532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주제별 구성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2713" y="2671798"/>
            <a:ext cx="1972532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82713" y="2754094"/>
            <a:ext cx="283035" cy="46459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19289" y="2754094"/>
            <a:ext cx="209883" cy="46459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시점 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20613" y="2754094"/>
            <a:ext cx="283035" cy="46459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57189" y="2754094"/>
            <a:ext cx="209883" cy="46459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승인 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58512" y="2754094"/>
            <a:ext cx="283035" cy="46459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95088" y="2754094"/>
            <a:ext cx="209883" cy="46459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금액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96411" y="2754094"/>
            <a:ext cx="283035" cy="46459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32987" y="2754094"/>
            <a:ext cx="209883" cy="46459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계정 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34311" y="2754094"/>
            <a:ext cx="283035" cy="46459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70887" y="2754094"/>
            <a:ext cx="209883" cy="46459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거래 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72210" y="2754094"/>
            <a:ext cx="283035" cy="464593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08786" y="2754094"/>
            <a:ext cx="209883" cy="46459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정합 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38126" y="1335024"/>
            <a:ext cx="1441465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조작 수법 10종 — 기준서 240호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38126" y="1490472"/>
            <a:ext cx="1441465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438126" y="1572768"/>
            <a:ext cx="684156" cy="27432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74702" y="1572768"/>
            <a:ext cx="611004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수기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195435" y="1572768"/>
            <a:ext cx="684156" cy="27432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32011" y="1572768"/>
            <a:ext cx="611004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승인한도초과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438126" y="1911096"/>
            <a:ext cx="684156" cy="27432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74702" y="1911096"/>
            <a:ext cx="611004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자기승인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195435" y="1911096"/>
            <a:ext cx="684156" cy="27432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32011" y="1911096"/>
            <a:ext cx="611004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승인생략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438126" y="2249424"/>
            <a:ext cx="684156" cy="27432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74702" y="2249424"/>
            <a:ext cx="611004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유령승인자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195435" y="2249424"/>
            <a:ext cx="684156" cy="27432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32011" y="2249424"/>
            <a:ext cx="611004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직무분리 겸직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438126" y="2587752"/>
            <a:ext cx="684156" cy="27432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474702" y="2587752"/>
            <a:ext cx="611004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소급기표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195435" y="2587752"/>
            <a:ext cx="684156" cy="27432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232011" y="2587752"/>
            <a:ext cx="611004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희소계정쌍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438126" y="2926080"/>
            <a:ext cx="684156" cy="27432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74702" y="2926080"/>
            <a:ext cx="611004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휴일 입력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195435" y="2926080"/>
            <a:ext cx="684156" cy="27432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232011" y="2926080"/>
            <a:ext cx="611004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심야 입력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99632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73952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상단 출처→축 카탈로그 + 하단 빈도 막대 / 주제 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1335024"/>
            <a:ext cx="5221224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출처가 두 축을 만든다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309360" y="1490472"/>
            <a:ext cx="5221224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09360" y="1572768"/>
            <a:ext cx="1461942" cy="18932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45936" y="1572768"/>
            <a:ext cx="1388790" cy="18932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감리 지적사례 230건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7789590" y="1667429"/>
            <a:ext cx="2260763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10068641" y="1572768"/>
            <a:ext cx="1461942" cy="189323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105217" y="1572768"/>
            <a:ext cx="1388790" cy="18932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도출 적발 대상 9종 · 기준서 240호 → 수법 10종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09360" y="1935827"/>
            <a:ext cx="279908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적발 대상 9종 — 감리 지적 빈도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09360" y="2091275"/>
            <a:ext cx="2799080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309360" y="2173571"/>
            <a:ext cx="1005840" cy="1498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추정계정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315200" y="2211761"/>
            <a:ext cx="1409191" cy="7342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315200" y="2211761"/>
            <a:ext cx="1409191" cy="7342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770112" y="2173571"/>
            <a:ext cx="292608" cy="1498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147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09360" y="2323373"/>
            <a:ext cx="1005840" cy="1498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관계사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0" y="2361563"/>
            <a:ext cx="1409191" cy="7342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315200" y="2361563"/>
            <a:ext cx="766600" cy="7342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770112" y="2323373"/>
            <a:ext cx="292608" cy="1498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80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09360" y="2473175"/>
            <a:ext cx="1005840" cy="1498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컷오프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315200" y="2511365"/>
            <a:ext cx="1409191" cy="7342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315200" y="2511365"/>
            <a:ext cx="219833" cy="73422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770112" y="2473175"/>
            <a:ext cx="292608" cy="1498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309360" y="2622977"/>
            <a:ext cx="1005840" cy="1498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비용자산화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315200" y="2661167"/>
            <a:ext cx="1409191" cy="7342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315200" y="2661167"/>
            <a:ext cx="211378" cy="73422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770112" y="2622977"/>
            <a:ext cx="292608" cy="1498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09360" y="2772779"/>
            <a:ext cx="1005840" cy="1498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기말결산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0" y="2810969"/>
            <a:ext cx="1409191" cy="7342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315200" y="2810969"/>
            <a:ext cx="191650" cy="73422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770112" y="2772779"/>
            <a:ext cx="292608" cy="1498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309360" y="2922581"/>
            <a:ext cx="1005840" cy="1498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매출과대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315200" y="2960771"/>
            <a:ext cx="1409191" cy="7342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315200" y="2960771"/>
            <a:ext cx="191650" cy="73422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770112" y="2922581"/>
            <a:ext cx="292608" cy="1498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09360" y="3081528"/>
            <a:ext cx="2799080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3개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291320" y="1935827"/>
            <a:ext cx="2239264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룰 29종 주제별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291320" y="2091275"/>
            <a:ext cx="2239264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291320" y="2173571"/>
            <a:ext cx="2239264" cy="197271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327896" y="2173571"/>
            <a:ext cx="2166112" cy="19727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시점 (6)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10410952" y="2370842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/>
          <p:cNvSpPr/>
          <p:nvPr/>
        </p:nvSpPr>
        <p:spPr>
          <a:xfrm>
            <a:off x="9291320" y="2398274"/>
            <a:ext cx="2239264" cy="197271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327896" y="2398274"/>
            <a:ext cx="2166112" cy="19727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승인/권한 (5)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0410952" y="2595545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ctangle 125"/>
          <p:cNvSpPr/>
          <p:nvPr/>
        </p:nvSpPr>
        <p:spPr>
          <a:xfrm>
            <a:off x="9291320" y="2622977"/>
            <a:ext cx="2239264" cy="197271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327896" y="2622977"/>
            <a:ext cx="2166112" cy="19727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금액/분할 (5)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10410952" y="2820248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ctangle 128"/>
          <p:cNvSpPr/>
          <p:nvPr/>
        </p:nvSpPr>
        <p:spPr>
          <a:xfrm>
            <a:off x="9291320" y="2847680"/>
            <a:ext cx="2239264" cy="197271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327896" y="2847680"/>
            <a:ext cx="2166112" cy="19727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계정 성격 (5)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291320" y="3081528"/>
            <a:ext cx="2239264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2단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48640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2959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좌앵커 + 중앙 주제 6 세로 + 우 빈도 막대 / 수법 칩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58368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58368" y="3803903"/>
            <a:ext cx="115606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05000"/>
              </a:lnSpc>
            </a:pPr>
            <a:r>
              <a:rPr sz="1300" b="1" lang="ko-KR">
                <a:solidFill>
                  <a:srgbClr val="15171B"/>
                </a:solidFill>
                <a:latin typeface="Pretendard"/>
              </a:rPr>
              <a:t>29종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58368" y="4133087"/>
            <a:ext cx="1156062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1" lang="ko-KR">
                <a:solidFill>
                  <a:srgbClr val="D66E3A"/>
                </a:solidFill>
                <a:latin typeface="Pretendard"/>
              </a:rPr>
              <a:t>룰마다 출전이 있다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58368" y="4315967"/>
            <a:ext cx="1156062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30000"/>
              </a:lnSpc>
            </a:pPr>
            <a:r>
              <a:rPr sz="650" b="0" lang="ko-KR">
                <a:solidFill>
                  <a:srgbClr val="555A60"/>
                </a:solidFill>
                <a:latin typeface="Pretendard"/>
              </a:rPr>
              <a:t>147·80·23은 임의 가중치가 아니라 감리에서 실제로 지적된 건수다.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997310" y="3803903"/>
            <a:ext cx="1926771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주제 6 × 룰 29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997310" y="3959351"/>
            <a:ext cx="1926771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997310" y="4041647"/>
            <a:ext cx="1926771" cy="246888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033886" y="4041647"/>
            <a:ext cx="1853619" cy="24688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시점 (6)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2960696" y="4288536"/>
            <a:ext cx="0" cy="18287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44"/>
          <p:cNvSpPr/>
          <p:nvPr/>
        </p:nvSpPr>
        <p:spPr>
          <a:xfrm>
            <a:off x="1997310" y="4315967"/>
            <a:ext cx="1926771" cy="246888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033886" y="4315967"/>
            <a:ext cx="1853619" cy="24688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승인/권한 (5)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2960696" y="4562855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ectangle 147"/>
          <p:cNvSpPr/>
          <p:nvPr/>
        </p:nvSpPr>
        <p:spPr>
          <a:xfrm>
            <a:off x="1997310" y="4590287"/>
            <a:ext cx="1926771" cy="246888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033886" y="4590287"/>
            <a:ext cx="1853619" cy="24688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금액/분할 (5)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2960696" y="4837175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angle 150"/>
          <p:cNvSpPr/>
          <p:nvPr/>
        </p:nvSpPr>
        <p:spPr>
          <a:xfrm>
            <a:off x="1997310" y="4864607"/>
            <a:ext cx="1926771" cy="246888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033886" y="4864607"/>
            <a:ext cx="1853619" cy="24688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계정 성격 (5)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2960696" y="5111495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ectangle 153"/>
          <p:cNvSpPr/>
          <p:nvPr/>
        </p:nvSpPr>
        <p:spPr>
          <a:xfrm>
            <a:off x="1997310" y="5138927"/>
            <a:ext cx="1926771" cy="246888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033886" y="5138927"/>
            <a:ext cx="1853619" cy="24688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거래 성격 (4)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2960696" y="5385815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ectangle 156"/>
          <p:cNvSpPr/>
          <p:nvPr/>
        </p:nvSpPr>
        <p:spPr>
          <a:xfrm>
            <a:off x="1997310" y="5413247"/>
            <a:ext cx="1926771" cy="246888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033886" y="5413247"/>
            <a:ext cx="1853619" cy="24688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데이터 정합성 (4)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106962" y="3803903"/>
            <a:ext cx="1772629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감리 지적 빈도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106962" y="3959351"/>
            <a:ext cx="1772629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106962" y="4041647"/>
            <a:ext cx="914400" cy="17198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추정계정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021362" y="4084274"/>
            <a:ext cx="492469" cy="8673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5021362" y="4084274"/>
            <a:ext cx="492469" cy="86731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559551" y="4041647"/>
            <a:ext cx="274320" cy="17198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147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106962" y="4213633"/>
            <a:ext cx="914400" cy="17198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관계사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021362" y="4256259"/>
            <a:ext cx="492469" cy="8673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5021362" y="4256259"/>
            <a:ext cx="267903" cy="86731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559551" y="4213633"/>
            <a:ext cx="274320" cy="17198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80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106962" y="4385618"/>
            <a:ext cx="914400" cy="17198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컷오프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021362" y="4428244"/>
            <a:ext cx="492469" cy="8673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5021362" y="4428244"/>
            <a:ext cx="76825" cy="86731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5559551" y="4385618"/>
            <a:ext cx="274320" cy="17198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23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106962" y="4557603"/>
            <a:ext cx="914400" cy="17198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비용자산화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5021362" y="4600229"/>
            <a:ext cx="492469" cy="8673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5021362" y="4600229"/>
            <a:ext cx="73870" cy="86731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559551" y="4557603"/>
            <a:ext cx="274320" cy="17198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106962" y="4738732"/>
            <a:ext cx="1772629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5개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106962" y="5022196"/>
            <a:ext cx="1772629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조작 수법 10종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106962" y="5177644"/>
            <a:ext cx="1772629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4106962" y="5259940"/>
            <a:ext cx="542108" cy="27432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143538" y="5259940"/>
            <a:ext cx="468956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수기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4722222" y="5259940"/>
            <a:ext cx="542108" cy="27432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758798" y="5259940"/>
            <a:ext cx="468956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승인한도초과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337483" y="5259940"/>
            <a:ext cx="542108" cy="27432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374059" y="5259940"/>
            <a:ext cx="468956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자기승인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106962" y="5607412"/>
            <a:ext cx="1772629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7개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199632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473952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 빈도 막대 + 우 수법 10칩 + 하단 정합성 4 분리 띠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309360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309360" y="3803903"/>
            <a:ext cx="2519172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감리 사례 230건 → 적발 대상 9종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309360" y="3959351"/>
            <a:ext cx="2519172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6309360" y="4041647"/>
            <a:ext cx="1005840" cy="1546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추정계정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315200" y="4080805"/>
            <a:ext cx="1129283" cy="7632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315200" y="4080805"/>
            <a:ext cx="1129283" cy="76324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8490204" y="4041647"/>
            <a:ext cx="292608" cy="1546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147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309360" y="4196287"/>
            <a:ext cx="1005840" cy="1546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관계사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315200" y="4235444"/>
            <a:ext cx="1129283" cy="7632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7315200" y="4235444"/>
            <a:ext cx="614330" cy="76324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8490204" y="4196287"/>
            <a:ext cx="292608" cy="1546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80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6309360" y="4350926"/>
            <a:ext cx="1005840" cy="1546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컷오프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7315200" y="4390084"/>
            <a:ext cx="1129283" cy="7632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7315200" y="4390084"/>
            <a:ext cx="176168" cy="76324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490204" y="4350926"/>
            <a:ext cx="292608" cy="1546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23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309360" y="4505566"/>
            <a:ext cx="1005840" cy="1546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비용자산화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7315200" y="4544723"/>
            <a:ext cx="1129283" cy="7632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7315200" y="4544723"/>
            <a:ext cx="169392" cy="76324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8490204" y="4505566"/>
            <a:ext cx="292608" cy="1546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22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309360" y="4660205"/>
            <a:ext cx="1005840" cy="1546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기말결산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7315200" y="4699362"/>
            <a:ext cx="1129283" cy="7632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7315200" y="4699362"/>
            <a:ext cx="153582" cy="76324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8490204" y="4660205"/>
            <a:ext cx="292608" cy="1546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20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6309360" y="4814844"/>
            <a:ext cx="1005840" cy="1546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매출과대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7315200" y="4854002"/>
            <a:ext cx="1129283" cy="7632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7315200" y="4854002"/>
            <a:ext cx="153582" cy="76324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8490204" y="4814844"/>
            <a:ext cx="292608" cy="1546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20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309360" y="4978628"/>
            <a:ext cx="2519172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3개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9011412" y="3803903"/>
            <a:ext cx="2519172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기준서 240호 → 조작 수법 10종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9011412" y="3959351"/>
            <a:ext cx="2519172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ounded Rectangle 220"/>
          <p:cNvSpPr/>
          <p:nvPr/>
        </p:nvSpPr>
        <p:spPr>
          <a:xfrm>
            <a:off x="9011412" y="4041647"/>
            <a:ext cx="1223010" cy="163621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9047988" y="4041647"/>
            <a:ext cx="1149857" cy="16362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수기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10307574" y="4041647"/>
            <a:ext cx="1223010" cy="163621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0344150" y="4041647"/>
            <a:ext cx="1149857" cy="16362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승인한도초과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9011412" y="4269277"/>
            <a:ext cx="1223010" cy="163621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9047988" y="4269277"/>
            <a:ext cx="1149857" cy="16362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자기승인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10307574" y="4269277"/>
            <a:ext cx="1223010" cy="163621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0344150" y="4269277"/>
            <a:ext cx="1149857" cy="16362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승인생략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9011412" y="4496907"/>
            <a:ext cx="1223010" cy="163621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9047988" y="4496907"/>
            <a:ext cx="1149857" cy="16362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유령승인자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10307574" y="4496907"/>
            <a:ext cx="1223010" cy="163621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10344150" y="4496907"/>
            <a:ext cx="1149857" cy="16362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직무분리 겸직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9011412" y="4724536"/>
            <a:ext cx="1223010" cy="163621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9047988" y="4724536"/>
            <a:ext cx="1149857" cy="16362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소급기표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10307574" y="4724536"/>
            <a:ext cx="1223010" cy="163621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0344150" y="4724536"/>
            <a:ext cx="1149857" cy="16362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희소계정쌍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9011412" y="4952166"/>
            <a:ext cx="1223010" cy="163621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9047988" y="4952166"/>
            <a:ext cx="1149857" cy="16362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휴일 입력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10307574" y="4952166"/>
            <a:ext cx="1223010" cy="163621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0344150" y="4952166"/>
            <a:ext cx="1149857" cy="16362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심야 입력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6309360" y="5262092"/>
            <a:ext cx="5221224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데이터 정합성 4종은 조합에서 분리 — 데이터 수정 신호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309360" y="5435828"/>
            <a:ext cx="1264158" cy="251739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6345936" y="5435828"/>
            <a:ext cx="1191006" cy="251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차대균형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7628382" y="5435828"/>
            <a:ext cx="1264158" cy="251739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7664958" y="5435828"/>
            <a:ext cx="1191006" cy="251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필수필드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8947404" y="5435828"/>
            <a:ext cx="1264158" cy="251739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8983980" y="5435828"/>
            <a:ext cx="1191006" cy="251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무효계정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10266426" y="5435828"/>
            <a:ext cx="1264158" cy="251739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10303002" y="5435828"/>
            <a:ext cx="1191006" cy="251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기간불일치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548640" y="6528816"/>
            <a:ext cx="11094415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후보 4개는 전부 같은 내용이다 — 다른 것은 배치·인코딩뿐 · 라벨은 자리에 맞게 접혔다(… 외 N개) · 번호로 회신 (예: S4=1 · S7=3 · S13=전탈락)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731520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8A9099"/>
                </a:solidFill>
                <a:latin typeface="Pretendard"/>
              </a:rPr>
              <a:t>S11 · PART Ⅲ · 형태 후보 4 (내용 동일)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400" b="1" lang="ko-KR">
                <a:solidFill>
                  <a:srgbClr val="15171B"/>
                </a:solidFill>
                <a:latin typeface="Pretendard"/>
              </a:rPr>
              <a:t>검토 조합 — 무엇을 볼지는 감사인이 정한다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11094415" cy="914"/>
          </a:xfrm>
          <a:prstGeom prst="rect">
            <a:avLst/>
          </a:prstGeom>
          <a:noFill/>
          <a:ln w="1778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50" b="1" lang="ko-KR">
                <a:solidFill>
                  <a:srgbClr val="D66E3A"/>
                </a:solidFill>
                <a:latin typeface="Pretendard"/>
              </a:rPr>
              <a:t>초점(채록): 조합 권한이 감사인에게 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0" lang="ko-KR">
                <a:solidFill>
                  <a:srgbClr val="8A9099"/>
                </a:solidFill>
                <a:latin typeface="Pretendard"/>
              </a:rPr>
              <a:t>담기는 것(고정): 대상 9 × 수법 10 = 90칸 · AND 논리 · 프리셋 5 + 근거 · 실제 화면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 9×10 그리드 + 우상 AND 깔때기 + 우하 프리셋 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35024"/>
            <a:ext cx="2673407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대상 9 × 수법 10 — 90칸을 감사인이 켠다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490472"/>
            <a:ext cx="2673407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81328" y="1572768"/>
            <a:ext cx="1850447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10000"/>
              </a:lnSpc>
            </a:pPr>
            <a:r>
              <a:rPr sz="550" b="0" lang="ko-KR">
                <a:solidFill>
                  <a:srgbClr val="8A9099"/>
                </a:solidFill>
                <a:latin typeface="Pretendard"/>
              </a:rPr>
              <a:t>수기 · 한도초과 · 자기승인 · 승인생략 · 유령 · 겸직 · 소급 · 희소쌍 · 휴일 · 심야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847088"/>
            <a:ext cx="777240" cy="152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15171B"/>
                </a:solidFill>
                <a:latin typeface="Pretendard"/>
              </a:rPr>
              <a:t>추정계정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81328" y="1856231"/>
            <a:ext cx="168585" cy="1249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66372" y="1856231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51417" y="1856231"/>
            <a:ext cx="168585" cy="1249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36462" y="1856231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21506" y="1856231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06551" y="1856231"/>
            <a:ext cx="168585" cy="1249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1596" y="1856231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76640" y="1856231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61685" y="1856231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46730" y="1856231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1999487"/>
            <a:ext cx="777240" cy="152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15171B"/>
                </a:solidFill>
                <a:latin typeface="Pretendard"/>
              </a:rPr>
              <a:t>관계사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81328" y="2008631"/>
            <a:ext cx="168585" cy="1249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66372" y="2008631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51417" y="2008631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36462" y="2008631"/>
            <a:ext cx="168585" cy="1249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21506" y="2008631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06551" y="2008631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91596" y="2008631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76640" y="2008631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61685" y="2008631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46730" y="2008631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2151888"/>
            <a:ext cx="777240" cy="152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15171B"/>
                </a:solidFill>
                <a:latin typeface="Pretendard"/>
              </a:rPr>
              <a:t>컷오프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81328" y="21610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66372" y="21610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51417" y="21610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036462" y="21610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21506" y="21610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406551" y="21610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591596" y="21610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76640" y="21610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61685" y="21610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146730" y="21610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2304288"/>
            <a:ext cx="777240" cy="152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15171B"/>
                </a:solidFill>
                <a:latin typeface="Pretendard"/>
              </a:rPr>
              <a:t>비용자산화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81328" y="2313432"/>
            <a:ext cx="168585" cy="1249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666372" y="23134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851417" y="23134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036462" y="23134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221506" y="23134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406551" y="23134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591596" y="2313432"/>
            <a:ext cx="168585" cy="1249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76640" y="23134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961685" y="23134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146730" y="23134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" y="2456688"/>
            <a:ext cx="777240" cy="152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15171B"/>
                </a:solidFill>
                <a:latin typeface="Pretendard"/>
              </a:rPr>
              <a:t>기말결산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81328" y="24658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666372" y="2465832"/>
            <a:ext cx="168585" cy="1249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851417" y="2465832"/>
            <a:ext cx="168585" cy="1249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036462" y="24658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221506" y="24658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406551" y="24658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591596" y="24658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776640" y="24658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961685" y="24658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146730" y="24658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" y="2609088"/>
            <a:ext cx="777240" cy="152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15171B"/>
                </a:solidFill>
                <a:latin typeface="Pretendard"/>
              </a:rPr>
              <a:t>매출과대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481328" y="26182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666372" y="26182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851417" y="26182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036462" y="26182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221506" y="26182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406551" y="26182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591596" y="26182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776640" y="26182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961685" y="26182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146730" y="26182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8368" y="2761488"/>
            <a:ext cx="777240" cy="152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15171B"/>
                </a:solidFill>
                <a:latin typeface="Pretendard"/>
              </a:rPr>
              <a:t>이상고액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481328" y="27706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666372" y="27706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851417" y="27706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036462" y="27706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221506" y="2770632"/>
            <a:ext cx="168585" cy="1249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406551" y="27706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591596" y="27706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776640" y="27706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961685" y="27706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146730" y="27706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58368" y="2913888"/>
            <a:ext cx="777240" cy="152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15171B"/>
                </a:solidFill>
                <a:latin typeface="Pretendard"/>
              </a:rPr>
              <a:t>역분개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481328" y="29230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666372" y="29230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851417" y="29230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036462" y="29230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221506" y="29230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406551" y="29230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591596" y="29230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776640" y="29230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961685" y="2923032"/>
            <a:ext cx="168585" cy="1249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146730" y="29230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58368" y="3066288"/>
            <a:ext cx="777240" cy="152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15171B"/>
                </a:solidFill>
                <a:latin typeface="Pretendard"/>
              </a:rPr>
              <a:t>가수금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481328" y="30754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666372" y="30754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851417" y="30754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036462" y="30754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221506" y="30754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406551" y="30754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591596" y="30754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776640" y="30754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961685" y="3075432"/>
            <a:ext cx="168585" cy="1249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3146730" y="3075432"/>
            <a:ext cx="168585" cy="1249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514655" y="1335024"/>
            <a:ext cx="2364936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조합이 목록을 좁힌다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514655" y="1490472"/>
            <a:ext cx="2364936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514655" y="1572768"/>
            <a:ext cx="426642" cy="37972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551231" y="1572768"/>
            <a:ext cx="353490" cy="37972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전체 전표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514655" y="1976987"/>
            <a:ext cx="426642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D66E3A"/>
                </a:solidFill>
                <a:latin typeface="Pretendard"/>
              </a:rPr>
              <a:t>113,465건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3968729" y="1762628"/>
            <a:ext cx="164592" cy="0"/>
          </a:xfrm>
          <a:prstGeom prst="line">
            <a:avLst/>
          </a:prstGeom>
          <a:ln w="1270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4160753" y="1607180"/>
            <a:ext cx="426642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197329" y="1607180"/>
            <a:ext cx="353490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대상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160753" y="1976987"/>
            <a:ext cx="426642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D66E3A"/>
                </a:solidFill>
                <a:latin typeface="Pretendard"/>
              </a:rPr>
              <a:t>비용자산화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4614827" y="1762628"/>
            <a:ext cx="164592" cy="0"/>
          </a:xfrm>
          <a:prstGeom prst="line">
            <a:avLst/>
          </a:prstGeom>
          <a:ln w="1270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/>
          <p:cNvSpPr/>
          <p:nvPr/>
        </p:nvSpPr>
        <p:spPr>
          <a:xfrm>
            <a:off x="4806851" y="1607180"/>
            <a:ext cx="426642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843427" y="1607180"/>
            <a:ext cx="353490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AND 수법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06851" y="1976987"/>
            <a:ext cx="426642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D66E3A"/>
                </a:solidFill>
                <a:latin typeface="Pretendard"/>
              </a:rPr>
              <a:t>통제 위반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5260925" y="1762628"/>
            <a:ext cx="164592" cy="0"/>
          </a:xfrm>
          <a:prstGeom prst="line">
            <a:avLst/>
          </a:prstGeom>
          <a:ln w="1270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ctangle 127"/>
          <p:cNvSpPr/>
          <p:nvPr/>
        </p:nvSpPr>
        <p:spPr>
          <a:xfrm>
            <a:off x="5452949" y="1607180"/>
            <a:ext cx="426642" cy="31089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489525" y="1607180"/>
            <a:ext cx="353490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FFFFFF"/>
                </a:solidFill>
                <a:latin typeface="Pretendard"/>
              </a:rPr>
              <a:t>검토 대상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452949" y="1976987"/>
            <a:ext cx="426642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D66E3A"/>
                </a:solidFill>
                <a:latin typeface="Pretendard"/>
              </a:rPr>
              <a:t>234건 · 10.7%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514655" y="2331525"/>
            <a:ext cx="2364936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프리셋 5종 — 자주 쓰는 묶음일 뿐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514655" y="2486973"/>
            <a:ext cx="2364936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3514655" y="2569269"/>
            <a:ext cx="1145892" cy="17380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551231" y="2569269"/>
            <a:ext cx="1072740" cy="1738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추정·관계사 조작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4733699" y="2569269"/>
            <a:ext cx="1145892" cy="17380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770275" y="2569269"/>
            <a:ext cx="1072740" cy="1738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수익인식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3514655" y="2807078"/>
            <a:ext cx="1145892" cy="17380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551231" y="2807078"/>
            <a:ext cx="1072740" cy="1738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역분개/은폐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733699" y="2807078"/>
            <a:ext cx="1145892" cy="17380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770275" y="2807078"/>
            <a:ext cx="1072740" cy="1738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비용자산화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3514655" y="3044887"/>
            <a:ext cx="1145892" cy="17380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551231" y="3044887"/>
            <a:ext cx="1072740" cy="1738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결산 손상·충당금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199632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473952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상단 9×10 그리드 크게 + 하단 프리셋 띠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309360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309360" y="1335024"/>
            <a:ext cx="5221224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대상 9종 × 수법 10종 = 90칸, 감사인이 직접 켠다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309360" y="1490472"/>
            <a:ext cx="5221224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269480" y="1572768"/>
            <a:ext cx="4261104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10000"/>
              </a:lnSpc>
            </a:pPr>
            <a:r>
              <a:rPr sz="550" b="0" lang="ko-KR">
                <a:solidFill>
                  <a:srgbClr val="8A9099"/>
                </a:solidFill>
                <a:latin typeface="Pretendard"/>
              </a:rPr>
              <a:t>수기 · 한도초과 · 자기승인 · 승인생략 · 유령 · 겸직 · 소급 · 희소쌍 · 휴일 · 심야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269480" y="1856231"/>
            <a:ext cx="409651" cy="7378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695590" y="1856231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121700" y="1856231"/>
            <a:ext cx="409651" cy="7378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547811" y="1856231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973921" y="1856231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400032" y="1856231"/>
            <a:ext cx="409651" cy="7378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826142" y="1856231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0252252" y="1856231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0678363" y="1856231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1104473" y="1856231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7269480" y="1957444"/>
            <a:ext cx="409651" cy="7378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7695590" y="1957444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121700" y="1957444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547811" y="1957444"/>
            <a:ext cx="409651" cy="7378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8973921" y="1957444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400032" y="1957444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826142" y="1957444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252252" y="1957444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0678363" y="1957444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104473" y="1957444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69480" y="2058657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95590" y="2058657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8121700" y="2058657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8547811" y="2058657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8973921" y="2058657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400032" y="2058657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826142" y="2058657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0252252" y="2058657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0678363" y="2058657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1104473" y="2058657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269480" y="2159870"/>
            <a:ext cx="409651" cy="7378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695590" y="2159870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1700" y="2159870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47811" y="2159870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973921" y="2159870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400032" y="2159870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826142" y="2159870"/>
            <a:ext cx="409651" cy="7378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10252252" y="2159870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10678363" y="2159870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1104473" y="2159870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269480" y="2261083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7695590" y="2261083"/>
            <a:ext cx="409651" cy="7378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8121700" y="2261083"/>
            <a:ext cx="409651" cy="7378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547811" y="2261083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8973921" y="2261083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400032" y="2261083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826142" y="2261083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0252252" y="2261083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0678363" y="2261083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1104473" y="2261083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7269480" y="2362296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7695590" y="2362296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8121700" y="2362296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8547811" y="2362296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8973921" y="2362296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400032" y="2362296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826142" y="2362296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10252252" y="2362296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10678363" y="2362296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11104473" y="2362296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7269480" y="2463509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7695590" y="2463509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121700" y="2463509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8547811" y="2463509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973921" y="2463509"/>
            <a:ext cx="409651" cy="7378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9400032" y="2463509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826142" y="2463509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0252252" y="2463509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10678363" y="2463509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11104473" y="2463509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269480" y="2564722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695590" y="2564722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121700" y="2564722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8547811" y="2564722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8973921" y="2564722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400032" y="2564722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826142" y="2564722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0252252" y="2564722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10678363" y="2564722"/>
            <a:ext cx="409651" cy="7378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1104473" y="2564722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269480" y="2665935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7695590" y="2665935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8121700" y="2665935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8547811" y="2665935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8973921" y="2665935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400032" y="2665935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826142" y="2665935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0252252" y="2665935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0678363" y="2665935"/>
            <a:ext cx="409651" cy="73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1104473" y="2665935"/>
            <a:ext cx="409651" cy="7378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6309360" y="1847088"/>
            <a:ext cx="914400" cy="91091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>
              <a:lnSpc>
                <a:spcPct val="110000"/>
              </a:lnSpc>
            </a:pPr>
            <a:r>
              <a:rPr sz="650" b="1" lang="ko-KR">
                <a:solidFill>
                  <a:srgbClr val="15171B"/>
                </a:solidFill>
                <a:latin typeface="Pretendard"/>
              </a:rPr>
              <a:t>대상
9종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6309360" y="2904308"/>
            <a:ext cx="5221224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프리셋 5종 — 근거는 전부 감리 실측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6309360" y="3078044"/>
            <a:ext cx="1000353" cy="140643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6345936" y="3078044"/>
            <a:ext cx="927201" cy="14064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추정·관계사 147·80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7364577" y="3078044"/>
            <a:ext cx="1000353" cy="14064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7401153" y="3078044"/>
            <a:ext cx="927201" cy="14064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수익인식 240-26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8419795" y="3078044"/>
            <a:ext cx="1000353" cy="14064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8456371" y="3078044"/>
            <a:ext cx="927201" cy="14064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역분개/은폐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9475012" y="3078044"/>
            <a:ext cx="1000353" cy="14064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9511588" y="3078044"/>
            <a:ext cx="927201" cy="14064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비용자산화 22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10530230" y="3078044"/>
            <a:ext cx="1000353" cy="14064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10566806" y="3078044"/>
            <a:ext cx="927201" cy="14064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결산 손상 5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548640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822959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 그리드 + 중앙 깔때기 + 우 실물 화면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658368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658368" y="3803903"/>
            <a:ext cx="180122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대상 9 × 수법 10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658368" y="3959351"/>
            <a:ext cx="1801220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1499616" y="4041647"/>
            <a:ext cx="959972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10000"/>
              </a:lnSpc>
            </a:pPr>
            <a:r>
              <a:rPr sz="550" b="0" lang="ko-KR">
                <a:solidFill>
                  <a:srgbClr val="8A9099"/>
                </a:solidFill>
                <a:latin typeface="Pretendard"/>
              </a:rPr>
              <a:t>수기 · 한도초과 · 자기승인 · 승인생략 · 유령 · 겸직 · 소급 · 희소쌍 · 휴일 · 심야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658368" y="4315967"/>
            <a:ext cx="795528" cy="152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15171B"/>
                </a:solidFill>
                <a:latin typeface="Pretendard"/>
              </a:rPr>
              <a:t>추정계정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1499616" y="4325111"/>
            <a:ext cx="79538" cy="124967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1595613" y="43251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691610" y="4325111"/>
            <a:ext cx="79538" cy="124967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787607" y="43251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1883605" y="43251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1979602" y="4325111"/>
            <a:ext cx="79538" cy="124967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2075599" y="43251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2171596" y="43251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2267594" y="43251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2363591" y="43251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658368" y="4468367"/>
            <a:ext cx="795528" cy="152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15171B"/>
                </a:solidFill>
                <a:latin typeface="Pretendard"/>
              </a:rPr>
              <a:t>관계사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1499616" y="4477511"/>
            <a:ext cx="79538" cy="124967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1595613" y="44775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1691610" y="44775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1787607" y="4477511"/>
            <a:ext cx="79538" cy="124967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1883605" y="44775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979602" y="44775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2075599" y="44775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2171596" y="44775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2267594" y="44775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2363591" y="44775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658368" y="4620767"/>
            <a:ext cx="795528" cy="152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15171B"/>
                </a:solidFill>
                <a:latin typeface="Pretendard"/>
              </a:rPr>
              <a:t>컷오프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1499616" y="46299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595613" y="46299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691610" y="46299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1787607" y="46299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883605" y="46299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979602" y="46299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2075599" y="46299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2171596" y="46299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2267594" y="46299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2363591" y="46299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658368" y="4773167"/>
            <a:ext cx="795528" cy="152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15171B"/>
                </a:solidFill>
                <a:latin typeface="Pretendard"/>
              </a:rPr>
              <a:t>비용자산화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1499616" y="4782311"/>
            <a:ext cx="79538" cy="124967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595613" y="47823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691610" y="47823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787607" y="47823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883605" y="47823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979602" y="47823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2075599" y="4782311"/>
            <a:ext cx="79538" cy="124967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2171596" y="47823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2267594" y="47823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2363591" y="47823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658368" y="4925567"/>
            <a:ext cx="795528" cy="152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15171B"/>
                </a:solidFill>
                <a:latin typeface="Pretendard"/>
              </a:rPr>
              <a:t>기말결산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1499616" y="49347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595613" y="4934711"/>
            <a:ext cx="79538" cy="124967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691610" y="4934711"/>
            <a:ext cx="79538" cy="124967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787607" y="49347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883605" y="49347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979602" y="49347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2075599" y="49347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2171596" y="49347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2267594" y="49347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2363591" y="49347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658368" y="5077967"/>
            <a:ext cx="795528" cy="152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15171B"/>
                </a:solidFill>
                <a:latin typeface="Pretendard"/>
              </a:rPr>
              <a:t>매출과대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1499616" y="50871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595613" y="50871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691610" y="50871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787607" y="50871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883605" y="50871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979602" y="50871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2075599" y="50871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2171596" y="50871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2267594" y="50871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2363591" y="50871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658368" y="5230367"/>
            <a:ext cx="795528" cy="152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15171B"/>
                </a:solidFill>
                <a:latin typeface="Pretendard"/>
              </a:rPr>
              <a:t>이상고액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1499616" y="52395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595613" y="52395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691610" y="52395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787607" y="52395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883605" y="5239511"/>
            <a:ext cx="79538" cy="124967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979602" y="52395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2075599" y="52395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2171596" y="52395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2267594" y="52395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2363591" y="52395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658368" y="5382767"/>
            <a:ext cx="795528" cy="152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15171B"/>
                </a:solidFill>
                <a:latin typeface="Pretendard"/>
              </a:rPr>
              <a:t>역분개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1499616" y="53919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595613" y="53919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691610" y="53919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787607" y="53919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883605" y="53919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979602" y="53919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2075599" y="53919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2171596" y="53919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2267594" y="5391911"/>
            <a:ext cx="79538" cy="124967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2363591" y="53919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658368" y="5535167"/>
            <a:ext cx="795528" cy="152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15171B"/>
                </a:solidFill>
                <a:latin typeface="Pretendard"/>
              </a:rPr>
              <a:t>가수금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1499616" y="55443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595613" y="55443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691610" y="55443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787607" y="55443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883605" y="55443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979602" y="55443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2075599" y="55443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2171596" y="55443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2267594" y="5544311"/>
            <a:ext cx="79538" cy="12496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2363591" y="5544311"/>
            <a:ext cx="79538" cy="124967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2642468" y="3803903"/>
            <a:ext cx="1331336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좁혀지는 목록</a:t>
            </a:r>
          </a:p>
        </p:txBody>
      </p:sp>
      <p:sp>
        <p:nvSpPr>
          <p:cNvPr id="361" name="Rectangle 360"/>
          <p:cNvSpPr/>
          <p:nvPr/>
        </p:nvSpPr>
        <p:spPr>
          <a:xfrm>
            <a:off x="2642468" y="3959351"/>
            <a:ext cx="1331336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2642468" y="4041647"/>
            <a:ext cx="1331336" cy="27980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2679044" y="4050791"/>
            <a:ext cx="1258184" cy="1287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전체 전표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2679044" y="4175955"/>
            <a:ext cx="1258184" cy="13990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D66E3A"/>
                </a:solidFill>
                <a:latin typeface="Pretendard"/>
              </a:rPr>
              <a:t>113,465건</a:t>
            </a:r>
          </a:p>
        </p:txBody>
      </p:sp>
      <p:cxnSp>
        <p:nvCxnSpPr>
          <p:cNvPr id="365" name="Connector 364"/>
          <p:cNvCxnSpPr/>
          <p:nvPr/>
        </p:nvCxnSpPr>
        <p:spPr>
          <a:xfrm>
            <a:off x="3308136" y="4330598"/>
            <a:ext cx="0" cy="113385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6" name="Rectangle 365"/>
          <p:cNvSpPr/>
          <p:nvPr/>
        </p:nvSpPr>
        <p:spPr>
          <a:xfrm>
            <a:off x="2855482" y="4453127"/>
            <a:ext cx="905309" cy="279806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2892058" y="4462271"/>
            <a:ext cx="832157" cy="1287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대상 — 비용자산화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2892058" y="4587435"/>
            <a:ext cx="832157" cy="13990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D66E3A"/>
                </a:solidFill>
                <a:latin typeface="Pretendard"/>
              </a:rPr>
              <a:t>해당 전표만</a:t>
            </a:r>
          </a:p>
        </p:txBody>
      </p:sp>
      <p:cxnSp>
        <p:nvCxnSpPr>
          <p:cNvPr id="369" name="Connector 368"/>
          <p:cNvCxnSpPr/>
          <p:nvPr/>
        </p:nvCxnSpPr>
        <p:spPr>
          <a:xfrm>
            <a:off x="3308136" y="4742078"/>
            <a:ext cx="0" cy="113386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Rectangle 369"/>
          <p:cNvSpPr/>
          <p:nvPr/>
        </p:nvSpPr>
        <p:spPr>
          <a:xfrm>
            <a:off x="2935362" y="4864607"/>
            <a:ext cx="745548" cy="279806"/>
          </a:xfrm>
          <a:prstGeom prst="rect">
            <a:avLst/>
          </a:prstGeom>
          <a:solidFill>
            <a:srgbClr val="CAC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TextBox 370"/>
          <p:cNvSpPr txBox="1"/>
          <p:nvPr/>
        </p:nvSpPr>
        <p:spPr>
          <a:xfrm>
            <a:off x="2971938" y="4873751"/>
            <a:ext cx="672396" cy="1287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AND 조작 수법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2971938" y="4998915"/>
            <a:ext cx="672396" cy="13990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D66E3A"/>
                </a:solidFill>
                <a:latin typeface="Pretendard"/>
              </a:rPr>
              <a:t>통제 위반</a:t>
            </a:r>
          </a:p>
        </p:txBody>
      </p:sp>
      <p:cxnSp>
        <p:nvCxnSpPr>
          <p:cNvPr id="373" name="Connector 372"/>
          <p:cNvCxnSpPr/>
          <p:nvPr/>
        </p:nvCxnSpPr>
        <p:spPr>
          <a:xfrm>
            <a:off x="3308136" y="5153558"/>
            <a:ext cx="0" cy="113386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4" name="Rectangle 373"/>
          <p:cNvSpPr/>
          <p:nvPr/>
        </p:nvSpPr>
        <p:spPr>
          <a:xfrm>
            <a:off x="2935362" y="5276088"/>
            <a:ext cx="745548" cy="27980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TextBox 374"/>
          <p:cNvSpPr txBox="1"/>
          <p:nvPr/>
        </p:nvSpPr>
        <p:spPr>
          <a:xfrm>
            <a:off x="2971938" y="5285231"/>
            <a:ext cx="672396" cy="1287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1" lang="ko-KR">
                <a:solidFill>
                  <a:srgbClr val="FFFFFF"/>
                </a:solidFill>
                <a:latin typeface="Pretendard"/>
              </a:rPr>
              <a:t>검토 대상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2971938" y="5410395"/>
            <a:ext cx="672396" cy="13990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FFFFFF"/>
                </a:solidFill>
                <a:latin typeface="Pretendard"/>
              </a:rPr>
              <a:t>234건 · 10.7%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4156685" y="3803903"/>
            <a:ext cx="1722906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실제 화면</a:t>
            </a:r>
          </a:p>
        </p:txBody>
      </p:sp>
      <p:sp>
        <p:nvSpPr>
          <p:cNvPr id="378" name="Rectangle 377"/>
          <p:cNvSpPr/>
          <p:nvPr/>
        </p:nvSpPr>
        <p:spPr>
          <a:xfrm>
            <a:off x="4156685" y="3959351"/>
            <a:ext cx="1722906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9" name="Picture 378" descr="screenshot-combo-di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685" y="4041647"/>
            <a:ext cx="1722906" cy="866227"/>
          </a:xfrm>
          <a:prstGeom prst="rect">
            <a:avLst/>
          </a:prstGeom>
          <a:ln w="9144">
            <a:solidFill>
              <a:srgbClr val="8A9099"/>
            </a:solidFill>
          </a:ln>
        </p:spPr>
      </p:pic>
      <p:sp>
        <p:nvSpPr>
          <p:cNvPr id="380" name="Rectangle 379"/>
          <p:cNvSpPr/>
          <p:nvPr/>
        </p:nvSpPr>
        <p:spPr>
          <a:xfrm>
            <a:off x="4156685" y="5550407"/>
            <a:ext cx="274320" cy="25603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4504157" y="5504687"/>
            <a:ext cx="1375434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직접 조합 — 감사인이 대상·수법을 교차 선택</a:t>
            </a:r>
          </a:p>
        </p:txBody>
      </p:sp>
      <p:sp>
        <p:nvSpPr>
          <p:cNvPr id="382" name="Rectangle 381"/>
          <p:cNvSpPr/>
          <p:nvPr/>
        </p:nvSpPr>
        <p:spPr>
          <a:xfrm>
            <a:off x="6199632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6473952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좌앵커 + 중앙 대상─AND─수법 매핑 + 우 프리셋 밀도 막대</a:t>
            </a:r>
          </a:p>
        </p:txBody>
      </p:sp>
      <p:sp>
        <p:nvSpPr>
          <p:cNvPr id="386" name="Rectangle 385"/>
          <p:cNvSpPr/>
          <p:nvPr/>
        </p:nvSpPr>
        <p:spPr>
          <a:xfrm>
            <a:off x="6309360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TextBox 386"/>
          <p:cNvSpPr txBox="1"/>
          <p:nvPr/>
        </p:nvSpPr>
        <p:spPr>
          <a:xfrm>
            <a:off x="6309360" y="3803903"/>
            <a:ext cx="117708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05000"/>
              </a:lnSpc>
            </a:pPr>
            <a:r>
              <a:rPr sz="1300" b="1" lang="ko-KR">
                <a:solidFill>
                  <a:srgbClr val="15171B"/>
                </a:solidFill>
                <a:latin typeface="Pretendard"/>
              </a:rPr>
              <a:t>9×10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6309360" y="4133087"/>
            <a:ext cx="1177082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1" lang="ko-KR">
                <a:solidFill>
                  <a:srgbClr val="D66E3A"/>
                </a:solidFill>
                <a:latin typeface="Pretendard"/>
              </a:rPr>
              <a:t>권한이 감사인에게 있다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6309360" y="4315967"/>
            <a:ext cx="1177082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30000"/>
              </a:lnSpc>
            </a:pPr>
            <a:r>
              <a:rPr sz="650" b="0" lang="ko-KR">
                <a:solidFill>
                  <a:srgbClr val="555A60"/>
                </a:solidFill>
                <a:latin typeface="Pretendard"/>
              </a:rPr>
              <a:t>시스템은 대상과 수법을 제시만 한다. 무엇을 교차할지, 얼마나 볼지는 사람이 정한다.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7669322" y="3803903"/>
            <a:ext cx="171657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조합 = 대상 AND 수법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7669322" y="3959351"/>
            <a:ext cx="1716578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7669322" y="4041647"/>
            <a:ext cx="720962" cy="1600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TextBox 392"/>
          <p:cNvSpPr txBox="1"/>
          <p:nvPr/>
        </p:nvSpPr>
        <p:spPr>
          <a:xfrm>
            <a:off x="7705898" y="4041647"/>
            <a:ext cx="647810" cy="1600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추정계정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7669322" y="4229099"/>
            <a:ext cx="720962" cy="1600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TextBox 394"/>
          <p:cNvSpPr txBox="1"/>
          <p:nvPr/>
        </p:nvSpPr>
        <p:spPr>
          <a:xfrm>
            <a:off x="7705898" y="4229099"/>
            <a:ext cx="647810" cy="1600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관계사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7669322" y="4416551"/>
            <a:ext cx="720962" cy="1600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TextBox 396"/>
          <p:cNvSpPr txBox="1"/>
          <p:nvPr/>
        </p:nvSpPr>
        <p:spPr>
          <a:xfrm>
            <a:off x="7705898" y="4416551"/>
            <a:ext cx="647810" cy="1600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컷오프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7669322" y="4604003"/>
            <a:ext cx="720962" cy="1600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TextBox 398"/>
          <p:cNvSpPr txBox="1"/>
          <p:nvPr/>
        </p:nvSpPr>
        <p:spPr>
          <a:xfrm>
            <a:off x="7705898" y="4604003"/>
            <a:ext cx="647810" cy="1600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비용자산화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7669322" y="4791455"/>
            <a:ext cx="720962" cy="1600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7705898" y="4791455"/>
            <a:ext cx="647810" cy="1600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기말결산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7669322" y="4978907"/>
            <a:ext cx="720962" cy="1600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7705898" y="4978907"/>
            <a:ext cx="647810" cy="1600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매출과대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7669322" y="5166359"/>
            <a:ext cx="720962" cy="1600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TextBox 404"/>
          <p:cNvSpPr txBox="1"/>
          <p:nvPr/>
        </p:nvSpPr>
        <p:spPr>
          <a:xfrm>
            <a:off x="7705898" y="5166359"/>
            <a:ext cx="647810" cy="1600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이상고액</a:t>
            </a:r>
          </a:p>
        </p:txBody>
      </p:sp>
      <p:sp>
        <p:nvSpPr>
          <p:cNvPr id="406" name="Rectangle 405"/>
          <p:cNvSpPr/>
          <p:nvPr/>
        </p:nvSpPr>
        <p:spPr>
          <a:xfrm>
            <a:off x="7669322" y="5353811"/>
            <a:ext cx="720962" cy="1600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TextBox 406"/>
          <p:cNvSpPr txBox="1"/>
          <p:nvPr/>
        </p:nvSpPr>
        <p:spPr>
          <a:xfrm>
            <a:off x="7705898" y="5353811"/>
            <a:ext cx="647810" cy="1600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역분개</a:t>
            </a:r>
          </a:p>
        </p:txBody>
      </p:sp>
      <p:sp>
        <p:nvSpPr>
          <p:cNvPr id="408" name="Rounded Rectangle 407"/>
          <p:cNvSpPr/>
          <p:nvPr/>
        </p:nvSpPr>
        <p:spPr>
          <a:xfrm>
            <a:off x="8664937" y="4041647"/>
            <a:ext cx="720962" cy="1600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8701513" y="4041647"/>
            <a:ext cx="647810" cy="1600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수기</a:t>
            </a:r>
          </a:p>
        </p:txBody>
      </p:sp>
      <p:sp>
        <p:nvSpPr>
          <p:cNvPr id="410" name="Rounded Rectangle 409"/>
          <p:cNvSpPr/>
          <p:nvPr/>
        </p:nvSpPr>
        <p:spPr>
          <a:xfrm>
            <a:off x="8664937" y="4229099"/>
            <a:ext cx="720962" cy="1600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TextBox 410"/>
          <p:cNvSpPr txBox="1"/>
          <p:nvPr/>
        </p:nvSpPr>
        <p:spPr>
          <a:xfrm>
            <a:off x="8701513" y="4229099"/>
            <a:ext cx="647810" cy="1600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승인한도초과</a:t>
            </a:r>
          </a:p>
        </p:txBody>
      </p:sp>
      <p:sp>
        <p:nvSpPr>
          <p:cNvPr id="412" name="Rounded Rectangle 411"/>
          <p:cNvSpPr/>
          <p:nvPr/>
        </p:nvSpPr>
        <p:spPr>
          <a:xfrm>
            <a:off x="8664937" y="4416551"/>
            <a:ext cx="720962" cy="1600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TextBox 412"/>
          <p:cNvSpPr txBox="1"/>
          <p:nvPr/>
        </p:nvSpPr>
        <p:spPr>
          <a:xfrm>
            <a:off x="8701513" y="4416551"/>
            <a:ext cx="647810" cy="1600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자기승인</a:t>
            </a:r>
          </a:p>
        </p:txBody>
      </p:sp>
      <p:sp>
        <p:nvSpPr>
          <p:cNvPr id="414" name="Rounded Rectangle 413"/>
          <p:cNvSpPr/>
          <p:nvPr/>
        </p:nvSpPr>
        <p:spPr>
          <a:xfrm>
            <a:off x="8664937" y="4604003"/>
            <a:ext cx="720962" cy="1600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8701513" y="4604003"/>
            <a:ext cx="647810" cy="1600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승인생략</a:t>
            </a:r>
          </a:p>
        </p:txBody>
      </p:sp>
      <p:sp>
        <p:nvSpPr>
          <p:cNvPr id="416" name="Rounded Rectangle 415"/>
          <p:cNvSpPr/>
          <p:nvPr/>
        </p:nvSpPr>
        <p:spPr>
          <a:xfrm>
            <a:off x="8664937" y="4791455"/>
            <a:ext cx="720962" cy="1600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TextBox 416"/>
          <p:cNvSpPr txBox="1"/>
          <p:nvPr/>
        </p:nvSpPr>
        <p:spPr>
          <a:xfrm>
            <a:off x="8701513" y="4791455"/>
            <a:ext cx="647810" cy="1600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유령승인자</a:t>
            </a:r>
          </a:p>
        </p:txBody>
      </p:sp>
      <p:sp>
        <p:nvSpPr>
          <p:cNvPr id="418" name="Rounded Rectangle 417"/>
          <p:cNvSpPr/>
          <p:nvPr/>
        </p:nvSpPr>
        <p:spPr>
          <a:xfrm>
            <a:off x="8664937" y="4978907"/>
            <a:ext cx="720962" cy="1600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8701513" y="4978907"/>
            <a:ext cx="647810" cy="1600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직무분리 겸직</a:t>
            </a:r>
          </a:p>
        </p:txBody>
      </p:sp>
      <p:sp>
        <p:nvSpPr>
          <p:cNvPr id="420" name="Rounded Rectangle 419"/>
          <p:cNvSpPr/>
          <p:nvPr/>
        </p:nvSpPr>
        <p:spPr>
          <a:xfrm>
            <a:off x="8664937" y="5166359"/>
            <a:ext cx="720962" cy="1600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TextBox 420"/>
          <p:cNvSpPr txBox="1"/>
          <p:nvPr/>
        </p:nvSpPr>
        <p:spPr>
          <a:xfrm>
            <a:off x="8701513" y="5166359"/>
            <a:ext cx="647810" cy="1600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소급기표</a:t>
            </a:r>
          </a:p>
        </p:txBody>
      </p:sp>
      <p:sp>
        <p:nvSpPr>
          <p:cNvPr id="422" name="Rounded Rectangle 421"/>
          <p:cNvSpPr/>
          <p:nvPr/>
        </p:nvSpPr>
        <p:spPr>
          <a:xfrm>
            <a:off x="8664937" y="5353811"/>
            <a:ext cx="720962" cy="1600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TextBox 422"/>
          <p:cNvSpPr txBox="1"/>
          <p:nvPr/>
        </p:nvSpPr>
        <p:spPr>
          <a:xfrm>
            <a:off x="8701513" y="5353811"/>
            <a:ext cx="647810" cy="1600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희소계정쌍</a:t>
            </a:r>
          </a:p>
        </p:txBody>
      </p:sp>
      <p:cxnSp>
        <p:nvCxnSpPr>
          <p:cNvPr id="424" name="Connector 423"/>
          <p:cNvCxnSpPr/>
          <p:nvPr/>
        </p:nvCxnSpPr>
        <p:spPr>
          <a:xfrm>
            <a:off x="8390285" y="4121657"/>
            <a:ext cx="274652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8390285" y="4121657"/>
            <a:ext cx="274652" cy="374905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V="1">
            <a:off x="8390285" y="4121657"/>
            <a:ext cx="274652" cy="187452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8390285" y="4684014"/>
            <a:ext cx="274652" cy="374903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8390285" y="4871466"/>
            <a:ext cx="274652" cy="374903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9" name="TextBox 428"/>
          <p:cNvSpPr txBox="1"/>
          <p:nvPr/>
        </p:nvSpPr>
        <p:spPr>
          <a:xfrm>
            <a:off x="7669322" y="5550407"/>
            <a:ext cx="720962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1개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8664937" y="5550407"/>
            <a:ext cx="720962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2개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9568780" y="3803903"/>
            <a:ext cx="1961803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프리셋별 검토 대상 밀도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9568780" y="3959351"/>
            <a:ext cx="1961803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9568780" y="4041647"/>
            <a:ext cx="1051560" cy="16238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비용자산화</a:t>
            </a:r>
          </a:p>
        </p:txBody>
      </p:sp>
      <p:sp>
        <p:nvSpPr>
          <p:cNvPr id="434" name="Rectangle 433"/>
          <p:cNvSpPr/>
          <p:nvPr/>
        </p:nvSpPr>
        <p:spPr>
          <a:xfrm>
            <a:off x="10620340" y="4082354"/>
            <a:ext cx="507907" cy="8097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10620340" y="4082354"/>
            <a:ext cx="507907" cy="8097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11173968" y="4041647"/>
            <a:ext cx="310896" cy="16238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10.7%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9568780" y="4204030"/>
            <a:ext cx="1051560" cy="16238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역분개/은폐</a:t>
            </a:r>
          </a:p>
        </p:txBody>
      </p:sp>
      <p:sp>
        <p:nvSpPr>
          <p:cNvPr id="438" name="Rectangle 437"/>
          <p:cNvSpPr/>
          <p:nvPr/>
        </p:nvSpPr>
        <p:spPr>
          <a:xfrm>
            <a:off x="10620340" y="4244736"/>
            <a:ext cx="507907" cy="8097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10620340" y="4244736"/>
            <a:ext cx="330139" cy="80970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TextBox 439"/>
          <p:cNvSpPr txBox="1"/>
          <p:nvPr/>
        </p:nvSpPr>
        <p:spPr>
          <a:xfrm>
            <a:off x="11173968" y="4204030"/>
            <a:ext cx="310896" cy="16238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7.0%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9568780" y="4366412"/>
            <a:ext cx="1051560" cy="16238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수익인식</a:t>
            </a:r>
          </a:p>
        </p:txBody>
      </p:sp>
      <p:sp>
        <p:nvSpPr>
          <p:cNvPr id="442" name="Rectangle 441"/>
          <p:cNvSpPr/>
          <p:nvPr/>
        </p:nvSpPr>
        <p:spPr>
          <a:xfrm>
            <a:off x="10620340" y="4407118"/>
            <a:ext cx="507907" cy="8097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10620340" y="4407118"/>
            <a:ext cx="233637" cy="80970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TextBox 443"/>
          <p:cNvSpPr txBox="1"/>
          <p:nvPr/>
        </p:nvSpPr>
        <p:spPr>
          <a:xfrm>
            <a:off x="11173968" y="4366412"/>
            <a:ext cx="310896" cy="16238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4.9%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9568780" y="4528794"/>
            <a:ext cx="1051560" cy="16238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추정·관계사</a:t>
            </a:r>
          </a:p>
        </p:txBody>
      </p:sp>
      <p:sp>
        <p:nvSpPr>
          <p:cNvPr id="446" name="Rectangle 445"/>
          <p:cNvSpPr/>
          <p:nvPr/>
        </p:nvSpPr>
        <p:spPr>
          <a:xfrm>
            <a:off x="10620340" y="4569500"/>
            <a:ext cx="507907" cy="8097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10620340" y="4569500"/>
            <a:ext cx="106660" cy="80970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TextBox 447"/>
          <p:cNvSpPr txBox="1"/>
          <p:nvPr/>
        </p:nvSpPr>
        <p:spPr>
          <a:xfrm>
            <a:off x="11173968" y="4528794"/>
            <a:ext cx="310896" cy="16238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2.3%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9568780" y="4691176"/>
            <a:ext cx="1051560" cy="16238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결산 손상·충당금</a:t>
            </a:r>
          </a:p>
        </p:txBody>
      </p:sp>
      <p:sp>
        <p:nvSpPr>
          <p:cNvPr id="450" name="Rectangle 449"/>
          <p:cNvSpPr/>
          <p:nvPr/>
        </p:nvSpPr>
        <p:spPr>
          <a:xfrm>
            <a:off x="10620340" y="4731882"/>
            <a:ext cx="507907" cy="8097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10620340" y="4731882"/>
            <a:ext cx="25395" cy="80970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11173968" y="4691176"/>
            <a:ext cx="310896" cy="16238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0.5%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9568780" y="4999862"/>
            <a:ext cx="1961803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프리셋은 사전 묶음일 뿐</a:t>
            </a:r>
          </a:p>
        </p:txBody>
      </p:sp>
      <p:sp>
        <p:nvSpPr>
          <p:cNvPr id="454" name="Rectangle 453"/>
          <p:cNvSpPr/>
          <p:nvPr/>
        </p:nvSpPr>
        <p:spPr>
          <a:xfrm>
            <a:off x="9568780" y="5155310"/>
            <a:ext cx="1961803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TextBox 454"/>
          <p:cNvSpPr txBox="1"/>
          <p:nvPr/>
        </p:nvSpPr>
        <p:spPr>
          <a:xfrm>
            <a:off x="9568780" y="5237606"/>
            <a:ext cx="1961803" cy="44996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30000"/>
              </a:lnSpc>
            </a:pPr>
            <a:r>
              <a:rPr sz="650" b="0" lang="ko-KR">
                <a:solidFill>
                  <a:srgbClr val="555A60"/>
                </a:solidFill>
                <a:latin typeface="Pretendard"/>
              </a:rPr>
              <a:t>감리 사례 스크립트 전수 집계로 도출했다. 감사인은 언제든 90칸에서 직접 교차한다.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548640" y="6528816"/>
            <a:ext cx="11094415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후보 4개는 전부 같은 내용이다 — 다른 것은 배치·인코딩뿐 · 라벨은 자리에 맞게 접혔다(… 외 N개) · 번호로 회신 (예: S4=1 · S7=3 · S13=전탈락)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731520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8A9099"/>
                </a:solidFill>
                <a:latin typeface="Pretendard"/>
              </a:rPr>
              <a:t>S12 · PART Ⅲ · 형태 후보 4 (내용 동일)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400" b="1" lang="ko-KR">
                <a:solidFill>
                  <a:srgbClr val="15171B"/>
                </a:solidFill>
                <a:latin typeface="Pretendard"/>
              </a:rPr>
              <a:t>분석적 검토 — 전표 하나로는 안 보이는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11094415" cy="914"/>
          </a:xfrm>
          <a:prstGeom prst="rect">
            <a:avLst/>
          </a:prstGeom>
          <a:noFill/>
          <a:ln w="1778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50" b="1" lang="ko-KR">
                <a:solidFill>
                  <a:srgbClr val="D66E3A"/>
                </a:solidFill>
                <a:latin typeface="Pretendard"/>
              </a:rPr>
              <a:t>초점: 전표 단위로는 안 보이고 그룹(계정·거래처·월)으로 표면화된다 · 확정 아닌 참고 신호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0" lang="ko-KR">
                <a:solidFill>
                  <a:srgbClr val="8A9099"/>
                </a:solidFill>
                <a:latin typeface="Pretendard"/>
              </a:rPr>
              <a:t>담기는 것(고정): 전표 vs 그룹 대비 · 지표 5종(분석 단위·판정 대상) · 520호 준용 · 실물 화면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 전표/그룹 분기 + 우 지표 5 카탈로그 + 참고신호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35024"/>
            <a:ext cx="2056466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같은 데이터, 다른 단위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490472"/>
            <a:ext cx="2056466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4014" y="1572768"/>
            <a:ext cx="1645173" cy="263347"/>
          </a:xfrm>
          <a:prstGeom prst="round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590" y="1572768"/>
            <a:ext cx="1572021" cy="26334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50" b="1" lang="ko-KR">
                <a:solidFill>
                  <a:srgbClr val="FFFFFF"/>
                </a:solidFill>
                <a:latin typeface="Pretendard"/>
              </a:rPr>
              <a:t>같은 전표 데이터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86601" y="1836115"/>
            <a:ext cx="914" cy="14630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21073" y="1982419"/>
            <a:ext cx="1131056" cy="91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21073" y="1982419"/>
            <a:ext cx="914" cy="102412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52129" y="1982419"/>
            <a:ext cx="914" cy="102412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084832"/>
            <a:ext cx="925410" cy="252984"/>
          </a:xfrm>
          <a:prstGeom prst="rect">
            <a:avLst/>
          </a:prstGeom>
          <a:solidFill>
            <a:srgbClr val="F2F3F5"/>
          </a:solidFill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084832"/>
            <a:ext cx="852258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전표 단위로 본다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2365248"/>
            <a:ext cx="925410" cy="252984"/>
          </a:xfrm>
          <a:prstGeom prst="rect">
            <a:avLst/>
          </a:prstGeom>
          <a:solidFill>
            <a:srgbClr val="F2F3F5"/>
          </a:solidFill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2365248"/>
            <a:ext cx="852258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각 건은 조건 미해당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21073" y="2337816"/>
            <a:ext cx="0" cy="18288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58368" y="2645664"/>
            <a:ext cx="925410" cy="252984"/>
          </a:xfrm>
          <a:prstGeom prst="rect">
            <a:avLst/>
          </a:prstGeom>
          <a:solidFill>
            <a:srgbClr val="F2F3F5"/>
          </a:solidFill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2645664"/>
            <a:ext cx="852258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이상 없음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21073" y="2618232"/>
            <a:ext cx="0" cy="18288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21073" y="2898648"/>
            <a:ext cx="0" cy="4572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43450" y="2953512"/>
            <a:ext cx="555246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0026" y="2953512"/>
            <a:ext cx="482094" cy="2377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8A9099"/>
                </a:solidFill>
                <a:latin typeface="Pretendard"/>
              </a:rPr>
              <a:t>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89424" y="2084832"/>
            <a:ext cx="925410" cy="252984"/>
          </a:xfrm>
          <a:prstGeom prst="rect">
            <a:avLst/>
          </a:prstGeom>
          <a:solidFill>
            <a:srgbClr val="FFFFFF"/>
          </a:solidFill>
          <a:ln w="1143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6000" y="2084832"/>
            <a:ext cx="852258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계정·거래처·월로 묶는다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89424" y="2365248"/>
            <a:ext cx="925410" cy="252984"/>
          </a:xfrm>
          <a:prstGeom prst="rect">
            <a:avLst/>
          </a:prstGeom>
          <a:solidFill>
            <a:srgbClr val="FFFFFF"/>
          </a:solidFill>
          <a:ln w="1143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6000" y="2365248"/>
            <a:ext cx="852258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분포가 이론값 이탈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252129" y="2337816"/>
            <a:ext cx="0" cy="18288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789424" y="2645664"/>
            <a:ext cx="925410" cy="252984"/>
          </a:xfrm>
          <a:prstGeom prst="rect">
            <a:avLst/>
          </a:prstGeom>
          <a:solidFill>
            <a:srgbClr val="FFFFFF"/>
          </a:solidFill>
          <a:ln w="1143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6000" y="2645664"/>
            <a:ext cx="852258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검토 신호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252129" y="2618232"/>
            <a:ext cx="0" cy="18288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252129" y="2898648"/>
            <a:ext cx="0" cy="4572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1974506" y="2953512"/>
            <a:ext cx="555246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11082" y="2953512"/>
            <a:ext cx="482094" cy="2377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D66E3A"/>
                </a:solidFill>
                <a:latin typeface="Pretendard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97714" y="1335024"/>
            <a:ext cx="2981877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지표 5종 — 무엇을 어떤 단위로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97714" y="1490472"/>
            <a:ext cx="2981877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897714" y="1572768"/>
            <a:ext cx="1073475" cy="19443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34290" y="1572768"/>
            <a:ext cx="1000323" cy="19443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벤포드 법칙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989478" y="1669986"/>
            <a:ext cx="798350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4806116" y="1572768"/>
            <a:ext cx="1073475" cy="194437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42692" y="1572768"/>
            <a:ext cx="1000323" cy="19443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계정·월 첫 자릿수 이탈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97714" y="1794637"/>
            <a:ext cx="1073475" cy="19443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34290" y="1794637"/>
            <a:ext cx="1000323" cy="19443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라운드 넘버 밀집도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989478" y="1891855"/>
            <a:ext cx="798350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4806116" y="1794637"/>
            <a:ext cx="1073475" cy="194437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42692" y="1794637"/>
            <a:ext cx="1000323" cy="19443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계정·작성자 절사 비율 초과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97714" y="2016506"/>
            <a:ext cx="1073475" cy="19443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34290" y="2016506"/>
            <a:ext cx="1000323" cy="19443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신규/희소 거래처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989478" y="2113724"/>
            <a:ext cx="798350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4806116" y="2016506"/>
            <a:ext cx="1073475" cy="194437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42692" y="2016506"/>
            <a:ext cx="1000323" cy="19443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거래처 첫등장·희소·휴면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97714" y="2247519"/>
            <a:ext cx="2981877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2개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97714" y="2530983"/>
            <a:ext cx="2981877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판정이 아니라 참고 신호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97714" y="2686431"/>
            <a:ext cx="2981877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97714" y="2768727"/>
            <a:ext cx="2981877" cy="449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30000"/>
              </a:lnSpc>
            </a:pPr>
            <a:r>
              <a:rPr sz="650" b="0" lang="ko-KR">
                <a:solidFill>
                  <a:srgbClr val="555A60"/>
                </a:solidFill>
                <a:latin typeface="Pretendard"/>
              </a:rPr>
              <a:t>회계감사기준 520호 분석적 절차 준용. 모집단 분포 원형을 제시하고, 임계 없이 비교 가능한 전 계정을 노출한다 — 위험 확정은 하지 않는다.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99632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73952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상단 지표 5 가로 3단 + 하단 전표/그룹 대결 + 화면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09360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0" y="1335024"/>
            <a:ext cx="5221224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지표 5종과 각 분석 단위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09360" y="1490472"/>
            <a:ext cx="5221224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309360" y="1572768"/>
            <a:ext cx="971092" cy="21945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36792" y="1572768"/>
            <a:ext cx="916228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벤포드 법칙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36792" y="1819656"/>
            <a:ext cx="91622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D66E3A"/>
                </a:solidFill>
                <a:latin typeface="Pretendard"/>
              </a:rPr>
              <a:t>계정·월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36792" y="1965960"/>
            <a:ext cx="916228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>
              <a:lnSpc>
                <a:spcPct val="120000"/>
              </a:lnSpc>
            </a:pPr>
            <a:r>
              <a:rPr sz="600" b="0" lang="ko-KR">
                <a:solidFill>
                  <a:srgbClr val="8A9099"/>
                </a:solidFill>
                <a:latin typeface="Pretendard"/>
              </a:rPr>
              <a:t>첫 자릿수 이탈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71892" y="1572768"/>
            <a:ext cx="971092" cy="21945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99324" y="1572768"/>
            <a:ext cx="916228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라운드 넘버 밀집도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99324" y="1819656"/>
            <a:ext cx="91622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D66E3A"/>
                </a:solidFill>
                <a:latin typeface="Pretendard"/>
              </a:rPr>
              <a:t>계정·작성자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99324" y="1965960"/>
            <a:ext cx="916228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>
              <a:lnSpc>
                <a:spcPct val="120000"/>
              </a:lnSpc>
            </a:pPr>
            <a:r>
              <a:rPr sz="600" b="0" lang="ko-KR">
                <a:solidFill>
                  <a:srgbClr val="8A9099"/>
                </a:solidFill>
                <a:latin typeface="Pretendard"/>
              </a:rPr>
              <a:t>절사 비율 초과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434425" y="1572768"/>
            <a:ext cx="971092" cy="21945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61857" y="1572768"/>
            <a:ext cx="916228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신규/희소 거래처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61857" y="1819656"/>
            <a:ext cx="91622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D66E3A"/>
                </a:solidFill>
                <a:latin typeface="Pretendard"/>
              </a:rPr>
              <a:t>거래처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61857" y="1965960"/>
            <a:ext cx="916228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>
              <a:lnSpc>
                <a:spcPct val="120000"/>
              </a:lnSpc>
            </a:pPr>
            <a:r>
              <a:rPr sz="600" b="0" lang="ko-KR">
                <a:solidFill>
                  <a:srgbClr val="8A9099"/>
                </a:solidFill>
                <a:latin typeface="Pretendard"/>
              </a:rPr>
              <a:t>첫등장·희소·휴면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496958" y="1572768"/>
            <a:ext cx="971092" cy="21945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524390" y="1572768"/>
            <a:ext cx="916228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계정별 활동성 변동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524390" y="1819656"/>
            <a:ext cx="91622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D66E3A"/>
                </a:solidFill>
                <a:latin typeface="Pretendard"/>
              </a:rPr>
              <a:t>전기대비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24390" y="1965960"/>
            <a:ext cx="916228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>
              <a:lnSpc>
                <a:spcPct val="120000"/>
              </a:lnSpc>
            </a:pPr>
            <a:r>
              <a:rPr sz="600" b="0" lang="ko-KR">
                <a:solidFill>
                  <a:srgbClr val="8A9099"/>
                </a:solidFill>
                <a:latin typeface="Pretendard"/>
              </a:rPr>
              <a:t>금액·건수 변동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559491" y="1572768"/>
            <a:ext cx="971092" cy="21945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86923" y="1572768"/>
            <a:ext cx="916228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월 집중도 변화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586923" y="1819656"/>
            <a:ext cx="91622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D66E3A"/>
                </a:solidFill>
                <a:latin typeface="Pretendard"/>
              </a:rPr>
              <a:t>전기대비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86923" y="1965960"/>
            <a:ext cx="916228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>
              <a:lnSpc>
                <a:spcPct val="120000"/>
              </a:lnSpc>
            </a:pPr>
            <a:r>
              <a:rPr sz="600" b="0" lang="ko-KR">
                <a:solidFill>
                  <a:srgbClr val="8A9099"/>
                </a:solidFill>
                <a:latin typeface="Pretendard"/>
              </a:rPr>
              <a:t>월 비중 이동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09360" y="2114433"/>
            <a:ext cx="2190584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전표 단위로는 안 보인다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09360" y="2269881"/>
            <a:ext cx="2190584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09360" y="2352177"/>
            <a:ext cx="76117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r"/>
            <a:r>
              <a:rPr sz="650" b="1" lang="ko-KR">
                <a:solidFill>
                  <a:srgbClr val="8A9099"/>
                </a:solidFill>
                <a:latin typeface="Pretendard"/>
              </a:rPr>
              <a:t>전표 단위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38765" y="2352177"/>
            <a:ext cx="76117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그룹 단위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097970" y="2525913"/>
            <a:ext cx="613363" cy="31089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116258" y="2525913"/>
            <a:ext cx="576787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보는 단위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309360" y="2525913"/>
            <a:ext cx="761178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45936" y="2525913"/>
            <a:ext cx="688026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전표 1건씩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738765" y="2525913"/>
            <a:ext cx="76117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775341" y="2525913"/>
            <a:ext cx="688026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계정·거래처·월로 묶음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097970" y="2872300"/>
            <a:ext cx="613363" cy="31089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116258" y="2872300"/>
            <a:ext cx="576787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309360" y="2872300"/>
            <a:ext cx="761178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345936" y="2872300"/>
            <a:ext cx="688026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각 건은 조건 미해당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738765" y="2872300"/>
            <a:ext cx="76117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775341" y="2872300"/>
            <a:ext cx="688026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분포가 이론값에서 이탈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82824" y="2114433"/>
            <a:ext cx="2847759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실제 화면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682824" y="2269881"/>
            <a:ext cx="2847759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8" name="Picture 107" descr="screenshot-benf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2603" y="2352177"/>
            <a:ext cx="848201" cy="665342"/>
          </a:xfrm>
          <a:prstGeom prst="rect">
            <a:avLst/>
          </a:prstGeom>
          <a:ln w="9144">
            <a:solidFill>
              <a:srgbClr val="8A9099"/>
            </a:solidFill>
          </a:ln>
        </p:spPr>
      </p:pic>
      <p:sp>
        <p:nvSpPr>
          <p:cNvPr id="109" name="Rectangle 108"/>
          <p:cNvSpPr/>
          <p:nvPr/>
        </p:nvSpPr>
        <p:spPr>
          <a:xfrm>
            <a:off x="8682824" y="3081528"/>
            <a:ext cx="274320" cy="25603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030296" y="3035808"/>
            <a:ext cx="2500287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벤포드 첫째 자릿수 — 전체 적합, 계정별 이탈 상위 별도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48640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22959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좌앵커 + 중앙 실물 화면 크게 + 우 지표 5 세로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58368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58368" y="3803903"/>
            <a:ext cx="1120491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05000"/>
              </a:lnSpc>
            </a:pPr>
            <a:r>
              <a:rPr sz="1300" b="1" lang="ko-KR">
                <a:solidFill>
                  <a:srgbClr val="15171B"/>
                </a:solidFill>
                <a:latin typeface="Pretendard"/>
              </a:rPr>
              <a:t>5지표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58368" y="4133087"/>
            <a:ext cx="1120491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1" lang="ko-KR">
                <a:solidFill>
                  <a:srgbClr val="D66E3A"/>
                </a:solidFill>
                <a:latin typeface="Pretendard"/>
              </a:rPr>
              <a:t>묶어야 드러난다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58368" y="4315967"/>
            <a:ext cx="1120491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30000"/>
              </a:lnSpc>
            </a:pPr>
            <a:r>
              <a:rPr sz="650" b="0" lang="ko-KR">
                <a:solidFill>
                  <a:srgbClr val="555A60"/>
                </a:solidFill>
                <a:latin typeface="Pretendard"/>
              </a:rPr>
              <a:t>룰은 전표 단위 판정이라 계정·거래처·기간으로 묶여야 보이는 이상치를 못 본다.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961739" y="3803903"/>
            <a:ext cx="2100921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실제 화면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961739" y="3959351"/>
            <a:ext cx="2100921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1" name="Picture 120" descr="screenshot-benf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290" y="4041647"/>
            <a:ext cx="1841819" cy="1444752"/>
          </a:xfrm>
          <a:prstGeom prst="rect">
            <a:avLst/>
          </a:prstGeom>
          <a:ln w="9144">
            <a:solidFill>
              <a:srgbClr val="8A9099"/>
            </a:solidFill>
          </a:ln>
        </p:spPr>
      </p:pic>
      <p:sp>
        <p:nvSpPr>
          <p:cNvPr id="122" name="Rectangle 121"/>
          <p:cNvSpPr/>
          <p:nvPr/>
        </p:nvSpPr>
        <p:spPr>
          <a:xfrm>
            <a:off x="1961739" y="5550407"/>
            <a:ext cx="274320" cy="25603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309211" y="5504687"/>
            <a:ext cx="1753449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벤포드 — 전체 119,170건 적합(평균 차이 0.0020), 계정별 이탈 상위 9개 별도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245541" y="3803903"/>
            <a:ext cx="163405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지표 5종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245541" y="3959351"/>
            <a:ext cx="1634050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245541" y="4041647"/>
            <a:ext cx="1634050" cy="301751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282117" y="4041647"/>
            <a:ext cx="1560898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벤포드 법칙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5062566" y="4343399"/>
            <a:ext cx="0" cy="18289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ctangle 128"/>
          <p:cNvSpPr/>
          <p:nvPr/>
        </p:nvSpPr>
        <p:spPr>
          <a:xfrm>
            <a:off x="4245541" y="4370831"/>
            <a:ext cx="1634050" cy="301751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282117" y="4370831"/>
            <a:ext cx="1560898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라운드 넘버 밀집도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5062566" y="4672583"/>
            <a:ext cx="0" cy="18289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>
          <a:xfrm>
            <a:off x="4245541" y="4700015"/>
            <a:ext cx="1634050" cy="301751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282117" y="4700015"/>
            <a:ext cx="1560898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신규/희소 거래처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5062566" y="5001767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ctangle 134"/>
          <p:cNvSpPr/>
          <p:nvPr/>
        </p:nvSpPr>
        <p:spPr>
          <a:xfrm>
            <a:off x="4245541" y="5029199"/>
            <a:ext cx="1634050" cy="301751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282117" y="5029199"/>
            <a:ext cx="1560898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계정별 활동성 변동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5062566" y="5330951"/>
            <a:ext cx="0" cy="18289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ectangle 137"/>
          <p:cNvSpPr/>
          <p:nvPr/>
        </p:nvSpPr>
        <p:spPr>
          <a:xfrm>
            <a:off x="4245541" y="5358383"/>
            <a:ext cx="1634050" cy="301751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282117" y="5358383"/>
            <a:ext cx="1560898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월 집중도 변화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199632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473952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 지표→분석단위 매핑 + 우상 화면 + 우하 신호 띠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309360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309360" y="3803903"/>
            <a:ext cx="2673407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지표 5종 → 분석 단위 3계열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309360" y="3959351"/>
            <a:ext cx="2673407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309360" y="4041647"/>
            <a:ext cx="1176299" cy="30175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345936" y="4041647"/>
            <a:ext cx="1103147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벤포드 법칙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309360" y="4370831"/>
            <a:ext cx="1176299" cy="30175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345936" y="4370831"/>
            <a:ext cx="1103147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라운드 넘버 밀집도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309360" y="4700015"/>
            <a:ext cx="1176299" cy="30175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345936" y="4700015"/>
            <a:ext cx="1103147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신규/희소 거래처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309360" y="5029199"/>
            <a:ext cx="1176299" cy="30175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345936" y="5029199"/>
            <a:ext cx="1103147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계정별 활동성 변동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09360" y="5358383"/>
            <a:ext cx="1176299" cy="30175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345936" y="5358383"/>
            <a:ext cx="1103147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월 집중도 변화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806467" y="4041647"/>
            <a:ext cx="1176299" cy="30175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843043" y="4041647"/>
            <a:ext cx="1103147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계정 · 월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7806467" y="4407407"/>
            <a:ext cx="1176299" cy="30175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843043" y="4407407"/>
            <a:ext cx="1103147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거래처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7806467" y="4773167"/>
            <a:ext cx="1176299" cy="30175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843043" y="4773167"/>
            <a:ext cx="1103147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전기 대비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7485659" y="4192523"/>
            <a:ext cx="320808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7485659" y="4192523"/>
            <a:ext cx="320808" cy="329184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7485659" y="4558283"/>
            <a:ext cx="320808" cy="292608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7485659" y="4924043"/>
            <a:ext cx="320808" cy="256032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7485659" y="4924043"/>
            <a:ext cx="320808" cy="585216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9165647" y="3803903"/>
            <a:ext cx="2364936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실제 화면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165647" y="3959351"/>
            <a:ext cx="2364936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0" name="Picture 169" descr="screenshot-round-den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787" y="4041647"/>
            <a:ext cx="1982655" cy="706166"/>
          </a:xfrm>
          <a:prstGeom prst="rect">
            <a:avLst/>
          </a:prstGeom>
          <a:ln w="9144">
            <a:solidFill>
              <a:srgbClr val="8A9099"/>
            </a:solidFill>
          </a:ln>
        </p:spPr>
      </p:pic>
      <p:sp>
        <p:nvSpPr>
          <p:cNvPr id="171" name="Rectangle 170"/>
          <p:cNvSpPr/>
          <p:nvPr/>
        </p:nvSpPr>
        <p:spPr>
          <a:xfrm>
            <a:off x="9165647" y="4811822"/>
            <a:ext cx="274320" cy="25603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513119" y="4766102"/>
            <a:ext cx="2017464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라운드 넘버 밀집 — 점선은 해당 데이터에서 산출한 기준선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9165647" y="5095286"/>
            <a:ext cx="2364936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확정이 아니라 참고 신호 (기준 520호 준용)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9165647" y="5269022"/>
            <a:ext cx="550086" cy="418545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9202223" y="5269022"/>
            <a:ext cx="476934" cy="41854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전표 단위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9770597" y="5269022"/>
            <a:ext cx="550086" cy="418545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9807173" y="5269022"/>
            <a:ext cx="476934" cy="41854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그룹 집계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0375547" y="5269022"/>
            <a:ext cx="550086" cy="418545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0412123" y="5269022"/>
            <a:ext cx="476934" cy="41854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분포 이탈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0980497" y="5269022"/>
            <a:ext cx="550086" cy="418545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1017073" y="5269022"/>
            <a:ext cx="476934" cy="41854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검토 신호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48640" y="6528816"/>
            <a:ext cx="11094415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후보 4개는 전부 같은 내용이다 — 다른 것은 배치·인코딩뿐 · 라벨은 자리에 맞게 접혔다(… 외 N개) · 번호로 회신 (예: S4=1 · S7=3 · S13=전탈락)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731520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8A9099"/>
                </a:solidFill>
                <a:latin typeface="Pretendard"/>
              </a:rPr>
              <a:t>S13 · PART Ⅲ · 형태 후보 4 (내용 동일)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400" b="1" lang="ko-KR">
                <a:solidFill>
                  <a:srgbClr val="15171B"/>
                </a:solidFill>
                <a:latin typeface="Pretendard"/>
              </a:rPr>
              <a:t>VAE — 왜 이 모델이어야 했나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11094415" cy="914"/>
          </a:xfrm>
          <a:prstGeom prst="rect">
            <a:avLst/>
          </a:prstGeom>
          <a:noFill/>
          <a:ln w="1778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50" b="1" lang="ko-KR">
                <a:solidFill>
                  <a:srgbClr val="D66E3A"/>
                </a:solidFill>
                <a:latin typeface="Pretendard"/>
              </a:rPr>
              <a:t>초점(채록): VAE는 근거를 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0" lang="ko-KR">
                <a:solidFill>
                  <a:srgbClr val="8A9099"/>
                </a:solidFill>
                <a:latin typeface="Pretendard"/>
              </a:rPr>
              <a:t>담기는 것(고정): 압축→복구→오차 · 비지도 채택 3사유 · VAE 채택 4사유 · 파이프라인 6단계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상단 압축·복구 도해 풀폭 + 하단 3칼럼(비지도/VAE/6단계)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35024"/>
            <a:ext cx="5221224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판정 원리 — 압축하고 복구해서 그 차이를 본다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490472"/>
            <a:ext cx="5221224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89339" y="1609344"/>
            <a:ext cx="1052598" cy="4023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5915" y="1609344"/>
            <a:ext cx="979446" cy="40233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전표 입력 50개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17866" y="1700784"/>
            <a:ext cx="902227" cy="219456"/>
          </a:xfrm>
          <a:prstGeom prst="round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4442" y="1700784"/>
            <a:ext cx="829075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FFFFFF"/>
                </a:solidFill>
                <a:latin typeface="Pretendard"/>
              </a:rPr>
              <a:t>압축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96021" y="1609344"/>
            <a:ext cx="105259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32597" y="1609344"/>
            <a:ext cx="979446" cy="40233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복구된 전표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60226" y="1810512"/>
            <a:ext cx="339352" cy="0"/>
          </a:xfrm>
          <a:prstGeom prst="line">
            <a:avLst/>
          </a:prstGeom>
          <a:ln w="1270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738381" y="1810512"/>
            <a:ext cx="339352" cy="0"/>
          </a:xfrm>
          <a:prstGeom prst="line">
            <a:avLst/>
          </a:prstGeom>
          <a:ln w="1270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915638" y="2176272"/>
            <a:ext cx="2706682" cy="914"/>
          </a:xfrm>
          <a:prstGeom prst="rect">
            <a:avLst/>
          </a:prstGeom>
          <a:noFill/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15638" y="2011680"/>
            <a:ext cx="914" cy="164592"/>
          </a:xfrm>
          <a:prstGeom prst="rect">
            <a:avLst/>
          </a:prstGeom>
          <a:noFill/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22321" y="2011680"/>
            <a:ext cx="914" cy="164592"/>
          </a:xfrm>
          <a:prstGeom prst="rect">
            <a:avLst/>
          </a:prstGeom>
          <a:noFill/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9339" y="2212848"/>
            <a:ext cx="3759281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50" b="1" lang="ko-KR">
                <a:solidFill>
                  <a:srgbClr val="D66E3A"/>
                </a:solidFill>
                <a:latin typeface="Pretendard"/>
              </a:rPr>
              <a:t>차이 = 이상 점수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292096"/>
            <a:ext cx="1541417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왜 비지도인가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2447544"/>
            <a:ext cx="1541417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2529840"/>
            <a:ext cx="1541417" cy="202184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2529840"/>
            <a:ext cx="1468265" cy="2021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정답 데이터 부재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429076" y="2732024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58368" y="2759456"/>
            <a:ext cx="1541417" cy="202184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2759456"/>
            <a:ext cx="1468265" cy="2021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미정의 패턴 대응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29076" y="2961640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58368" y="2989072"/>
            <a:ext cx="1541417" cy="202184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2989072"/>
            <a:ext cx="1468265" cy="2021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데이터 요건 충족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82665" y="2292096"/>
            <a:ext cx="1541417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왜 VAE인가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82665" y="2447544"/>
            <a:ext cx="1541417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382665" y="2529840"/>
            <a:ext cx="734132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19241" y="2529840"/>
            <a:ext cx="66098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근거 제시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89949" y="2529840"/>
            <a:ext cx="734132" cy="27432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26525" y="2529840"/>
            <a:ext cx="66098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혼합형 처리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82665" y="2868168"/>
            <a:ext cx="734132" cy="27432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19241" y="2868168"/>
            <a:ext cx="66098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단순 암기 방지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189949" y="2868168"/>
            <a:ext cx="734132" cy="27432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26525" y="2868168"/>
            <a:ext cx="66098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판정 원리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06962" y="2292096"/>
            <a:ext cx="1772629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학습부터 점수까지 6단계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06962" y="2447544"/>
            <a:ext cx="1772629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06962" y="2529840"/>
            <a:ext cx="249718" cy="68884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43538" y="2529840"/>
            <a:ext cx="176566" cy="6888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선정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11544" y="2529840"/>
            <a:ext cx="249718" cy="68884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48120" y="2529840"/>
            <a:ext cx="176566" cy="6888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분할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16126" y="2529840"/>
            <a:ext cx="249718" cy="68884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2702" y="2529840"/>
            <a:ext cx="176566" cy="6888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전처리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0709" y="2529840"/>
            <a:ext cx="249718" cy="68884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57285" y="2529840"/>
            <a:ext cx="176566" cy="6888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학습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25291" y="2529840"/>
            <a:ext cx="249718" cy="68884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61867" y="2529840"/>
            <a:ext cx="176566" cy="6888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점수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29873" y="2529840"/>
            <a:ext cx="249718" cy="68884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6449" y="2529840"/>
            <a:ext cx="176566" cy="6888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검증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99632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73952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 지도·비지도 분기 + 우상 압축·복구 + 우하 4사유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9360" y="1335024"/>
            <a:ext cx="2056466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정답 라벨이 없다는 사실에서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1490472"/>
            <a:ext cx="2056466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515006" y="1572768"/>
            <a:ext cx="1645173" cy="263347"/>
          </a:xfrm>
          <a:prstGeom prst="round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51582" y="1572768"/>
            <a:ext cx="1572021" cy="26334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50" b="1" lang="ko-KR">
                <a:solidFill>
                  <a:srgbClr val="FFFFFF"/>
                </a:solidFill>
                <a:latin typeface="Pretendard"/>
              </a:rPr>
              <a:t>부정 여부 정답 라벨 없음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37593" y="1836115"/>
            <a:ext cx="914" cy="14630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772065" y="1982419"/>
            <a:ext cx="1131056" cy="91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72065" y="1982419"/>
            <a:ext cx="914" cy="102412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903121" y="1982419"/>
            <a:ext cx="914" cy="102412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09360" y="2084832"/>
            <a:ext cx="925410" cy="252984"/>
          </a:xfrm>
          <a:prstGeom prst="rect">
            <a:avLst/>
          </a:prstGeom>
          <a:solidFill>
            <a:srgbClr val="F2F3F5"/>
          </a:solidFill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45936" y="2084832"/>
            <a:ext cx="852258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지도 학습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09360" y="2365248"/>
            <a:ext cx="925410" cy="252984"/>
          </a:xfrm>
          <a:prstGeom prst="rect">
            <a:avLst/>
          </a:prstGeom>
          <a:solidFill>
            <a:srgbClr val="F2F3F5"/>
          </a:solidFill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45936" y="2365248"/>
            <a:ext cx="852258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라벨의 수법만 학습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772065" y="2337816"/>
            <a:ext cx="0" cy="18288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6309360" y="2645664"/>
            <a:ext cx="925410" cy="252984"/>
          </a:xfrm>
          <a:prstGeom prst="rect">
            <a:avLst/>
          </a:prstGeom>
          <a:solidFill>
            <a:srgbClr val="F2F3F5"/>
          </a:solidFill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45936" y="2645664"/>
            <a:ext cx="852258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신종·변형 놓침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772065" y="2618232"/>
            <a:ext cx="0" cy="18288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772065" y="2898648"/>
            <a:ext cx="0" cy="4572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6494442" y="2953512"/>
            <a:ext cx="555246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31018" y="2953512"/>
            <a:ext cx="482094" cy="2377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8A9099"/>
                </a:solidFill>
                <a:latin typeface="Pretendard"/>
              </a:rPr>
              <a:t>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440416" y="2084832"/>
            <a:ext cx="925410" cy="252984"/>
          </a:xfrm>
          <a:prstGeom prst="rect">
            <a:avLst/>
          </a:prstGeom>
          <a:solidFill>
            <a:srgbClr val="FFFFFF"/>
          </a:solidFill>
          <a:ln w="1143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76992" y="2084832"/>
            <a:ext cx="852258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비지도 학습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440416" y="2365248"/>
            <a:ext cx="925410" cy="252984"/>
          </a:xfrm>
          <a:prstGeom prst="rect">
            <a:avLst/>
          </a:prstGeom>
          <a:solidFill>
            <a:srgbClr val="FFFFFF"/>
          </a:solidFill>
          <a:ln w="1143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76992" y="2365248"/>
            <a:ext cx="852258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정상 분포만 학습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7903121" y="2337816"/>
            <a:ext cx="0" cy="18288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7440416" y="2645664"/>
            <a:ext cx="925410" cy="252984"/>
          </a:xfrm>
          <a:prstGeom prst="rect">
            <a:avLst/>
          </a:prstGeom>
          <a:solidFill>
            <a:srgbClr val="FFFFFF"/>
          </a:solidFill>
          <a:ln w="1143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476992" y="2645664"/>
            <a:ext cx="852258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이탈 정도로 후보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903121" y="2618232"/>
            <a:ext cx="0" cy="18288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903121" y="2898648"/>
            <a:ext cx="0" cy="4572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7625498" y="2953512"/>
            <a:ext cx="555246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662074" y="2953512"/>
            <a:ext cx="482094" cy="2377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D66E3A"/>
                </a:solidFill>
                <a:latin typeface="Pretendard"/>
              </a:rPr>
              <a:t>✓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48706" y="1335024"/>
            <a:ext cx="2981877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판정 원리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48706" y="1490472"/>
            <a:ext cx="2981877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48706" y="1609344"/>
            <a:ext cx="834925" cy="4023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585282" y="1609344"/>
            <a:ext cx="761773" cy="40233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전표 입력 50개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681820" y="1700784"/>
            <a:ext cx="715650" cy="219456"/>
          </a:xfrm>
          <a:prstGeom prst="round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18396" y="1700784"/>
            <a:ext cx="642498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FFFFFF"/>
                </a:solidFill>
                <a:latin typeface="Pretendard"/>
              </a:rPr>
              <a:t>압축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695658" y="1609344"/>
            <a:ext cx="834925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732234" y="1609344"/>
            <a:ext cx="761773" cy="40233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복구된 전표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9401920" y="1810512"/>
            <a:ext cx="261612" cy="0"/>
          </a:xfrm>
          <a:prstGeom prst="line">
            <a:avLst/>
          </a:prstGeom>
          <a:ln w="1270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415758" y="1810512"/>
            <a:ext cx="261612" cy="0"/>
          </a:xfrm>
          <a:prstGeom prst="line">
            <a:avLst/>
          </a:prstGeom>
          <a:ln w="1270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8966169" y="2176272"/>
            <a:ext cx="2146951" cy="914"/>
          </a:xfrm>
          <a:prstGeom prst="rect">
            <a:avLst/>
          </a:prstGeom>
          <a:noFill/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66169" y="2011680"/>
            <a:ext cx="914" cy="164592"/>
          </a:xfrm>
          <a:prstGeom prst="rect">
            <a:avLst/>
          </a:prstGeom>
          <a:noFill/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1113121" y="2011680"/>
            <a:ext cx="914" cy="164592"/>
          </a:xfrm>
          <a:prstGeom prst="rect">
            <a:avLst/>
          </a:prstGeom>
          <a:noFill/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548706" y="2212848"/>
            <a:ext cx="2981877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50" b="1" lang="ko-KR">
                <a:solidFill>
                  <a:srgbClr val="D66E3A"/>
                </a:solidFill>
                <a:latin typeface="Pretendard"/>
              </a:rPr>
              <a:t>차이 = 이상 점수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548706" y="2312239"/>
            <a:ext cx="2981877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왜 VAE였나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548706" y="2467687"/>
            <a:ext cx="2981877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548706" y="2549983"/>
            <a:ext cx="894563" cy="2337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585282" y="2549983"/>
            <a:ext cx="821411" cy="2337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근거 제시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9461558" y="2666867"/>
            <a:ext cx="1156174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10636020" y="2549983"/>
            <a:ext cx="894563" cy="233768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672596" y="2549983"/>
            <a:ext cx="821411" cy="2337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→ 복구 오차를 항목별로 분해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548706" y="2811183"/>
            <a:ext cx="894563" cy="2337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585282" y="2811183"/>
            <a:ext cx="821411" cy="2337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혼합형 처리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9461558" y="2928067"/>
            <a:ext cx="1156174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ectangle 118"/>
          <p:cNvSpPr/>
          <p:nvPr/>
        </p:nvSpPr>
        <p:spPr>
          <a:xfrm>
            <a:off x="10636020" y="2811183"/>
            <a:ext cx="894563" cy="233768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672596" y="2811183"/>
            <a:ext cx="821411" cy="2337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→ 금액과 계정과목을 한 척도로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548706" y="3081528"/>
            <a:ext cx="2981877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2개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48640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22959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좌앵커 + 중앙 압축·복구 크게 + 우 요구조건→답 팬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58368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58368" y="3803903"/>
            <a:ext cx="1120491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05000"/>
              </a:lnSpc>
            </a:pPr>
            <a:r>
              <a:rPr sz="1300" b="1" lang="ko-KR">
                <a:solidFill>
                  <a:srgbClr val="15171B"/>
                </a:solidFill>
                <a:latin typeface="Pretendard"/>
              </a:rPr>
              <a:t>복구
오차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58368" y="4315967"/>
            <a:ext cx="1120491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1" lang="ko-KR">
                <a:solidFill>
                  <a:srgbClr val="D66E3A"/>
                </a:solidFill>
                <a:latin typeface="Pretendard"/>
              </a:rPr>
              <a:t>VAE는 근거를 낸다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58368" y="4498847"/>
            <a:ext cx="1120491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30000"/>
              </a:lnSpc>
            </a:pPr>
            <a:r>
              <a:rPr sz="650" b="0" lang="ko-KR">
                <a:solidFill>
                  <a:srgbClr val="555A60"/>
                </a:solidFill>
                <a:latin typeface="Pretendard"/>
              </a:rPr>
              <a:t>복구 오차가 항목별로 갈라져 나오므로 왜 이상인지 말할 수 있다. 별도 설명 도구가 필요 없다.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961739" y="3803903"/>
            <a:ext cx="1867486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압축 → 복구 → 차이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961739" y="3959351"/>
            <a:ext cx="1867486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961739" y="4471415"/>
            <a:ext cx="522896" cy="4023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998315" y="4471415"/>
            <a:ext cx="449744" cy="40233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전표 입력 50개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2671384" y="4562855"/>
            <a:ext cx="448196" cy="219456"/>
          </a:xfrm>
          <a:prstGeom prst="round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707960" y="4562855"/>
            <a:ext cx="375044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FFFFFF"/>
                </a:solidFill>
                <a:latin typeface="Pretendard"/>
              </a:rPr>
              <a:t>압축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306329" y="4471415"/>
            <a:ext cx="52289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342905" y="4471415"/>
            <a:ext cx="449744" cy="40233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복구된 전표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2502923" y="4672583"/>
            <a:ext cx="150173" cy="0"/>
          </a:xfrm>
          <a:prstGeom prst="line">
            <a:avLst/>
          </a:prstGeom>
          <a:ln w="1270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3137869" y="4672583"/>
            <a:ext cx="150172" cy="0"/>
          </a:xfrm>
          <a:prstGeom prst="line">
            <a:avLst/>
          </a:prstGeom>
          <a:ln w="1270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ectangle 139"/>
          <p:cNvSpPr/>
          <p:nvPr/>
        </p:nvSpPr>
        <p:spPr>
          <a:xfrm>
            <a:off x="2223187" y="5038343"/>
            <a:ext cx="1344590" cy="914"/>
          </a:xfrm>
          <a:prstGeom prst="rect">
            <a:avLst/>
          </a:prstGeom>
          <a:noFill/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223187" y="4873751"/>
            <a:ext cx="914" cy="164591"/>
          </a:xfrm>
          <a:prstGeom prst="rect">
            <a:avLst/>
          </a:prstGeom>
          <a:noFill/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567777" y="4873751"/>
            <a:ext cx="914" cy="164591"/>
          </a:xfrm>
          <a:prstGeom prst="rect">
            <a:avLst/>
          </a:prstGeom>
          <a:noFill/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961739" y="5074919"/>
            <a:ext cx="1867486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50" b="1" lang="ko-KR">
                <a:solidFill>
                  <a:srgbClr val="D66E3A"/>
                </a:solidFill>
                <a:latin typeface="Pretendard"/>
              </a:rPr>
              <a:t>차이 = 이상 점수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012105" y="3803903"/>
            <a:ext cx="1867486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이 데이터가 요구한 것 → VAE의 답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012105" y="3959351"/>
            <a:ext cx="1867486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4012105" y="4041647"/>
            <a:ext cx="1867486" cy="274320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048681" y="4041647"/>
            <a:ext cx="1794334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50" b="1" lang="ko-KR">
                <a:solidFill>
                  <a:srgbClr val="FFFFFF"/>
                </a:solidFill>
                <a:latin typeface="Pretendard"/>
              </a:rPr>
              <a:t>이 데이터가 요구한 것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213273" y="4603318"/>
            <a:ext cx="201168" cy="91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4414441" y="4464100"/>
            <a:ext cx="1465150" cy="27843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451017" y="4464100"/>
            <a:ext cx="1391998" cy="27843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근거 제시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213273" y="4909184"/>
            <a:ext cx="201168" cy="91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4414441" y="4769967"/>
            <a:ext cx="1465150" cy="27843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451017" y="4769967"/>
            <a:ext cx="1391998" cy="27843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혼합형 처리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213273" y="5215051"/>
            <a:ext cx="201168" cy="91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4414441" y="5075834"/>
            <a:ext cx="1465150" cy="27843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451017" y="5075834"/>
            <a:ext cx="1391998" cy="27843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단순 암기 방지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213273" y="5520918"/>
            <a:ext cx="201168" cy="91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4414441" y="5381701"/>
            <a:ext cx="1465150" cy="27843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4451017" y="5381701"/>
            <a:ext cx="1391998" cy="27843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판정 원리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213273" y="4315967"/>
            <a:ext cx="914" cy="1204950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199632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473952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 6단계 세로 + 중앙 압축·복구 + 우 채택사유 칩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09360" y="3803903"/>
            <a:ext cx="1517332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학습부터 점수까지 6단계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309360" y="3959351"/>
            <a:ext cx="1517332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309360" y="4041647"/>
            <a:ext cx="1517332" cy="246888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345936" y="4041647"/>
            <a:ext cx="1444180" cy="24688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입력 변수 선정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7068026" y="4288536"/>
            <a:ext cx="0" cy="18287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ectangle 170"/>
          <p:cNvSpPr/>
          <p:nvPr/>
        </p:nvSpPr>
        <p:spPr>
          <a:xfrm>
            <a:off x="6309360" y="4315967"/>
            <a:ext cx="1517332" cy="246888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345936" y="4315967"/>
            <a:ext cx="1444180" cy="24688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데이터 분할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7068026" y="4562855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Rectangle 173"/>
          <p:cNvSpPr/>
          <p:nvPr/>
        </p:nvSpPr>
        <p:spPr>
          <a:xfrm>
            <a:off x="6309360" y="4590287"/>
            <a:ext cx="1517332" cy="246888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345936" y="4590287"/>
            <a:ext cx="1444180" cy="24688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전처리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7068026" y="4837175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ectangle 176"/>
          <p:cNvSpPr/>
          <p:nvPr/>
        </p:nvSpPr>
        <p:spPr>
          <a:xfrm>
            <a:off x="6309360" y="4864607"/>
            <a:ext cx="1517332" cy="24688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345936" y="4864607"/>
            <a:ext cx="1444180" cy="24688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FFFFFF"/>
                </a:solidFill>
                <a:latin typeface="Pretendard"/>
              </a:rPr>
              <a:t>학습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7068026" y="5111495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ectangle 179"/>
          <p:cNvSpPr/>
          <p:nvPr/>
        </p:nvSpPr>
        <p:spPr>
          <a:xfrm>
            <a:off x="6309360" y="5138927"/>
            <a:ext cx="1517332" cy="246888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345936" y="5138927"/>
            <a:ext cx="1444180" cy="24688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이상치 점수화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7068026" y="5385815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Rectangle 182"/>
          <p:cNvSpPr/>
          <p:nvPr/>
        </p:nvSpPr>
        <p:spPr>
          <a:xfrm>
            <a:off x="6309360" y="5413247"/>
            <a:ext cx="1517332" cy="246888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345936" y="5413247"/>
            <a:ext cx="1444180" cy="24688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검증 2단계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8009572" y="3803903"/>
            <a:ext cx="182079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판정 원리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8009572" y="3959351"/>
            <a:ext cx="1820798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009572" y="4471415"/>
            <a:ext cx="509823" cy="4023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046148" y="4471415"/>
            <a:ext cx="436671" cy="40233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전표 입력 50개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8701476" y="4562855"/>
            <a:ext cx="436991" cy="219456"/>
          </a:xfrm>
          <a:prstGeom prst="round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8738052" y="4562855"/>
            <a:ext cx="363839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FFFFFF"/>
                </a:solidFill>
                <a:latin typeface="Pretendard"/>
              </a:rPr>
              <a:t>압축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9320547" y="4471415"/>
            <a:ext cx="509823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9357123" y="4471415"/>
            <a:ext cx="436671" cy="40233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복구된 전표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8537684" y="4672583"/>
            <a:ext cx="145504" cy="0"/>
          </a:xfrm>
          <a:prstGeom prst="line">
            <a:avLst/>
          </a:prstGeom>
          <a:ln w="1270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9156755" y="4672583"/>
            <a:ext cx="145504" cy="0"/>
          </a:xfrm>
          <a:prstGeom prst="line">
            <a:avLst/>
          </a:prstGeom>
          <a:ln w="1270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ectangle 194"/>
          <p:cNvSpPr/>
          <p:nvPr/>
        </p:nvSpPr>
        <p:spPr>
          <a:xfrm>
            <a:off x="8264484" y="5038343"/>
            <a:ext cx="1310975" cy="914"/>
          </a:xfrm>
          <a:prstGeom prst="rect">
            <a:avLst/>
          </a:prstGeom>
          <a:noFill/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8264484" y="4873751"/>
            <a:ext cx="914" cy="164591"/>
          </a:xfrm>
          <a:prstGeom prst="rect">
            <a:avLst/>
          </a:prstGeom>
          <a:noFill/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575459" y="4873751"/>
            <a:ext cx="914" cy="164591"/>
          </a:xfrm>
          <a:prstGeom prst="rect">
            <a:avLst/>
          </a:prstGeom>
          <a:noFill/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8009572" y="5074919"/>
            <a:ext cx="1820798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50" b="1" lang="ko-KR">
                <a:solidFill>
                  <a:srgbClr val="D66E3A"/>
                </a:solidFill>
                <a:latin typeface="Pretendard"/>
              </a:rPr>
              <a:t>차이 = 이상 점수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0013251" y="3803903"/>
            <a:ext cx="1517332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왜 비지도인가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10013251" y="3959351"/>
            <a:ext cx="1517332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10013251" y="4041647"/>
            <a:ext cx="1517332" cy="16764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0049827" y="4041647"/>
            <a:ext cx="1444180" cy="167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정답 데이터 부재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10013251" y="4273295"/>
            <a:ext cx="1517332" cy="16764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0049827" y="4273295"/>
            <a:ext cx="1444180" cy="167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미정의 패턴 대응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0013251" y="4504943"/>
            <a:ext cx="1517332" cy="16764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0049827" y="4504943"/>
            <a:ext cx="1444180" cy="167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데이터 요건 충족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013251" y="4818888"/>
            <a:ext cx="1517332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왜 VAE인가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0013251" y="4974336"/>
            <a:ext cx="1517332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ounded Rectangle 208"/>
          <p:cNvSpPr/>
          <p:nvPr/>
        </p:nvSpPr>
        <p:spPr>
          <a:xfrm>
            <a:off x="10013251" y="5056631"/>
            <a:ext cx="72209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0049827" y="5056631"/>
            <a:ext cx="648938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근거 제시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10808493" y="5056631"/>
            <a:ext cx="722090" cy="27432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0845069" y="5056631"/>
            <a:ext cx="648938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혼합형 처리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10013251" y="5394959"/>
            <a:ext cx="722090" cy="27432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0049827" y="5394959"/>
            <a:ext cx="648938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단순 암기 방지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10808493" y="5394959"/>
            <a:ext cx="722090" cy="27432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0845069" y="5394959"/>
            <a:ext cx="648938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판정 원리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48640" y="6528816"/>
            <a:ext cx="11094415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후보 4개는 전부 같은 내용이다 — 다른 것은 배치·인코딩뿐 · 라벨은 자리에 맞게 접혔다(… 외 N개) · 번호로 회신 (예: S4=1 · S7=3 · S13=전탈락)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731520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8A9099"/>
                </a:solidFill>
                <a:latin typeface="Pretendard"/>
              </a:rPr>
              <a:t>S14 · PART Ⅲ · 형태 후보 4 (내용 동일)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400" b="1" lang="ko-KR">
                <a:solidFill>
                  <a:srgbClr val="15171B"/>
                </a:solidFill>
                <a:latin typeface="Pretendard"/>
              </a:rPr>
              <a:t>VAE 입력 설계 — 73열 중 50개만 넣었다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11094415" cy="914"/>
          </a:xfrm>
          <a:prstGeom prst="rect">
            <a:avLst/>
          </a:prstGeom>
          <a:noFill/>
          <a:ln w="1778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50" b="1" lang="ko-KR">
                <a:solidFill>
                  <a:srgbClr val="D66E3A"/>
                </a:solidFill>
                <a:latin typeface="Pretendard"/>
              </a:rPr>
              <a:t>초점: 생성 흔적을 배제했다 — S13 '근거를 낸다'의 뒷받침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0" lang="ko-KR">
                <a:solidFill>
                  <a:srgbClr val="8A9099"/>
                </a:solidFill>
                <a:latin typeface="Pretendard"/>
              </a:rPr>
              <a:t>담기는 것(고정): 73→배제 30(사유)→39+파생 11=50 · 파생 4종 목적 · 전처리 5기법 · 39개 묶음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 73→50 체 + 우상 파생 카탈로그 + 우하 전처리 매핑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35024"/>
            <a:ext cx="2056466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73열에서 무엇을 걸러냈나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490472"/>
            <a:ext cx="2056466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1572768"/>
            <a:ext cx="2056466" cy="256032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72768"/>
            <a:ext cx="1983314" cy="25603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50" b="1" lang="ko-KR">
                <a:solidFill>
                  <a:srgbClr val="FFFFFF"/>
                </a:solidFill>
                <a:latin typeface="Pretendard"/>
              </a:rPr>
              <a:t>원시 데이터 73개 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892807"/>
            <a:ext cx="164592" cy="19888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8A9099"/>
                </a:solidFill>
                <a:latin typeface="Pretendard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1892807"/>
            <a:ext cx="1855298" cy="19888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합성 생성 흔적 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119122"/>
            <a:ext cx="164592" cy="19888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8A9099"/>
                </a:solidFill>
                <a:latin typeface="Pretendard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2119122"/>
            <a:ext cx="1855298" cy="19888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전표 고유값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345436"/>
            <a:ext cx="164592" cy="19888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8A9099"/>
                </a:solidFill>
                <a:latin typeface="Pretendard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2345436"/>
            <a:ext cx="1855298" cy="19888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정답 라벨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571750"/>
            <a:ext cx="164592" cy="19888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8A9099"/>
                </a:solidFill>
                <a:latin typeface="Pretendard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571750"/>
            <a:ext cx="1855298" cy="19888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결측 과다 3 · 판정 결과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" y="1828800"/>
            <a:ext cx="914" cy="842391"/>
          </a:xfrm>
          <a:prstGeom prst="rect">
            <a:avLst/>
          </a:prstGeom>
          <a:noFill/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1686601" y="2816352"/>
            <a:ext cx="0" cy="109728"/>
          </a:xfrm>
          <a:prstGeom prst="line">
            <a:avLst/>
          </a:prstGeom>
          <a:ln w="1270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58368" y="2944368"/>
            <a:ext cx="2056466" cy="274320"/>
          </a:xfrm>
          <a:prstGeom prst="rect">
            <a:avLst/>
          </a:prstGeom>
          <a:solidFill>
            <a:srgbClr val="FFFFFF"/>
          </a:solidFill>
          <a:ln w="1651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2944368"/>
            <a:ext cx="1983314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50" b="1" lang="ko-KR">
                <a:solidFill>
                  <a:srgbClr val="D66E3A"/>
                </a:solidFill>
                <a:latin typeface="Pretendard"/>
              </a:rPr>
              <a:t>최종 입력 50개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97714" y="1335024"/>
            <a:ext cx="2981877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파생 변수 11개 — 무엇을 만들려고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7714" y="1490472"/>
            <a:ext cx="2981877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97714" y="1572768"/>
            <a:ext cx="1192750" cy="2329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34290" y="1572768"/>
            <a:ext cx="1119598" cy="23298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시계열 주기성 (4)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08753" y="1689258"/>
            <a:ext cx="559800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686841" y="1572768"/>
            <a:ext cx="1192750" cy="232981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23417" y="1572768"/>
            <a:ext cx="1119598" cy="23298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→ 시각 거리 왜곡 방지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97714" y="1833181"/>
            <a:ext cx="1192750" cy="2329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34290" y="1833181"/>
            <a:ext cx="1119598" cy="23298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업무 리드 타임 (3)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108753" y="1949672"/>
            <a:ext cx="559800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686841" y="1833181"/>
            <a:ext cx="1192750" cy="232981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23417" y="1833181"/>
            <a:ext cx="1119598" cy="23298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→ 소급·지연 식별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97714" y="2102739"/>
            <a:ext cx="2981877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2개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97714" y="2386203"/>
            <a:ext cx="2981877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형태가 다른 데이터를 한 척도로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97714" y="2541651"/>
            <a:ext cx="2981877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97714" y="2623947"/>
            <a:ext cx="1252388" cy="19678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34290" y="2623947"/>
            <a:ext cx="1179236" cy="19678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계정·전표유형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97714" y="2848165"/>
            <a:ext cx="1252388" cy="19678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34290" y="2848165"/>
            <a:ext cx="1179236" cy="19678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작성자·거래처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27203" y="2623947"/>
            <a:ext cx="1252388" cy="19678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63779" y="2623947"/>
            <a:ext cx="1179236" cy="19678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원-핫 인코딩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27203" y="2848165"/>
            <a:ext cx="1252388" cy="19678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779" y="2848165"/>
            <a:ext cx="1179236" cy="19678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빈도 인코딩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150103" y="2722340"/>
            <a:ext cx="477100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150103" y="2946558"/>
            <a:ext cx="477100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150103" y="2722340"/>
            <a:ext cx="477100" cy="224218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897714" y="3081528"/>
            <a:ext cx="1252388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3개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27203" y="3081528"/>
            <a:ext cx="1252388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3개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99632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73952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상단 73→50 가로 깔때기 + 하단 39묶음 스택 / 전처리 매핑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60" y="1335024"/>
            <a:ext cx="5221224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73 → 배제 30 → 39 + 파생 11 = 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1490472"/>
            <a:ext cx="5221224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09360" y="1510765"/>
            <a:ext cx="1140714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45936" y="1510765"/>
            <a:ext cx="1067562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원시 데이터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60" y="1771716"/>
            <a:ext cx="1140714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D66E3A"/>
                </a:solidFill>
                <a:latin typeface="Pretendard"/>
              </a:rPr>
              <a:t>73개 열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477506" y="1666213"/>
            <a:ext cx="164592" cy="0"/>
          </a:xfrm>
          <a:prstGeom prst="line">
            <a:avLst/>
          </a:prstGeom>
          <a:ln w="1270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7669530" y="1510765"/>
            <a:ext cx="1140714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06106" y="1510765"/>
            <a:ext cx="1067562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학습 배제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69530" y="1771716"/>
            <a:ext cx="1140714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D66E3A"/>
                </a:solidFill>
                <a:latin typeface="Pretendard"/>
              </a:rPr>
              <a:t>30개 열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837676" y="1666213"/>
            <a:ext cx="164592" cy="0"/>
          </a:xfrm>
          <a:prstGeom prst="line">
            <a:avLst/>
          </a:prstGeom>
          <a:ln w="1270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9029700" y="1510765"/>
            <a:ext cx="1140714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66276" y="1510765"/>
            <a:ext cx="1067562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원본 채택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29700" y="1771716"/>
            <a:ext cx="1140714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D66E3A"/>
                </a:solidFill>
                <a:latin typeface="Pretendard"/>
              </a:rPr>
              <a:t>39개 열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0197846" y="1666213"/>
            <a:ext cx="164592" cy="0"/>
          </a:xfrm>
          <a:prstGeom prst="line">
            <a:avLst/>
          </a:prstGeom>
          <a:ln w="1270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10389870" y="1510765"/>
            <a:ext cx="1140714" cy="31089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426446" y="1510765"/>
            <a:ext cx="1067562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FFFFFF"/>
                </a:solidFill>
                <a:latin typeface="Pretendard"/>
              </a:rPr>
              <a:t>최종 입력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89870" y="1771716"/>
            <a:ext cx="1140714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D66E3A"/>
                </a:solidFill>
                <a:latin typeface="Pretendard"/>
              </a:rPr>
              <a:t>50개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09360" y="2020508"/>
            <a:ext cx="269492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학습에 넣은 39개 묶음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09360" y="2175956"/>
            <a:ext cx="2694928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309360" y="2258252"/>
            <a:ext cx="2694928" cy="1326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64224" y="2258252"/>
            <a:ext cx="1131869" cy="132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금액 (7)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95128" y="2258252"/>
            <a:ext cx="1454295" cy="132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차·대변·원화환산·송장·세액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418325"/>
            <a:ext cx="2694928" cy="1326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64224" y="2418325"/>
            <a:ext cx="1131869" cy="132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계정 (6)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5128" y="2418325"/>
            <a:ext cx="1454295" cy="132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계정과목·성격·보조계정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09360" y="2578397"/>
            <a:ext cx="2694928" cy="1326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64224" y="2578397"/>
            <a:ext cx="1131869" cy="132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기간과 소속 (5)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95128" y="2578397"/>
            <a:ext cx="1454295" cy="132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회계연도·기간·회사·통화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309360" y="2738470"/>
            <a:ext cx="2694928" cy="1326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64224" y="2738470"/>
            <a:ext cx="1131869" cy="132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거래처와 부서 (4)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95128" y="2738470"/>
            <a:ext cx="1454295" cy="132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거래처·상대 유형·부서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09360" y="2898542"/>
            <a:ext cx="2694928" cy="132640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364224" y="2898542"/>
            <a:ext cx="1131869" cy="132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FFFFFF"/>
                </a:solidFill>
                <a:latin typeface="Pretendard"/>
              </a:rPr>
              <a:t>거래 성격 (4)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95128" y="2898542"/>
            <a:ext cx="1454295" cy="132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FFFFFF"/>
                </a:solidFill>
                <a:latin typeface="Pretendard"/>
              </a:rPr>
              <a:t>전표유형·프로세스·입력경로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09360" y="3058615"/>
            <a:ext cx="2694928" cy="1326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64224" y="3058615"/>
            <a:ext cx="1131869" cy="132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사람·적요·상태·증빙·세무 (13)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495128" y="3058615"/>
            <a:ext cx="1454295" cy="132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작성자·승인자·적요·증빙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87168" y="2020508"/>
            <a:ext cx="2343415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전처리 — 성격에서 기법으로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187168" y="2175956"/>
            <a:ext cx="2343415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187168" y="2258252"/>
            <a:ext cx="1031102" cy="164655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223744" y="2258252"/>
            <a:ext cx="957950" cy="1646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계정·전표유형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87168" y="2450339"/>
            <a:ext cx="1031102" cy="164655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223744" y="2450339"/>
            <a:ext cx="957950" cy="1646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작성자·거래처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187168" y="2642426"/>
            <a:ext cx="1031102" cy="164655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223744" y="2642426"/>
            <a:ext cx="957950" cy="1646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금액 7종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187168" y="2834513"/>
            <a:ext cx="1031102" cy="164655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223744" y="2834513"/>
            <a:ext cx="957950" cy="1646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여부 컬럼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87168" y="3026600"/>
            <a:ext cx="1031102" cy="164655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223744" y="3026600"/>
            <a:ext cx="957950" cy="1646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환율·리드타임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0499481" y="2258252"/>
            <a:ext cx="1031102" cy="16465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536057" y="2258252"/>
            <a:ext cx="957950" cy="1646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원-핫 인코딩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499481" y="2450339"/>
            <a:ext cx="1031102" cy="16465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536057" y="2450339"/>
            <a:ext cx="957950" cy="1646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빈도 인코딩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0499481" y="2642426"/>
            <a:ext cx="1031102" cy="16465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536057" y="2642426"/>
            <a:ext cx="957950" cy="1646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부호 보존 로그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0499481" y="2834513"/>
            <a:ext cx="1031102" cy="16465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536057" y="2834513"/>
            <a:ext cx="957950" cy="1646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이진화 0/1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0499481" y="3026600"/>
            <a:ext cx="1031102" cy="16465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536057" y="3026600"/>
            <a:ext cx="957950" cy="1646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적응형 스케일링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10218271" y="2340580"/>
            <a:ext cx="281210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0218271" y="2532667"/>
            <a:ext cx="281210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0218271" y="2724754"/>
            <a:ext cx="281210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0218271" y="2916841"/>
            <a:ext cx="281210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0218271" y="3108928"/>
            <a:ext cx="281210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0218271" y="2340580"/>
            <a:ext cx="281210" cy="192087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0218271" y="2724754"/>
            <a:ext cx="281210" cy="384174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ctangle 126"/>
          <p:cNvSpPr/>
          <p:nvPr/>
        </p:nvSpPr>
        <p:spPr>
          <a:xfrm>
            <a:off x="548640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22959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좌앵커 + 중앙 배제 팬인 + 우 파생 / 39묶음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8368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58368" y="3803903"/>
            <a:ext cx="115606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05000"/>
              </a:lnSpc>
            </a:pPr>
            <a:r>
              <a:rPr sz="1300" b="1" lang="ko-KR">
                <a:solidFill>
                  <a:srgbClr val="15171B"/>
                </a:solidFill>
                <a:latin typeface="Pretendard"/>
              </a:rPr>
              <a:t>73→50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58368" y="4133087"/>
            <a:ext cx="1156062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1" lang="ko-KR">
                <a:solidFill>
                  <a:srgbClr val="D66E3A"/>
                </a:solidFill>
                <a:latin typeface="Pretendard"/>
              </a:rPr>
              <a:t>생성 흔적을 배제했다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58368" y="4315967"/>
            <a:ext cx="1156062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30000"/>
              </a:lnSpc>
            </a:pPr>
            <a:r>
              <a:rPr sz="650" b="0" lang="ko-KR">
                <a:solidFill>
                  <a:srgbClr val="555A60"/>
                </a:solidFill>
                <a:latin typeface="Pretendard"/>
              </a:rPr>
              <a:t>합성 흔적 14열과 정답 라벨 4열을 빼야 모델이 회계적 이상만 본다.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997310" y="3803903"/>
            <a:ext cx="1772629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무엇을 왜 뺐나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997310" y="3959351"/>
            <a:ext cx="1772629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997310" y="4041647"/>
            <a:ext cx="1772629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033886" y="4041647"/>
            <a:ext cx="1699477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합성 생성 흔적 14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627593" y="4352543"/>
            <a:ext cx="914" cy="911656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997310" y="4425695"/>
            <a:ext cx="1772629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033886" y="4425695"/>
            <a:ext cx="1699477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전표 고유값 7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883625" y="4736591"/>
            <a:ext cx="914" cy="527608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997310" y="4809743"/>
            <a:ext cx="1772629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033886" y="4809743"/>
            <a:ext cx="1699477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정답 라벨 4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139657" y="5120639"/>
            <a:ext cx="914" cy="143560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627593" y="5264200"/>
            <a:ext cx="512064" cy="91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7" name="Connector 146"/>
          <p:cNvCxnSpPr/>
          <p:nvPr/>
        </p:nvCxnSpPr>
        <p:spPr>
          <a:xfrm>
            <a:off x="2883625" y="5264200"/>
            <a:ext cx="0" cy="110643"/>
          </a:xfrm>
          <a:prstGeom prst="line">
            <a:avLst/>
          </a:prstGeom>
          <a:ln w="1397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ectangle 147"/>
          <p:cNvSpPr/>
          <p:nvPr/>
        </p:nvSpPr>
        <p:spPr>
          <a:xfrm>
            <a:off x="1997310" y="5374843"/>
            <a:ext cx="1772629" cy="29260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033886" y="5374843"/>
            <a:ext cx="1699477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50" b="1" lang="ko-KR">
                <a:solidFill>
                  <a:srgbClr val="FFFFFF"/>
                </a:solidFill>
                <a:latin typeface="Pretendard"/>
              </a:rPr>
              <a:t>학습 배제 30열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952820" y="3803903"/>
            <a:ext cx="1926771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파생 변수 11개의 목적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952820" y="3959351"/>
            <a:ext cx="1926771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952820" y="4041647"/>
            <a:ext cx="809243" cy="2329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989396" y="4041647"/>
            <a:ext cx="736091" cy="23298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시계열 주기성 (4)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4780352" y="4158138"/>
            <a:ext cx="271707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 154"/>
          <p:cNvSpPr/>
          <p:nvPr/>
        </p:nvSpPr>
        <p:spPr>
          <a:xfrm>
            <a:off x="5070347" y="4041647"/>
            <a:ext cx="809243" cy="232981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106923" y="4041647"/>
            <a:ext cx="736091" cy="23298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→ 시각 거리 왜곡 방지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952820" y="4302061"/>
            <a:ext cx="809243" cy="2329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989396" y="4302061"/>
            <a:ext cx="736091" cy="23298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업무 리드 타임 (3)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4780352" y="4418552"/>
            <a:ext cx="271707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ectangle 159"/>
          <p:cNvSpPr/>
          <p:nvPr/>
        </p:nvSpPr>
        <p:spPr>
          <a:xfrm>
            <a:off x="5070347" y="4302061"/>
            <a:ext cx="809243" cy="232981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106923" y="4302061"/>
            <a:ext cx="736091" cy="23298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→ 소급·지연 식별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952820" y="4571618"/>
            <a:ext cx="1926771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2개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952820" y="4855082"/>
            <a:ext cx="1926771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학습 변수 39개 묶음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952820" y="5010530"/>
            <a:ext cx="1926771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3952820" y="5092826"/>
            <a:ext cx="1926771" cy="19678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007684" y="5092826"/>
            <a:ext cx="809243" cy="19678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금액 (7)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800599" y="5092826"/>
            <a:ext cx="1024127" cy="19678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차·대변·원화환산·송장·세액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3952820" y="5317045"/>
            <a:ext cx="1926771" cy="19678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4007684" y="5317045"/>
            <a:ext cx="809243" cy="19678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계정 (6)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800599" y="5317045"/>
            <a:ext cx="1024127" cy="19678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계정과목·성격·보조계정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952820" y="5550407"/>
            <a:ext cx="1926771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4계층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199632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473952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상단 73→50 띠 + 하단 39묶음 / 파생 11 / 전처리 3칼럼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309360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309360" y="3803903"/>
            <a:ext cx="5221224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원시 73열 → 배제 30 → 원본 39 + 파생 11 = 최종 입력 50개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6309360" y="3977639"/>
            <a:ext cx="1000353" cy="20395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6345936" y="3977639"/>
            <a:ext cx="927201" cy="20395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73 원시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7364577" y="3977639"/>
            <a:ext cx="1000353" cy="20395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7401153" y="3977639"/>
            <a:ext cx="927201" cy="20395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−30 배제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419795" y="3977639"/>
            <a:ext cx="1000353" cy="20395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456371" y="3977639"/>
            <a:ext cx="927201" cy="20395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39 원본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9475012" y="3977639"/>
            <a:ext cx="1000353" cy="20395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9511588" y="3977639"/>
            <a:ext cx="927201" cy="20395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+11 파생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0530230" y="3977639"/>
            <a:ext cx="1000353" cy="203950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0566806" y="3977639"/>
            <a:ext cx="927201" cy="20395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50 입력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309360" y="4327894"/>
            <a:ext cx="1644592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학습 변수 39개 묶음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309360" y="4483342"/>
            <a:ext cx="1644592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6309360" y="4565638"/>
            <a:ext cx="1644592" cy="15955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364224" y="4565638"/>
            <a:ext cx="690728" cy="1595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금액 (7)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032980" y="4565638"/>
            <a:ext cx="866107" cy="1595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차·대변·원화환산·송장·세액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309360" y="4752627"/>
            <a:ext cx="1644592" cy="15955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6364224" y="4752627"/>
            <a:ext cx="690728" cy="1595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계정 (6)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7032980" y="4752627"/>
            <a:ext cx="866107" cy="1595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계정과목·성격·보조계정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6309360" y="4939615"/>
            <a:ext cx="1644592" cy="15955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364224" y="4939615"/>
            <a:ext cx="690728" cy="1595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기간과 소속 (5)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032980" y="4939615"/>
            <a:ext cx="866107" cy="1595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회계연도·기간·회사·통화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6309360" y="5126603"/>
            <a:ext cx="1644592" cy="15955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364224" y="5126603"/>
            <a:ext cx="690728" cy="1595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거래처와 부서 (4)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7032980" y="5126603"/>
            <a:ext cx="866107" cy="1595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거래처·상대 유형·부서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6309360" y="5313591"/>
            <a:ext cx="1644592" cy="15955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6364224" y="5313591"/>
            <a:ext cx="690728" cy="1595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FFFFFF"/>
                </a:solidFill>
                <a:latin typeface="Pretendard"/>
              </a:rPr>
              <a:t>거래 성격 (4)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032980" y="5313591"/>
            <a:ext cx="866107" cy="1595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FFFFFF"/>
                </a:solidFill>
                <a:latin typeface="Pretendard"/>
              </a:rPr>
              <a:t>전표유형·프로세스·입력경로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309360" y="5500579"/>
            <a:ext cx="1644592" cy="15955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6364224" y="5500579"/>
            <a:ext cx="690728" cy="1595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사람·적요·상태·증빙·세무 (13)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032980" y="5500579"/>
            <a:ext cx="866107" cy="1595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작성자·승인자·적요·증빙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8136832" y="4327894"/>
            <a:ext cx="156627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파생 11개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8136832" y="4483342"/>
            <a:ext cx="1566278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8136832" y="4565638"/>
            <a:ext cx="1566278" cy="253050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8173408" y="4565638"/>
            <a:ext cx="1493126" cy="25305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시계열 주기성 (4)</a:t>
            </a:r>
          </a:p>
        </p:txBody>
      </p:sp>
      <p:cxnSp>
        <p:nvCxnSpPr>
          <p:cNvPr id="212" name="Connector 211"/>
          <p:cNvCxnSpPr/>
          <p:nvPr/>
        </p:nvCxnSpPr>
        <p:spPr>
          <a:xfrm>
            <a:off x="8919972" y="4818689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Rectangle 212"/>
          <p:cNvSpPr/>
          <p:nvPr/>
        </p:nvSpPr>
        <p:spPr>
          <a:xfrm>
            <a:off x="8136832" y="4846121"/>
            <a:ext cx="1566278" cy="253050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173408" y="4846121"/>
            <a:ext cx="1493126" cy="25305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업무 리드 타임 (3)</a:t>
            </a:r>
          </a:p>
        </p:txBody>
      </p:sp>
      <p:cxnSp>
        <p:nvCxnSpPr>
          <p:cNvPr id="215" name="Connector 214"/>
          <p:cNvCxnSpPr/>
          <p:nvPr/>
        </p:nvCxnSpPr>
        <p:spPr>
          <a:xfrm>
            <a:off x="8919972" y="5099171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Rectangle 215"/>
          <p:cNvSpPr/>
          <p:nvPr/>
        </p:nvSpPr>
        <p:spPr>
          <a:xfrm>
            <a:off x="8136832" y="5126603"/>
            <a:ext cx="1566278" cy="253050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8173408" y="5126603"/>
            <a:ext cx="1493126" cy="25305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외부 통제 환경 (2)</a:t>
            </a:r>
          </a:p>
        </p:txBody>
      </p:sp>
      <p:cxnSp>
        <p:nvCxnSpPr>
          <p:cNvPr id="218" name="Connector 217"/>
          <p:cNvCxnSpPr/>
          <p:nvPr/>
        </p:nvCxnSpPr>
        <p:spPr>
          <a:xfrm>
            <a:off x="8919972" y="5379653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Rectangle 218"/>
          <p:cNvSpPr/>
          <p:nvPr/>
        </p:nvSpPr>
        <p:spPr>
          <a:xfrm>
            <a:off x="8136832" y="5407085"/>
            <a:ext cx="1566278" cy="253050"/>
          </a:xfrm>
          <a:prstGeom prst="rect">
            <a:avLst/>
          </a:prstGeom>
          <a:solidFill>
            <a:srgbClr val="F2F3F5"/>
          </a:solidFill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8173408" y="5407085"/>
            <a:ext cx="1493126" cy="25305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15171B"/>
                </a:solidFill>
                <a:latin typeface="Pretendard"/>
              </a:rPr>
              <a:t>금액 속성 구조화 (2)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9885991" y="4327894"/>
            <a:ext cx="1644592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전처리 5기법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9885991" y="4483342"/>
            <a:ext cx="1644592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885991" y="4565638"/>
            <a:ext cx="723620" cy="19695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9922567" y="4565638"/>
            <a:ext cx="650468" cy="19695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계정·전표유형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9885991" y="4790024"/>
            <a:ext cx="723620" cy="19695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9922567" y="4790024"/>
            <a:ext cx="650468" cy="19695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작성자·거래처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9885991" y="5014410"/>
            <a:ext cx="723620" cy="19695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9922567" y="5014410"/>
            <a:ext cx="650468" cy="19695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금액 7종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885991" y="5238796"/>
            <a:ext cx="723620" cy="19695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9922567" y="5238796"/>
            <a:ext cx="650468" cy="19695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여부 컬럼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9885991" y="5463182"/>
            <a:ext cx="723620" cy="19695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9922567" y="5463182"/>
            <a:ext cx="650468" cy="19695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환율·리드타임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10806963" y="4565638"/>
            <a:ext cx="723620" cy="196953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0843539" y="4565638"/>
            <a:ext cx="650468" cy="19695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원-핫 인코딩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10806963" y="4790024"/>
            <a:ext cx="723620" cy="196953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0843539" y="4790024"/>
            <a:ext cx="650468" cy="19695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빈도 인코딩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10806963" y="5014410"/>
            <a:ext cx="723620" cy="196953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10843539" y="5014410"/>
            <a:ext cx="650468" cy="19695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부호 보존 로그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10806963" y="5238796"/>
            <a:ext cx="723620" cy="196953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0843539" y="5238796"/>
            <a:ext cx="650468" cy="19695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이진화 0/1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10806963" y="5463182"/>
            <a:ext cx="723620" cy="196953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0843539" y="5463182"/>
            <a:ext cx="650468" cy="19695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적응형 스케일링</a:t>
            </a:r>
          </a:p>
        </p:txBody>
      </p:sp>
      <p:cxnSp>
        <p:nvCxnSpPr>
          <p:cNvPr id="243" name="Connector 242"/>
          <p:cNvCxnSpPr/>
          <p:nvPr/>
        </p:nvCxnSpPr>
        <p:spPr>
          <a:xfrm>
            <a:off x="10609612" y="4664115"/>
            <a:ext cx="197351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0609612" y="4888501"/>
            <a:ext cx="197351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0609612" y="5112887"/>
            <a:ext cx="197351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0609612" y="5337273"/>
            <a:ext cx="197351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0609612" y="5561659"/>
            <a:ext cx="197351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10609612" y="4664115"/>
            <a:ext cx="197351" cy="224386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0609612" y="5112887"/>
            <a:ext cx="197351" cy="448772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TextBox 249"/>
          <p:cNvSpPr txBox="1"/>
          <p:nvPr/>
        </p:nvSpPr>
        <p:spPr>
          <a:xfrm>
            <a:off x="548640" y="6528816"/>
            <a:ext cx="11094415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후보 4개는 전부 같은 내용이다 — 다른 것은 배치·인코딩뿐 · 라벨은 자리에 맞게 접혔다(… 외 N개) · 번호로 회신 (예: S4=1 · S7=3 · S13=전탈락)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731520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8A9099"/>
                </a:solidFill>
                <a:latin typeface="Pretendard"/>
              </a:rPr>
              <a:t>S16 · PART Ⅳ · 형태 후보 4 (내용 동일)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400" b="1" lang="ko-KR">
                <a:solidFill>
                  <a:srgbClr val="15171B"/>
                </a:solidFill>
                <a:latin typeface="Pretendard"/>
              </a:rPr>
              <a:t>검증 ① 룰 — 다 잡는 룰과 변별하는 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11094415" cy="914"/>
          </a:xfrm>
          <a:prstGeom prst="rect">
            <a:avLst/>
          </a:prstGeom>
          <a:noFill/>
          <a:ln w="1778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50" b="1" lang="ko-KR">
                <a:solidFill>
                  <a:srgbClr val="D66E3A"/>
                </a:solidFill>
                <a:latin typeface="Pretendard"/>
              </a:rPr>
              <a:t>초점(채록): 회수율보다 lift (2순위)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0" lang="ko-KR">
                <a:solidFill>
                  <a:srgbClr val="8A9099"/>
                </a:solidFill>
                <a:latin typeface="Pretendard"/>
              </a:rPr>
              <a:t>담기는 것(고정): lift 810~0 · 최대/실질 회수 · 베이스라인 28/0 실측:임계 · 단일룰 29/29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 lift 막대 + 우상 회수 깔때기 + 우하 두 시험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35024"/>
            <a:ext cx="277623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lift — 이상 발현율 ÷ 정상 발현율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490472"/>
            <a:ext cx="2776230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572768"/>
            <a:ext cx="1051560" cy="2057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L4-04 희소계정쌍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09928" y="1622145"/>
            <a:ext cx="1322334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09928" y="1622145"/>
            <a:ext cx="1322334" cy="106984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77982" y="1572768"/>
            <a:ext cx="310896" cy="2057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810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778508"/>
            <a:ext cx="1051560" cy="2057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L2-05 역분개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09928" y="1827885"/>
            <a:ext cx="1322334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09928" y="1827885"/>
            <a:ext cx="819847" cy="106984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77982" y="1778508"/>
            <a:ext cx="310896" cy="2057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108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984248"/>
            <a:ext cx="1051560" cy="2057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L1-05 자기승인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09928" y="2033625"/>
            <a:ext cx="1322334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09928" y="2033625"/>
            <a:ext cx="687613" cy="106984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77982" y="1984248"/>
            <a:ext cx="310896" cy="2057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59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189988"/>
            <a:ext cx="1051560" cy="2057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L2-04 비용자산화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09928" y="2239365"/>
            <a:ext cx="1322334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09928" y="2239365"/>
            <a:ext cx="621497" cy="106984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77982" y="2189988"/>
            <a:ext cx="310896" cy="2057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2395728"/>
            <a:ext cx="1051560" cy="2057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L3-09 가수금 체류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09928" y="2445105"/>
            <a:ext cx="1322334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709928" y="2445105"/>
            <a:ext cx="528933" cy="106984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77982" y="2395728"/>
            <a:ext cx="310896" cy="2057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2601468"/>
            <a:ext cx="1051560" cy="2057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L3-02 수기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09928" y="2650845"/>
            <a:ext cx="1322334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09928" y="2650845"/>
            <a:ext cx="277690" cy="106984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77982" y="2601468"/>
            <a:ext cx="310896" cy="2057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2.3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2807208"/>
            <a:ext cx="1051560" cy="2057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L1-07 승인생략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09928" y="2856585"/>
            <a:ext cx="1322334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709928" y="2856585"/>
            <a:ext cx="105786" cy="106984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77982" y="2807208"/>
            <a:ext cx="310896" cy="2057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0.64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3012948"/>
            <a:ext cx="1051560" cy="2057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L1-04 외 5종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09928" y="3062325"/>
            <a:ext cx="1322334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09928" y="3062325"/>
            <a:ext cx="18288" cy="106984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77982" y="3012948"/>
            <a:ext cx="310896" cy="2057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7478" y="1335024"/>
            <a:ext cx="2262113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회수했다는 말의 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17478" y="1490472"/>
            <a:ext cx="2262113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17478" y="1572768"/>
            <a:ext cx="400936" cy="37972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4054" y="1572768"/>
            <a:ext cx="327784" cy="37972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주입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7478" y="1976987"/>
            <a:ext cx="400936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D66E3A"/>
                </a:solidFill>
                <a:latin typeface="Pretendard"/>
              </a:rPr>
              <a:t>330건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045846" y="1762628"/>
            <a:ext cx="164592" cy="0"/>
          </a:xfrm>
          <a:prstGeom prst="line">
            <a:avLst/>
          </a:prstGeom>
          <a:ln w="1270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4237870" y="1591754"/>
            <a:ext cx="400936" cy="341749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74446" y="1591754"/>
            <a:ext cx="327784" cy="34174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최대 회수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37870" y="1976987"/>
            <a:ext cx="400936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D66E3A"/>
                </a:solidFill>
                <a:latin typeface="Pretendard"/>
              </a:rPr>
              <a:t>99.4%↑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666239" y="1762628"/>
            <a:ext cx="164592" cy="0"/>
          </a:xfrm>
          <a:prstGeom prst="line">
            <a:avLst/>
          </a:prstGeom>
          <a:ln w="1270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4858263" y="1607180"/>
            <a:ext cx="400936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94839" y="1607180"/>
            <a:ext cx="327784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lift ≤ 1.0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58263" y="1976987"/>
            <a:ext cx="400936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D66E3A"/>
                </a:solidFill>
                <a:latin typeface="Pretendard"/>
              </a:rPr>
              <a:t>배제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286631" y="1762628"/>
            <a:ext cx="164592" cy="0"/>
          </a:xfrm>
          <a:prstGeom prst="line">
            <a:avLst/>
          </a:prstGeom>
          <a:ln w="1270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5478655" y="1607180"/>
            <a:ext cx="400936" cy="31089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15231" y="1607180"/>
            <a:ext cx="327784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FFFFFF"/>
                </a:solidFill>
                <a:latin typeface="Pretendard"/>
              </a:rPr>
              <a:t>실질 회수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78655" y="1976987"/>
            <a:ext cx="400936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D66E3A"/>
                </a:solidFill>
                <a:latin typeface="Pretendard"/>
              </a:rPr>
              <a:t>90%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17478" y="2331525"/>
            <a:ext cx="2262113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두 시험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17478" y="2486973"/>
            <a:ext cx="2262113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617478" y="2569269"/>
            <a:ext cx="2262113" cy="297277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4054" y="2569269"/>
            <a:ext cx="2188961" cy="29727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FFFFFF"/>
                </a:solidFill>
                <a:latin typeface="Pretendard"/>
              </a:rPr>
              <a:t>정상 베이스라인 28 / 28 통과 · 실패 0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748535" y="2866546"/>
            <a:ext cx="0" cy="18288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3617478" y="2893978"/>
            <a:ext cx="2262113" cy="297277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4054" y="2893978"/>
            <a:ext cx="2188961" cy="29727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00" b="1" lang="ko-KR">
                <a:solidFill>
                  <a:srgbClr val="FFFFFF"/>
                </a:solidFill>
                <a:latin typeface="Pretendard"/>
              </a:rPr>
              <a:t>단일 룰 주입 29 / 29 발현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99632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73952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상단 회수 깔때기 가로 + 하단 lift 막대 풀폭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09360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09360" y="1335024"/>
            <a:ext cx="5221224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회수했다는 말의 뜻 — 최대에서 실질로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1490472"/>
            <a:ext cx="5221224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09360" y="1507239"/>
            <a:ext cx="1140714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45936" y="1507239"/>
            <a:ext cx="1067562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주입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09360" y="1764208"/>
            <a:ext cx="1140714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D66E3A"/>
                </a:solidFill>
                <a:latin typeface="Pretendard"/>
              </a:rPr>
              <a:t>330건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477506" y="1662687"/>
            <a:ext cx="164592" cy="0"/>
          </a:xfrm>
          <a:prstGeom prst="line">
            <a:avLst/>
          </a:prstGeom>
          <a:ln w="1270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7669530" y="1507239"/>
            <a:ext cx="1140714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706106" y="1507239"/>
            <a:ext cx="1067562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최대 회수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69530" y="1764208"/>
            <a:ext cx="1140714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D66E3A"/>
                </a:solidFill>
                <a:latin typeface="Pretendard"/>
              </a:rPr>
              <a:t>99.4%↑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8837676" y="1662687"/>
            <a:ext cx="164592" cy="0"/>
          </a:xfrm>
          <a:prstGeom prst="line">
            <a:avLst/>
          </a:prstGeom>
          <a:ln w="1270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9029700" y="1507239"/>
            <a:ext cx="1140714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066276" y="1507239"/>
            <a:ext cx="1067562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lift ≤ 1.0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29700" y="1764208"/>
            <a:ext cx="1140714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D66E3A"/>
                </a:solidFill>
                <a:latin typeface="Pretendard"/>
              </a:rPr>
              <a:t>배제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0197846" y="1662687"/>
            <a:ext cx="164592" cy="0"/>
          </a:xfrm>
          <a:prstGeom prst="line">
            <a:avLst/>
          </a:prstGeom>
          <a:ln w="1270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10389870" y="1507239"/>
            <a:ext cx="1140714" cy="31089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426446" y="1507239"/>
            <a:ext cx="1067562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FFFFFF"/>
                </a:solidFill>
                <a:latin typeface="Pretendard"/>
              </a:rPr>
              <a:t>실질 회수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89870" y="1764208"/>
            <a:ext cx="1140714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D66E3A"/>
                </a:solidFill>
                <a:latin typeface="Pretendard"/>
              </a:rPr>
              <a:t>90%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9360" y="2009133"/>
            <a:ext cx="5221224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룰별 lift — 다 잡는 룰이 아니라 변별하는 룰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309360" y="2164581"/>
            <a:ext cx="5221224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309360" y="2246877"/>
            <a:ext cx="1143000" cy="1651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L4-04 희소계정쌍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452360" y="2288127"/>
            <a:ext cx="3657599" cy="8260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452360" y="2288127"/>
            <a:ext cx="3657599" cy="82601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155680" y="2246877"/>
            <a:ext cx="329184" cy="1651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810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09360" y="2411978"/>
            <a:ext cx="1143000" cy="1651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L2-05 역분개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452360" y="2453228"/>
            <a:ext cx="3657599" cy="8260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452360" y="2453228"/>
            <a:ext cx="2267711" cy="82601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155680" y="2411978"/>
            <a:ext cx="329184" cy="1651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108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09360" y="2577080"/>
            <a:ext cx="1143000" cy="1651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L1-05 자기승인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452360" y="2618329"/>
            <a:ext cx="3657599" cy="8260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452360" y="2618329"/>
            <a:ext cx="1901951" cy="82601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155680" y="2577080"/>
            <a:ext cx="329184" cy="1651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59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309360" y="2742181"/>
            <a:ext cx="1143000" cy="1651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L2-04 비용자산화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452360" y="2783431"/>
            <a:ext cx="3657599" cy="8260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452360" y="2783431"/>
            <a:ext cx="1719071" cy="82601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155680" y="2742181"/>
            <a:ext cx="329184" cy="1651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40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309360" y="2907282"/>
            <a:ext cx="1143000" cy="1651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L3-09 가수금 체류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452360" y="2948532"/>
            <a:ext cx="3657599" cy="8260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452360" y="2948532"/>
            <a:ext cx="1463039" cy="82601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155680" y="2907282"/>
            <a:ext cx="329184" cy="16510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309360" y="3081528"/>
            <a:ext cx="5221224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3개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48640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22959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좌앵커 + 중앙 lift 막대 + 우 베이스라인 카탈로그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58368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58368" y="3803903"/>
            <a:ext cx="1102818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05000"/>
              </a:lnSpc>
            </a:pPr>
            <a:r>
              <a:rPr sz="1300" b="1" lang="ko-KR">
                <a:solidFill>
                  <a:srgbClr val="15171B"/>
                </a:solidFill>
                <a:latin typeface="Pretendard"/>
              </a:rPr>
              <a:t>810→0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58368" y="4133087"/>
            <a:ext cx="1102818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1" lang="ko-KR">
                <a:solidFill>
                  <a:srgbClr val="D66E3A"/>
                </a:solidFill>
                <a:latin typeface="Pretendard"/>
              </a:rPr>
              <a:t>회수율보다 lift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58368" y="4315967"/>
            <a:ext cx="1102818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30000"/>
              </a:lnSpc>
            </a:pPr>
            <a:r>
              <a:rPr sz="650" b="0" lang="ko-KR">
                <a:solidFill>
                  <a:srgbClr val="555A60"/>
                </a:solidFill>
                <a:latin typeface="Pretendard"/>
              </a:rPr>
              <a:t>다 잡는 룰은 변별하지 않는다. 정상에서 더 자주 뜨는 룰은 실질 회수에서 뺐다.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944066" y="3803903"/>
            <a:ext cx="1914615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룰별 lift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944066" y="3959351"/>
            <a:ext cx="1914615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944066" y="4041647"/>
            <a:ext cx="1051560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L4-04 희소계정쌍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995626" y="4091025"/>
            <a:ext cx="460719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995626" y="4091025"/>
            <a:ext cx="460719" cy="106984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502065" y="4041647"/>
            <a:ext cx="310896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810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944066" y="4247387"/>
            <a:ext cx="1051560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L2-05 역분개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995626" y="4296765"/>
            <a:ext cx="460719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995626" y="4296765"/>
            <a:ext cx="285645" cy="106984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502065" y="4247387"/>
            <a:ext cx="310896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108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944066" y="4453127"/>
            <a:ext cx="1051560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L1-05 자기승인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995626" y="4502505"/>
            <a:ext cx="460719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995626" y="4502505"/>
            <a:ext cx="239573" cy="106984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502065" y="4453127"/>
            <a:ext cx="310896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59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944066" y="4658867"/>
            <a:ext cx="1051560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L2-04 비용자산화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995626" y="4708245"/>
            <a:ext cx="460719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995626" y="4708245"/>
            <a:ext cx="216537" cy="106984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502065" y="4658867"/>
            <a:ext cx="310896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40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944066" y="4864607"/>
            <a:ext cx="1051560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L3-09 가수금 체류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995626" y="4913985"/>
            <a:ext cx="460719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995626" y="4913985"/>
            <a:ext cx="184287" cy="106984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502065" y="4864607"/>
            <a:ext cx="310896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944066" y="5070347"/>
            <a:ext cx="1051560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L3-02 수기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995626" y="5119725"/>
            <a:ext cx="460719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995626" y="5119725"/>
            <a:ext cx="96751" cy="106984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502065" y="5070347"/>
            <a:ext cx="310896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2.3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944066" y="5276087"/>
            <a:ext cx="1051560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L1-07 승인생략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995626" y="5325465"/>
            <a:ext cx="460719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2995626" y="5325465"/>
            <a:ext cx="36857" cy="106984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502065" y="5276087"/>
            <a:ext cx="310896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0.64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944066" y="5481827"/>
            <a:ext cx="1051560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L1-04 외 5종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2995626" y="5531205"/>
            <a:ext cx="460719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2995626" y="5531205"/>
            <a:ext cx="18288" cy="106984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502065" y="5481827"/>
            <a:ext cx="310896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041561" y="3803903"/>
            <a:ext cx="183803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정상 데이터 — 실측 발현율 : 사전 선언 임계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041561" y="3959351"/>
            <a:ext cx="1838030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4041561" y="4041647"/>
            <a:ext cx="735212" cy="163035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078137" y="4041647"/>
            <a:ext cx="662060" cy="16303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L1-07 승인생략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4795061" y="4123165"/>
            <a:ext cx="331030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Rectangle 161"/>
          <p:cNvSpPr/>
          <p:nvPr/>
        </p:nvSpPr>
        <p:spPr>
          <a:xfrm>
            <a:off x="5144379" y="4041647"/>
            <a:ext cx="735212" cy="163035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180955" y="4041647"/>
            <a:ext cx="662060" cy="16303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22.73% [15, 30] 통과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041561" y="4232115"/>
            <a:ext cx="735212" cy="163035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4078137" y="4232115"/>
            <a:ext cx="662060" cy="16303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L3-04 기말결산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4795061" y="4313633"/>
            <a:ext cx="331030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Rectangle 166"/>
          <p:cNvSpPr/>
          <p:nvPr/>
        </p:nvSpPr>
        <p:spPr>
          <a:xfrm>
            <a:off x="5144379" y="4232115"/>
            <a:ext cx="735212" cy="163035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180955" y="4232115"/>
            <a:ext cx="662060" cy="16303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14.14% [10, 20] 통과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041561" y="4422583"/>
            <a:ext cx="735212" cy="163035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078137" y="4422583"/>
            <a:ext cx="662060" cy="16303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L3-02 수기</a:t>
            </a:r>
          </a:p>
        </p:txBody>
      </p:sp>
      <p:cxnSp>
        <p:nvCxnSpPr>
          <p:cNvPr id="171" name="Connector 170"/>
          <p:cNvCxnSpPr/>
          <p:nvPr/>
        </p:nvCxnSpPr>
        <p:spPr>
          <a:xfrm>
            <a:off x="4795061" y="4504100"/>
            <a:ext cx="331030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Rectangle 171"/>
          <p:cNvSpPr/>
          <p:nvPr/>
        </p:nvSpPr>
        <p:spPr>
          <a:xfrm>
            <a:off x="5144379" y="4422583"/>
            <a:ext cx="735212" cy="163035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5180955" y="4422583"/>
            <a:ext cx="662060" cy="16303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8.16% [5, 12] 통과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4041561" y="4613050"/>
            <a:ext cx="735212" cy="163035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4078137" y="4613050"/>
            <a:ext cx="662060" cy="16303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L3-06 심야 입력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4795061" y="4694568"/>
            <a:ext cx="331030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ectangle 176"/>
          <p:cNvSpPr/>
          <p:nvPr/>
        </p:nvSpPr>
        <p:spPr>
          <a:xfrm>
            <a:off x="5144379" y="4613050"/>
            <a:ext cx="735212" cy="163035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5180955" y="4613050"/>
            <a:ext cx="662060" cy="16303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3.25% [1.2, 8] 통과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041561" y="4812662"/>
            <a:ext cx="1838030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2개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041561" y="5096126"/>
            <a:ext cx="183803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두 시험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4041561" y="5269862"/>
            <a:ext cx="891583" cy="417705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078137" y="5269862"/>
            <a:ext cx="818431" cy="41770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베이스라인 28/28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4988008" y="5269862"/>
            <a:ext cx="891583" cy="417705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5024584" y="5269862"/>
            <a:ext cx="818431" cy="41770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단일 룰 29/29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6199632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473952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 두 시험 팬인 + 중앙 lift 막대 + 우 회수 깔때기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309360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309360" y="3803903"/>
            <a:ext cx="1517332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룰이 다 도는가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309360" y="3959351"/>
            <a:ext cx="1517332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6309360" y="4041647"/>
            <a:ext cx="1517332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345936" y="4041647"/>
            <a:ext cx="1444180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정상 베이스라인 28 / 28 통과 · 실패 0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6940010" y="4352543"/>
            <a:ext cx="914" cy="673912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6309360" y="4498847"/>
            <a:ext cx="1517332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345936" y="4498847"/>
            <a:ext cx="1444180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단일 룰 주입 29 / 29 발현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7196042" y="4809743"/>
            <a:ext cx="914" cy="216712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6940010" y="5026456"/>
            <a:ext cx="256032" cy="91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>
            <a:off x="7068026" y="5026456"/>
            <a:ext cx="0" cy="110643"/>
          </a:xfrm>
          <a:prstGeom prst="line">
            <a:avLst/>
          </a:prstGeom>
          <a:ln w="1397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Rectangle 199"/>
          <p:cNvSpPr/>
          <p:nvPr/>
        </p:nvSpPr>
        <p:spPr>
          <a:xfrm>
            <a:off x="6309360" y="5137099"/>
            <a:ext cx="1517332" cy="29260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6345936" y="5137099"/>
            <a:ext cx="1444180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50" b="1" lang="ko-KR">
                <a:solidFill>
                  <a:srgbClr val="FFFFFF"/>
                </a:solidFill>
                <a:latin typeface="Pretendard"/>
              </a:rPr>
              <a:t>룰 29종 전부 실행·발현 확인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009572" y="3803903"/>
            <a:ext cx="182079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룰별 lift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8009572" y="3959351"/>
            <a:ext cx="1820798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8009572" y="4041647"/>
            <a:ext cx="1051560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L4-04 희소계정쌍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9061132" y="4091025"/>
            <a:ext cx="366902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061132" y="4091025"/>
            <a:ext cx="366902" cy="106984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9473755" y="4041647"/>
            <a:ext cx="310896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810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8009572" y="4247387"/>
            <a:ext cx="1051560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L2-05 역분개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9061132" y="4296765"/>
            <a:ext cx="366902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9061132" y="4296765"/>
            <a:ext cx="227479" cy="106984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9473755" y="4247387"/>
            <a:ext cx="310896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108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009572" y="4453127"/>
            <a:ext cx="1051560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L1-05 자기승인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9061132" y="4502505"/>
            <a:ext cx="366902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061132" y="4502505"/>
            <a:ext cx="190789" cy="106984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9473755" y="4453127"/>
            <a:ext cx="310896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59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8009572" y="4658867"/>
            <a:ext cx="1051560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L2-04 비용자산화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9061132" y="4708245"/>
            <a:ext cx="366902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061132" y="4708245"/>
            <a:ext cx="172444" cy="106984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9473755" y="4658867"/>
            <a:ext cx="310896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40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8009572" y="4864607"/>
            <a:ext cx="1051560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L3-09 가수금 체류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9061132" y="4913985"/>
            <a:ext cx="366902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061132" y="4913985"/>
            <a:ext cx="146761" cy="106984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9473755" y="4864607"/>
            <a:ext cx="310896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22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8009572" y="5070347"/>
            <a:ext cx="1051560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L3-02 수기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9061132" y="5119725"/>
            <a:ext cx="366902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061132" y="5119725"/>
            <a:ext cx="77049" cy="106984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9473755" y="5070347"/>
            <a:ext cx="310896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2.3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009572" y="5276087"/>
            <a:ext cx="1051560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L1-07 승인생략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061132" y="5325465"/>
            <a:ext cx="366902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061132" y="5325465"/>
            <a:ext cx="29352" cy="106984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9473755" y="5276087"/>
            <a:ext cx="310896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0.64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8009572" y="5481827"/>
            <a:ext cx="1051560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L1-04 외 5종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9061132" y="5531205"/>
            <a:ext cx="366902" cy="106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061132" y="5531205"/>
            <a:ext cx="18288" cy="106984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9473755" y="5481827"/>
            <a:ext cx="310896" cy="20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0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0013251" y="3803903"/>
            <a:ext cx="1517332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최대 회수 → 실질 회수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10013251" y="3959351"/>
            <a:ext cx="1517332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0013251" y="4041647"/>
            <a:ext cx="1517332" cy="27980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0049827" y="4050791"/>
            <a:ext cx="1444180" cy="1287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주입한 이상 전표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0049827" y="4175955"/>
            <a:ext cx="1444180" cy="13990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D66E3A"/>
                </a:solidFill>
                <a:latin typeface="Pretendard"/>
              </a:rPr>
              <a:t>330건</a:t>
            </a:r>
          </a:p>
        </p:txBody>
      </p:sp>
      <p:cxnSp>
        <p:nvCxnSpPr>
          <p:cNvPr id="241" name="Connector 240"/>
          <p:cNvCxnSpPr/>
          <p:nvPr/>
        </p:nvCxnSpPr>
        <p:spPr>
          <a:xfrm>
            <a:off x="10771917" y="4330598"/>
            <a:ext cx="0" cy="113385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Rectangle 241"/>
          <p:cNvSpPr/>
          <p:nvPr/>
        </p:nvSpPr>
        <p:spPr>
          <a:xfrm>
            <a:off x="10089118" y="4453127"/>
            <a:ext cx="1365599" cy="279806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10125694" y="4462271"/>
            <a:ext cx="1292447" cy="1287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최대 회수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0125694" y="4587435"/>
            <a:ext cx="1292447" cy="13990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D66E3A"/>
                </a:solidFill>
                <a:latin typeface="Pretendard"/>
              </a:rPr>
              <a:t>99.4~100%</a:t>
            </a:r>
          </a:p>
        </p:txBody>
      </p:sp>
      <p:cxnSp>
        <p:nvCxnSpPr>
          <p:cNvPr id="245" name="Connector 244"/>
          <p:cNvCxnSpPr/>
          <p:nvPr/>
        </p:nvCxnSpPr>
        <p:spPr>
          <a:xfrm>
            <a:off x="10771917" y="4742078"/>
            <a:ext cx="0" cy="113386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Rectangle 245"/>
          <p:cNvSpPr/>
          <p:nvPr/>
        </p:nvSpPr>
        <p:spPr>
          <a:xfrm>
            <a:off x="10301544" y="4864607"/>
            <a:ext cx="940746" cy="279806"/>
          </a:xfrm>
          <a:prstGeom prst="rect">
            <a:avLst/>
          </a:prstGeom>
          <a:solidFill>
            <a:srgbClr val="CAC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10338120" y="4873751"/>
            <a:ext cx="867594" cy="1287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lift ≤ 1.0 배제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0338120" y="4998915"/>
            <a:ext cx="867594" cy="13990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D66E3A"/>
                </a:solidFill>
                <a:latin typeface="Pretendard"/>
              </a:rPr>
              <a:t>변별력 상실</a:t>
            </a:r>
          </a:p>
        </p:txBody>
      </p:sp>
      <p:cxnSp>
        <p:nvCxnSpPr>
          <p:cNvPr id="249" name="Connector 248"/>
          <p:cNvCxnSpPr/>
          <p:nvPr/>
        </p:nvCxnSpPr>
        <p:spPr>
          <a:xfrm>
            <a:off x="10771917" y="5153558"/>
            <a:ext cx="0" cy="113386"/>
          </a:xfrm>
          <a:prstGeom prst="line">
            <a:avLst/>
          </a:prstGeom>
          <a:ln w="1143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Rectangle 249"/>
          <p:cNvSpPr/>
          <p:nvPr/>
        </p:nvSpPr>
        <p:spPr>
          <a:xfrm>
            <a:off x="10347064" y="5276088"/>
            <a:ext cx="849706" cy="27980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10383640" y="5285231"/>
            <a:ext cx="776554" cy="1287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1" lang="ko-KR">
                <a:solidFill>
                  <a:srgbClr val="FFFFFF"/>
                </a:solidFill>
                <a:latin typeface="Pretendard"/>
              </a:rPr>
              <a:t>실질 회수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10383640" y="5410395"/>
            <a:ext cx="776554" cy="13990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1" lang="ko-KR">
                <a:solidFill>
                  <a:srgbClr val="FFFFFF"/>
                </a:solidFill>
                <a:latin typeface="Pretendard"/>
              </a:rPr>
              <a:t>296~300건 · 90%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548640" y="6528816"/>
            <a:ext cx="11094415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후보 4개는 전부 같은 내용이다 — 다른 것은 배치·인코딩뿐 · 라벨은 자리에 맞게 접혔다(… 외 N개) · 번호로 회신 (예: S4=1 · S7=3 · S13=전탈락)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731520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8A9099"/>
                </a:solidFill>
                <a:latin typeface="Pretendard"/>
              </a:rPr>
              <a:t>S17 · PART Ⅳ · 형태 후보 4 (내용 동일)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400" b="1" lang="ko-KR">
                <a:solidFill>
                  <a:srgbClr val="15171B"/>
                </a:solidFill>
                <a:latin typeface="Pretendard"/>
              </a:rPr>
              <a:t>검증 ② 검토량은 감사인이 조절한다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11094415" cy="914"/>
          </a:xfrm>
          <a:prstGeom prst="rect">
            <a:avLst/>
          </a:prstGeom>
          <a:noFill/>
          <a:ln w="1778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50" b="1" lang="ko-KR">
                <a:solidFill>
                  <a:srgbClr val="D66E3A"/>
                </a:solidFill>
                <a:latin typeface="Pretendard"/>
              </a:rPr>
              <a:t>초점(채록): 검토량을 감사인이 조절한다 (최우선)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0" lang="ko-KR">
                <a:solidFill>
                  <a:srgbClr val="8A9099"/>
                </a:solidFill>
                <a:latin typeface="Pretendard"/>
              </a:rPr>
              <a:t>담기는 것(고정): 프리셋 5 적중·검토대상·밀도 · AUROC 0.8845(무작위 0.5) · 기여도 39배 · 가공매출 한정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 트레이드오프 곡선 + 우상 게이지 + 우하 기여도 막대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35024"/>
            <a:ext cx="246776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조합이 검토량과 밀도를 맞바꾼다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490472"/>
            <a:ext cx="2467760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" y="1572768"/>
            <a:ext cx="2248304" cy="142646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1572768"/>
            <a:ext cx="182880" cy="14264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8A9099"/>
                </a:solidFill>
                <a:latin typeface="Pretendard"/>
              </a:rPr>
              <a:t>밀 도</a:t>
            </a:r>
          </a:p>
        </p:txBody>
      </p:sp>
      <p:sp>
        <p:nvSpPr>
          <p:cNvPr id="16" name="Oval 15"/>
          <p:cNvSpPr/>
          <p:nvPr/>
        </p:nvSpPr>
        <p:spPr>
          <a:xfrm>
            <a:off x="1087511" y="1755282"/>
            <a:ext cx="91440" cy="91440"/>
          </a:xfrm>
          <a:prstGeom prst="ellipse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1751" y="1471818"/>
            <a:ext cx="822960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비용자산화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1751" y="1599834"/>
            <a:ext cx="822960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0" lang="ko-KR">
                <a:solidFill>
                  <a:srgbClr val="D66E3A"/>
                </a:solidFill>
                <a:latin typeface="Pretendard"/>
              </a:rPr>
              <a:t>234건 · 10.7%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33231" y="1801002"/>
            <a:ext cx="226629" cy="329798"/>
          </a:xfrm>
          <a:prstGeom prst="line">
            <a:avLst/>
          </a:prstGeom>
          <a:ln w="11430">
            <a:solidFill>
              <a:srgbClr val="9697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314140" y="2085080"/>
            <a:ext cx="91440" cy="91440"/>
          </a:xfrm>
          <a:prstGeom prst="ellipse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8380" y="2203952"/>
            <a:ext cx="822960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역분개/은폐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380" y="2331968"/>
            <a:ext cx="822960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0" lang="ko-KR">
                <a:solidFill>
                  <a:srgbClr val="D66E3A"/>
                </a:solidFill>
                <a:latin typeface="Pretendard"/>
              </a:rPr>
              <a:t>1,558건 · 7.0%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246545" y="2130800"/>
            <a:ext cx="113315" cy="184299"/>
          </a:xfrm>
          <a:prstGeom prst="line">
            <a:avLst/>
          </a:prstGeom>
          <a:ln w="11430">
            <a:solidFill>
              <a:srgbClr val="9697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200825" y="2269379"/>
            <a:ext cx="91440" cy="91440"/>
          </a:xfrm>
          <a:prstGeom prst="ellipse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065" y="1985915"/>
            <a:ext cx="822960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수익인식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065" y="2113931"/>
            <a:ext cx="822960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0" lang="ko-KR">
                <a:solidFill>
                  <a:srgbClr val="D66E3A"/>
                </a:solidFill>
                <a:latin typeface="Pretendard"/>
              </a:rPr>
              <a:t>266건 · 4.9%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246545" y="2315099"/>
            <a:ext cx="302173" cy="252199"/>
          </a:xfrm>
          <a:prstGeom prst="line">
            <a:avLst/>
          </a:prstGeom>
          <a:ln w="11430">
            <a:solidFill>
              <a:srgbClr val="9697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502998" y="2521578"/>
            <a:ext cx="91440" cy="91440"/>
          </a:xfrm>
          <a:prstGeom prst="ellipse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7238" y="2640450"/>
            <a:ext cx="822960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추정·관계사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7238" y="2768466"/>
            <a:ext cx="822960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0" lang="ko-KR">
                <a:solidFill>
                  <a:srgbClr val="D66E3A"/>
                </a:solidFill>
                <a:latin typeface="Pretendard"/>
              </a:rPr>
              <a:t>2,040건 · 2.3%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548718" y="2567298"/>
            <a:ext cx="1246459" cy="155199"/>
          </a:xfrm>
          <a:prstGeom prst="line">
            <a:avLst/>
          </a:prstGeom>
          <a:ln w="11430">
            <a:solidFill>
              <a:srgbClr val="9697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749457" y="2676777"/>
            <a:ext cx="91440" cy="91440"/>
          </a:xfrm>
          <a:prstGeom prst="ellipse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03168" y="2393313"/>
            <a:ext cx="822960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결산 손상·충당금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03168" y="2521329"/>
            <a:ext cx="822960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0" lang="ko-KR">
                <a:solidFill>
                  <a:srgbClr val="D66E3A"/>
                </a:solidFill>
                <a:latin typeface="Pretendard"/>
              </a:rPr>
              <a:t>50,200건 · 0.5%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" y="3026664"/>
            <a:ext cx="2248304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r"/>
            <a:r>
              <a:rPr sz="600" b="1" lang="ko-KR">
                <a:solidFill>
                  <a:srgbClr val="8A9099"/>
                </a:solidFill>
                <a:latin typeface="Pretendard"/>
              </a:rPr>
              <a:t>검토 대상 건수 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09008" y="1335024"/>
            <a:ext cx="2570583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VAE 판별력 (가공매출 계열 한정)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09008" y="1490472"/>
            <a:ext cx="2570583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09008" y="1773936"/>
            <a:ext cx="2570583" cy="21945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09008" y="1773936"/>
            <a:ext cx="2273681" cy="219456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94300" y="1682496"/>
            <a:ext cx="914" cy="402336"/>
          </a:xfrm>
          <a:prstGeom prst="rect">
            <a:avLst/>
          </a:prstGeom>
          <a:noFill/>
          <a:ln w="1651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28540" y="1536192"/>
            <a:ext cx="73152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무작위 0.5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09008" y="2048256"/>
            <a:ext cx="2570583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1000" b="1" lang="ko-KR">
                <a:solidFill>
                  <a:srgbClr val="D66E3A"/>
                </a:solidFill>
                <a:latin typeface="Pretendard"/>
              </a:rPr>
              <a:t>AUROC 0.8845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09008" y="2220630"/>
            <a:ext cx="2570583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무엇을 보고 판정했나 — 항목별 기여 배율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09008" y="2376078"/>
            <a:ext cx="2570583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09008" y="2458374"/>
            <a:ext cx="1051560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인도일-증빙일 간격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60568" y="2497304"/>
            <a:ext cx="1134975" cy="7564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60568" y="2497304"/>
            <a:ext cx="1134975" cy="7564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41263" y="2458374"/>
            <a:ext cx="292608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39.0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09008" y="2611876"/>
            <a:ext cx="1051560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대변 금액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60568" y="2650806"/>
            <a:ext cx="1134975" cy="7564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60568" y="2650806"/>
            <a:ext cx="817182" cy="75642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41263" y="2611876"/>
            <a:ext cx="292608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28.1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09008" y="2765379"/>
            <a:ext cx="1051560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차변 금액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60568" y="2804309"/>
            <a:ext cx="1134975" cy="7564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60568" y="2804309"/>
            <a:ext cx="419940" cy="75642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41263" y="2765379"/>
            <a:ext cx="292608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14.6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09008" y="2918881"/>
            <a:ext cx="1051560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전표유형 = KR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60568" y="2957811"/>
            <a:ext cx="1134975" cy="7564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60568" y="2957811"/>
            <a:ext cx="317793" cy="75642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41263" y="2918881"/>
            <a:ext cx="292608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11.1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09008" y="3081528"/>
            <a:ext cx="2570583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2개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99632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73952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상단 프리셋 밀도 막대 + 하단 좁게/넓게 대결 + VAE 2단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09360" y="1335024"/>
            <a:ext cx="5221224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프리셋별 검토 대상 밀도 — 감사인이 고르는 지점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1490472"/>
            <a:ext cx="5221224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9360" y="1572768"/>
            <a:ext cx="1691640" cy="1677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비용자산화 · 234건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01000" y="1614538"/>
            <a:ext cx="3072384" cy="8416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001000" y="1614538"/>
            <a:ext cx="3072384" cy="84163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119104" y="1572768"/>
            <a:ext cx="365760" cy="1677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10.7%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09360" y="1740472"/>
            <a:ext cx="1691640" cy="1677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역분개/은폐 · 1,558건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01000" y="1782243"/>
            <a:ext cx="3072384" cy="8416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001000" y="1782243"/>
            <a:ext cx="1997049" cy="84163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119104" y="1740472"/>
            <a:ext cx="365760" cy="1677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7.0%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09360" y="1908177"/>
            <a:ext cx="1691640" cy="1677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수익인식 · 266건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01000" y="1949948"/>
            <a:ext cx="3072384" cy="8416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001000" y="1949948"/>
            <a:ext cx="1413296" cy="84163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119104" y="1908177"/>
            <a:ext cx="365760" cy="16770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4.9%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09360" y="2085026"/>
            <a:ext cx="5221224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2개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09360" y="2368490"/>
            <a:ext cx="2190584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좁게 볼지 넓게 볼지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523938"/>
            <a:ext cx="2190584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606234"/>
            <a:ext cx="739272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r"/>
            <a:r>
              <a:rPr sz="650" b="1" lang="ko-KR">
                <a:solidFill>
                  <a:srgbClr val="8A9099"/>
                </a:solidFill>
                <a:latin typeface="Pretendard"/>
              </a:rPr>
              <a:t>좁게 — 비용자산화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60671" y="2606234"/>
            <a:ext cx="739272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넓게 — 결산 손상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076064" y="2779970"/>
            <a:ext cx="657175" cy="264981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094352" y="2779970"/>
            <a:ext cx="620599" cy="26498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검토 대상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309360" y="2779970"/>
            <a:ext cx="739272" cy="2649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45936" y="2779970"/>
            <a:ext cx="666120" cy="26498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234건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760671" y="2779970"/>
            <a:ext cx="739272" cy="264981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797247" y="2779970"/>
            <a:ext cx="666120" cy="26498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약 50,200건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9360" y="3081528"/>
            <a:ext cx="2190584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2축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82824" y="2368490"/>
            <a:ext cx="2847759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VAE 판별력과 그 근거 (가공매출 한정)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682824" y="2523938"/>
            <a:ext cx="2847759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682824" y="2807402"/>
            <a:ext cx="1239478" cy="21945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82824" y="2807402"/>
            <a:ext cx="1096319" cy="219456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302563" y="2715962"/>
            <a:ext cx="914" cy="402336"/>
          </a:xfrm>
          <a:prstGeom prst="rect">
            <a:avLst/>
          </a:prstGeom>
          <a:noFill/>
          <a:ln w="1651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36803" y="2569658"/>
            <a:ext cx="73152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무작위 0.5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682824" y="3081722"/>
            <a:ext cx="123947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1000" b="1" lang="ko-KR">
                <a:solidFill>
                  <a:srgbClr val="D66E3A"/>
                </a:solidFill>
                <a:latin typeface="Pretendard"/>
              </a:rPr>
              <a:t>0.8845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105183" y="2606234"/>
            <a:ext cx="960120" cy="15311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인도일-증빙일 간격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1065303" y="2645086"/>
            <a:ext cx="99520" cy="7540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1065303" y="2645086"/>
            <a:ext cx="99520" cy="7540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210544" y="2606234"/>
            <a:ext cx="274320" cy="15311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39.0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105183" y="2759347"/>
            <a:ext cx="960120" cy="15311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대변 금액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065303" y="2798200"/>
            <a:ext cx="99520" cy="7540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065303" y="2798200"/>
            <a:ext cx="71654" cy="75408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210544" y="2759347"/>
            <a:ext cx="274320" cy="15311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28.1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105183" y="2912461"/>
            <a:ext cx="960120" cy="15311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차변 금액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1065303" y="2951313"/>
            <a:ext cx="99520" cy="7540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1065303" y="2951313"/>
            <a:ext cx="36822" cy="75408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1210544" y="2912461"/>
            <a:ext cx="274320" cy="15311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14.6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105183" y="3065574"/>
            <a:ext cx="960120" cy="15311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전표유형 = KR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065303" y="3104426"/>
            <a:ext cx="99520" cy="7540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065303" y="3104426"/>
            <a:ext cx="27865" cy="75408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1210544" y="3065574"/>
            <a:ext cx="274320" cy="15311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11.1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48640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22959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좌앵커 + 중앙 트레이드오프 크게 + 우 게이지/기여도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58368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8368" y="3803903"/>
            <a:ext cx="1120491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05000"/>
              </a:lnSpc>
            </a:pPr>
            <a:r>
              <a:rPr sz="1300" b="1" lang="ko-KR">
                <a:solidFill>
                  <a:srgbClr val="15171B"/>
                </a:solidFill>
                <a:latin typeface="Pretendard"/>
              </a:rPr>
              <a:t>0.2~44%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58368" y="4133087"/>
            <a:ext cx="1120491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1" lang="ko-KR">
                <a:solidFill>
                  <a:srgbClr val="D66E3A"/>
                </a:solidFill>
                <a:latin typeface="Pretendard"/>
              </a:rPr>
              <a:t>검토량을 감사인이 조절한다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58368" y="4315967"/>
            <a:ext cx="1120491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30000"/>
              </a:lnSpc>
            </a:pPr>
            <a:r>
              <a:rPr sz="650" b="0" lang="ko-KR">
                <a:solidFill>
                  <a:srgbClr val="555A60"/>
                </a:solidFill>
                <a:latin typeface="Pretendard"/>
              </a:rPr>
              <a:t>조합에 따라 234건에서 50,200건까지 갈린다. 시스템은 그 지점을 정하지 않는다.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961739" y="3803903"/>
            <a:ext cx="202311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정밀도와 분량의 맞바꿈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961739" y="3959351"/>
            <a:ext cx="2023110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181195" y="4041647"/>
            <a:ext cx="1803654" cy="142646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961739" y="4041647"/>
            <a:ext cx="182880" cy="14264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8A9099"/>
                </a:solidFill>
                <a:latin typeface="Pretendard"/>
              </a:rPr>
              <a:t>밀 도</a:t>
            </a:r>
          </a:p>
        </p:txBody>
      </p:sp>
      <p:sp>
        <p:nvSpPr>
          <p:cNvPr id="128" name="Oval 127"/>
          <p:cNvSpPr/>
          <p:nvPr/>
        </p:nvSpPr>
        <p:spPr>
          <a:xfrm>
            <a:off x="2340370" y="4224162"/>
            <a:ext cx="91440" cy="91440"/>
          </a:xfrm>
          <a:prstGeom prst="ellipse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974610" y="3940698"/>
            <a:ext cx="822960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비용자산화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974610" y="4068714"/>
            <a:ext cx="822960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0" lang="ko-KR">
                <a:solidFill>
                  <a:srgbClr val="D66E3A"/>
                </a:solidFill>
                <a:latin typeface="Pretendard"/>
              </a:rPr>
              <a:t>234건 · 10.7%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2386090" y="4269882"/>
            <a:ext cx="181809" cy="329798"/>
          </a:xfrm>
          <a:prstGeom prst="line">
            <a:avLst/>
          </a:prstGeom>
          <a:ln w="11430">
            <a:solidFill>
              <a:srgbClr val="9697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2522179" y="4553960"/>
            <a:ext cx="91440" cy="91440"/>
          </a:xfrm>
          <a:prstGeom prst="ellipse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156419" y="4672832"/>
            <a:ext cx="822960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역분개/은폐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156419" y="4800848"/>
            <a:ext cx="822960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0" lang="ko-KR">
                <a:solidFill>
                  <a:srgbClr val="D66E3A"/>
                </a:solidFill>
                <a:latin typeface="Pretendard"/>
              </a:rPr>
              <a:t>1,558건 · 7.0%</a:t>
            </a:r>
          </a:p>
        </p:txBody>
      </p:sp>
      <p:cxnSp>
        <p:nvCxnSpPr>
          <p:cNvPr id="135" name="Connector 134"/>
          <p:cNvCxnSpPr/>
          <p:nvPr/>
        </p:nvCxnSpPr>
        <p:spPr>
          <a:xfrm flipH="1">
            <a:off x="2476994" y="4599680"/>
            <a:ext cx="90905" cy="184299"/>
          </a:xfrm>
          <a:prstGeom prst="line">
            <a:avLst/>
          </a:prstGeom>
          <a:ln w="11430">
            <a:solidFill>
              <a:srgbClr val="9697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Oval 135"/>
          <p:cNvSpPr/>
          <p:nvPr/>
        </p:nvSpPr>
        <p:spPr>
          <a:xfrm>
            <a:off x="2431274" y="4738259"/>
            <a:ext cx="91440" cy="91440"/>
          </a:xfrm>
          <a:prstGeom prst="ellipse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065514" y="4454795"/>
            <a:ext cx="822960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수익인식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065514" y="4582811"/>
            <a:ext cx="822960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0" lang="ko-KR">
                <a:solidFill>
                  <a:srgbClr val="D66E3A"/>
                </a:solidFill>
                <a:latin typeface="Pretendard"/>
              </a:rPr>
              <a:t>266건 · 4.9%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2476994" y="4783979"/>
            <a:ext cx="242412" cy="252199"/>
          </a:xfrm>
          <a:prstGeom prst="line">
            <a:avLst/>
          </a:prstGeom>
          <a:ln w="11430">
            <a:solidFill>
              <a:srgbClr val="9697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Oval 139"/>
          <p:cNvSpPr/>
          <p:nvPr/>
        </p:nvSpPr>
        <p:spPr>
          <a:xfrm>
            <a:off x="2673686" y="4990458"/>
            <a:ext cx="91440" cy="91440"/>
          </a:xfrm>
          <a:prstGeom prst="ellipse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307926" y="5109330"/>
            <a:ext cx="822960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추정·관계사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307926" y="5237346"/>
            <a:ext cx="822960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0" lang="ko-KR">
                <a:solidFill>
                  <a:srgbClr val="D66E3A"/>
                </a:solidFill>
                <a:latin typeface="Pretendard"/>
              </a:rPr>
              <a:t>2,040건 · 2.3%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2719406" y="5036178"/>
            <a:ext cx="999945" cy="155199"/>
          </a:xfrm>
          <a:prstGeom prst="line">
            <a:avLst/>
          </a:prstGeom>
          <a:ln w="11430">
            <a:solidFill>
              <a:srgbClr val="9697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Oval 143"/>
          <p:cNvSpPr/>
          <p:nvPr/>
        </p:nvSpPr>
        <p:spPr>
          <a:xfrm>
            <a:off x="3673631" y="5145657"/>
            <a:ext cx="91440" cy="91440"/>
          </a:xfrm>
          <a:prstGeom prst="ellipse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161889" y="4862193"/>
            <a:ext cx="822960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결산 손상·충당금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161889" y="4990209"/>
            <a:ext cx="822960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0" lang="ko-KR">
                <a:solidFill>
                  <a:srgbClr val="D66E3A"/>
                </a:solidFill>
                <a:latin typeface="Pretendard"/>
              </a:rPr>
              <a:t>50,200건 · 0.5%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181195" y="5495544"/>
            <a:ext cx="1803654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r"/>
            <a:r>
              <a:rPr sz="600" b="1" lang="ko-KR">
                <a:solidFill>
                  <a:srgbClr val="8A9099"/>
                </a:solidFill>
                <a:latin typeface="Pretendard"/>
              </a:rPr>
              <a:t>검토 대상 건수 →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167729" y="3803903"/>
            <a:ext cx="1711862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VAE 판별력 (가공매출 한정)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167729" y="3959351"/>
            <a:ext cx="1711862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4167729" y="4242815"/>
            <a:ext cx="1711862" cy="21945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4167729" y="4242815"/>
            <a:ext cx="1514142" cy="219456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023660" y="4151375"/>
            <a:ext cx="914" cy="402336"/>
          </a:xfrm>
          <a:prstGeom prst="rect">
            <a:avLst/>
          </a:prstGeom>
          <a:noFill/>
          <a:ln w="1651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657900" y="4005071"/>
            <a:ext cx="73152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무작위 0.5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167729" y="4517135"/>
            <a:ext cx="1711862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1000" b="1" lang="ko-KR">
                <a:solidFill>
                  <a:srgbClr val="D66E3A"/>
                </a:solidFill>
                <a:latin typeface="Pretendard"/>
              </a:rPr>
              <a:t>AUROC 0.8845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167729" y="4689510"/>
            <a:ext cx="1711862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항목별 기여 배율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167729" y="4844958"/>
            <a:ext cx="1711862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167729" y="4927254"/>
            <a:ext cx="1005840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인도일-증빙일 간격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5173569" y="4966184"/>
            <a:ext cx="321974" cy="7564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5173569" y="4966184"/>
            <a:ext cx="321974" cy="7564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541264" y="4927254"/>
            <a:ext cx="292608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39.0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167729" y="5080756"/>
            <a:ext cx="1005840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대변 금액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173569" y="5119686"/>
            <a:ext cx="321974" cy="7564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5173569" y="5119686"/>
            <a:ext cx="231821" cy="75642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541264" y="5080756"/>
            <a:ext cx="292608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28.1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167729" y="5234259"/>
            <a:ext cx="1005840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차변 금액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173569" y="5273189"/>
            <a:ext cx="321974" cy="7564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5173569" y="5273189"/>
            <a:ext cx="119130" cy="75642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541264" y="5234259"/>
            <a:ext cx="292608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14.6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167729" y="5387761"/>
            <a:ext cx="1005840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전표유형 = KR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173569" y="5426691"/>
            <a:ext cx="321974" cy="7564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5173569" y="5426691"/>
            <a:ext cx="90152" cy="75642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5541264" y="5387761"/>
            <a:ext cx="292608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11.1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167729" y="5550407"/>
            <a:ext cx="1711862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2개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99632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473952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 좁게/넓게 분기 + 중앙 프리셋 카탈로그 + 우 게이지/기여도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6309360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6309360" y="3803903"/>
            <a:ext cx="1517332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좁게 / 넓게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309360" y="3959351"/>
            <a:ext cx="1517332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6461093" y="4041647"/>
            <a:ext cx="1213866" cy="263347"/>
          </a:xfrm>
          <a:prstGeom prst="round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497669" y="4041647"/>
            <a:ext cx="1140713" cy="26334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50" b="1" lang="ko-KR">
                <a:solidFill>
                  <a:srgbClr val="FFFFFF"/>
                </a:solidFill>
                <a:latin typeface="Pretendard"/>
              </a:rPr>
              <a:t>전표 약 11만 건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068026" y="4304995"/>
            <a:ext cx="914" cy="14630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6650759" y="4451299"/>
            <a:ext cx="834532" cy="91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6650759" y="4451299"/>
            <a:ext cx="914" cy="102412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7485292" y="4451299"/>
            <a:ext cx="914" cy="102412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309360" y="4553712"/>
            <a:ext cx="682799" cy="252983"/>
          </a:xfrm>
          <a:prstGeom prst="rect">
            <a:avLst/>
          </a:prstGeom>
          <a:solidFill>
            <a:srgbClr val="F2F3F5"/>
          </a:solidFill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345936" y="4553712"/>
            <a:ext cx="609647" cy="25298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비용자산화 조합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309360" y="4834128"/>
            <a:ext cx="682799" cy="252983"/>
          </a:xfrm>
          <a:prstGeom prst="rect">
            <a:avLst/>
          </a:prstGeom>
          <a:solidFill>
            <a:srgbClr val="F2F3F5"/>
          </a:solidFill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345936" y="4834128"/>
            <a:ext cx="609647" cy="25298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검토 234건</a:t>
            </a:r>
          </a:p>
        </p:txBody>
      </p:sp>
      <p:cxnSp>
        <p:nvCxnSpPr>
          <p:cNvPr id="191" name="Connector 190"/>
          <p:cNvCxnSpPr/>
          <p:nvPr/>
        </p:nvCxnSpPr>
        <p:spPr>
          <a:xfrm>
            <a:off x="6650759" y="4806695"/>
            <a:ext cx="0" cy="18289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Rectangle 191"/>
          <p:cNvSpPr/>
          <p:nvPr/>
        </p:nvSpPr>
        <p:spPr>
          <a:xfrm>
            <a:off x="6309360" y="5114544"/>
            <a:ext cx="682799" cy="252983"/>
          </a:xfrm>
          <a:prstGeom prst="rect">
            <a:avLst/>
          </a:prstGeom>
          <a:solidFill>
            <a:srgbClr val="F2F3F5"/>
          </a:solidFill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345936" y="5114544"/>
            <a:ext cx="609647" cy="25298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적중 25 · 10.7%</a:t>
            </a:r>
          </a:p>
        </p:txBody>
      </p:sp>
      <p:cxnSp>
        <p:nvCxnSpPr>
          <p:cNvPr id="194" name="Connector 193"/>
          <p:cNvCxnSpPr/>
          <p:nvPr/>
        </p:nvCxnSpPr>
        <p:spPr>
          <a:xfrm>
            <a:off x="6650759" y="5087111"/>
            <a:ext cx="0" cy="18289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650759" y="5367527"/>
            <a:ext cx="0" cy="45721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6445919" y="5422392"/>
            <a:ext cx="409679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482495" y="5422392"/>
            <a:ext cx="336527" cy="2377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8A9099"/>
                </a:solidFill>
                <a:latin typeface="Pretendard"/>
              </a:rPr>
              <a:t>좁게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7143892" y="4553712"/>
            <a:ext cx="682799" cy="252983"/>
          </a:xfrm>
          <a:prstGeom prst="rect">
            <a:avLst/>
          </a:prstGeom>
          <a:solidFill>
            <a:srgbClr val="FFFFFF"/>
          </a:solidFill>
          <a:ln w="1143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7180468" y="4553712"/>
            <a:ext cx="609647" cy="25298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결산 손상·충당금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143892" y="4834128"/>
            <a:ext cx="682799" cy="252983"/>
          </a:xfrm>
          <a:prstGeom prst="rect">
            <a:avLst/>
          </a:prstGeom>
          <a:solidFill>
            <a:srgbClr val="FFFFFF"/>
          </a:solidFill>
          <a:ln w="1143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7180468" y="4834128"/>
            <a:ext cx="609647" cy="25298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검토 50,200건</a:t>
            </a:r>
          </a:p>
        </p:txBody>
      </p:sp>
      <p:cxnSp>
        <p:nvCxnSpPr>
          <p:cNvPr id="202" name="Connector 201"/>
          <p:cNvCxnSpPr/>
          <p:nvPr/>
        </p:nvCxnSpPr>
        <p:spPr>
          <a:xfrm>
            <a:off x="7485292" y="4806695"/>
            <a:ext cx="0" cy="18289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Rectangle 202"/>
          <p:cNvSpPr/>
          <p:nvPr/>
        </p:nvSpPr>
        <p:spPr>
          <a:xfrm>
            <a:off x="7143892" y="5114544"/>
            <a:ext cx="682799" cy="252983"/>
          </a:xfrm>
          <a:prstGeom prst="rect">
            <a:avLst/>
          </a:prstGeom>
          <a:solidFill>
            <a:srgbClr val="FFFFFF"/>
          </a:solidFill>
          <a:ln w="1143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7180468" y="5114544"/>
            <a:ext cx="609647" cy="25298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적중 229~241 · 0.5%</a:t>
            </a:r>
          </a:p>
        </p:txBody>
      </p:sp>
      <p:cxnSp>
        <p:nvCxnSpPr>
          <p:cNvPr id="205" name="Connector 204"/>
          <p:cNvCxnSpPr/>
          <p:nvPr/>
        </p:nvCxnSpPr>
        <p:spPr>
          <a:xfrm>
            <a:off x="7485292" y="5087111"/>
            <a:ext cx="0" cy="18289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7485292" y="5367527"/>
            <a:ext cx="0" cy="45721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Oval 206"/>
          <p:cNvSpPr/>
          <p:nvPr/>
        </p:nvSpPr>
        <p:spPr>
          <a:xfrm>
            <a:off x="7280452" y="5422392"/>
            <a:ext cx="409679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7317028" y="5422392"/>
            <a:ext cx="336527" cy="2377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D66E3A"/>
                </a:solidFill>
                <a:latin typeface="Pretendard"/>
              </a:rPr>
              <a:t>넓게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8009572" y="3803903"/>
            <a:ext cx="1744932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프리셋 5종 — 적중 : 검토 대상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8009572" y="3959351"/>
            <a:ext cx="1744932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8009572" y="4041647"/>
            <a:ext cx="628175" cy="30175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8046148" y="4041647"/>
            <a:ext cx="555023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비용자산화</a:t>
            </a:r>
          </a:p>
        </p:txBody>
      </p:sp>
      <p:cxnSp>
        <p:nvCxnSpPr>
          <p:cNvPr id="213" name="Connector 212"/>
          <p:cNvCxnSpPr/>
          <p:nvPr/>
        </p:nvCxnSpPr>
        <p:spPr>
          <a:xfrm>
            <a:off x="8656036" y="4192523"/>
            <a:ext cx="452005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>
            <a:off x="8637748" y="4055363"/>
            <a:ext cx="488581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D66E3A"/>
                </a:solidFill>
                <a:latin typeface="Pretendard"/>
              </a:rPr>
              <a:t>적중 25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9126329" y="4041647"/>
            <a:ext cx="628175" cy="301751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9162905" y="4041647"/>
            <a:ext cx="555023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234건 · 10.7%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8009572" y="4370831"/>
            <a:ext cx="628175" cy="30175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8046148" y="4370831"/>
            <a:ext cx="555023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역분개/은폐</a:t>
            </a:r>
          </a:p>
        </p:txBody>
      </p:sp>
      <p:cxnSp>
        <p:nvCxnSpPr>
          <p:cNvPr id="219" name="Connector 218"/>
          <p:cNvCxnSpPr/>
          <p:nvPr/>
        </p:nvCxnSpPr>
        <p:spPr>
          <a:xfrm>
            <a:off x="8656036" y="4521707"/>
            <a:ext cx="452005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TextBox 219"/>
          <p:cNvSpPr txBox="1"/>
          <p:nvPr/>
        </p:nvSpPr>
        <p:spPr>
          <a:xfrm>
            <a:off x="8637748" y="4384547"/>
            <a:ext cx="488581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D66E3A"/>
                </a:solidFill>
                <a:latin typeface="Pretendard"/>
              </a:rPr>
              <a:t>108~111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9126329" y="4370831"/>
            <a:ext cx="628175" cy="301751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9162905" y="4370831"/>
            <a:ext cx="555023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1,558건 · 7.0%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8009572" y="4700015"/>
            <a:ext cx="628175" cy="30175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8046148" y="4700015"/>
            <a:ext cx="555023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수익인식</a:t>
            </a:r>
          </a:p>
        </p:txBody>
      </p:sp>
      <p:cxnSp>
        <p:nvCxnSpPr>
          <p:cNvPr id="225" name="Connector 224"/>
          <p:cNvCxnSpPr/>
          <p:nvPr/>
        </p:nvCxnSpPr>
        <p:spPr>
          <a:xfrm>
            <a:off x="8656036" y="4850891"/>
            <a:ext cx="452005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TextBox 225"/>
          <p:cNvSpPr txBox="1"/>
          <p:nvPr/>
        </p:nvSpPr>
        <p:spPr>
          <a:xfrm>
            <a:off x="8637748" y="4713731"/>
            <a:ext cx="488581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D66E3A"/>
                </a:solidFill>
                <a:latin typeface="Pretendard"/>
              </a:rPr>
              <a:t>12~14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9126329" y="4700015"/>
            <a:ext cx="628175" cy="301751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9162905" y="4700015"/>
            <a:ext cx="555023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266건 · 4.9%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8009572" y="5029199"/>
            <a:ext cx="628175" cy="30175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8046148" y="5029199"/>
            <a:ext cx="555023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추정·관계사</a:t>
            </a:r>
          </a:p>
        </p:txBody>
      </p:sp>
      <p:cxnSp>
        <p:nvCxnSpPr>
          <p:cNvPr id="231" name="Connector 230"/>
          <p:cNvCxnSpPr/>
          <p:nvPr/>
        </p:nvCxnSpPr>
        <p:spPr>
          <a:xfrm>
            <a:off x="8656036" y="5180075"/>
            <a:ext cx="452005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TextBox 231"/>
          <p:cNvSpPr txBox="1"/>
          <p:nvPr/>
        </p:nvSpPr>
        <p:spPr>
          <a:xfrm>
            <a:off x="8637748" y="5042915"/>
            <a:ext cx="488581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D66E3A"/>
                </a:solidFill>
                <a:latin typeface="Pretendard"/>
              </a:rPr>
              <a:t>46~47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9126329" y="5029199"/>
            <a:ext cx="628175" cy="301751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9162905" y="5029199"/>
            <a:ext cx="555023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2,040건 · 2.3%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8009572" y="5358383"/>
            <a:ext cx="628175" cy="30175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8046148" y="5358383"/>
            <a:ext cx="555023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결산 손상·충당금</a:t>
            </a:r>
          </a:p>
        </p:txBody>
      </p:sp>
      <p:cxnSp>
        <p:nvCxnSpPr>
          <p:cNvPr id="237" name="Connector 236"/>
          <p:cNvCxnSpPr/>
          <p:nvPr/>
        </p:nvCxnSpPr>
        <p:spPr>
          <a:xfrm>
            <a:off x="8656036" y="5509259"/>
            <a:ext cx="452005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TextBox 237"/>
          <p:cNvSpPr txBox="1"/>
          <p:nvPr/>
        </p:nvSpPr>
        <p:spPr>
          <a:xfrm>
            <a:off x="8637748" y="5372099"/>
            <a:ext cx="488581" cy="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D66E3A"/>
                </a:solidFill>
                <a:latin typeface="Pretendard"/>
              </a:rPr>
              <a:t>229~241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9126329" y="5358383"/>
            <a:ext cx="628175" cy="301751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9162905" y="5358383"/>
            <a:ext cx="555023" cy="30175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50,200건 · 0.5%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9937384" y="3803903"/>
            <a:ext cx="1593199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VAE 판별력 (가공매출 한정)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9937384" y="3959351"/>
            <a:ext cx="1593199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937384" y="4242815"/>
            <a:ext cx="1593199" cy="21945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937384" y="4242815"/>
            <a:ext cx="1409184" cy="219456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10733984" y="4151375"/>
            <a:ext cx="914" cy="402336"/>
          </a:xfrm>
          <a:prstGeom prst="rect">
            <a:avLst/>
          </a:prstGeom>
          <a:noFill/>
          <a:ln w="1651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10368224" y="4005071"/>
            <a:ext cx="73152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무작위 0.5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9937384" y="4517135"/>
            <a:ext cx="1593199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1000" b="1" lang="ko-KR">
                <a:solidFill>
                  <a:srgbClr val="D66E3A"/>
                </a:solidFill>
                <a:latin typeface="Pretendard"/>
              </a:rPr>
              <a:t>AUROC 0.8845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937384" y="4689510"/>
            <a:ext cx="1593199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기여 배율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9937384" y="4844958"/>
            <a:ext cx="1593199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9937384" y="4927254"/>
            <a:ext cx="1005840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인도일-증빙일 간격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10943224" y="4966184"/>
            <a:ext cx="203311" cy="7564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0943224" y="4966184"/>
            <a:ext cx="203311" cy="7564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11192256" y="4927254"/>
            <a:ext cx="292608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D66E3A"/>
                </a:solidFill>
                <a:latin typeface="Pretendard"/>
              </a:rPr>
              <a:t>39.0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9937384" y="5080756"/>
            <a:ext cx="1005840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대변 금액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10943224" y="5119686"/>
            <a:ext cx="203311" cy="7564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10943224" y="5119686"/>
            <a:ext cx="146384" cy="75642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11192256" y="5080756"/>
            <a:ext cx="292608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28.1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9937384" y="5234259"/>
            <a:ext cx="1005840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차변 금액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0943224" y="5273189"/>
            <a:ext cx="203311" cy="7564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0943224" y="5273189"/>
            <a:ext cx="75225" cy="75642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11192256" y="5234259"/>
            <a:ext cx="292608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14.6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9937384" y="5387761"/>
            <a:ext cx="1005840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15171B"/>
                </a:solidFill>
                <a:latin typeface="Pretendard"/>
              </a:rPr>
              <a:t>전표유형 = KR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10943224" y="5426691"/>
            <a:ext cx="203311" cy="7564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0943224" y="5426691"/>
            <a:ext cx="56927" cy="75642"/>
          </a:xfrm>
          <a:prstGeom prst="rect">
            <a:avLst/>
          </a:prstGeom>
          <a:solidFill>
            <a:srgbClr val="67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11192256" y="5387761"/>
            <a:ext cx="292608" cy="15350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0" lang="ko-KR">
                <a:solidFill>
                  <a:srgbClr val="8A9099"/>
                </a:solidFill>
                <a:latin typeface="Pretendard"/>
              </a:rPr>
              <a:t>11.1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9937384" y="5550407"/>
            <a:ext cx="1593199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2개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548640" y="6528816"/>
            <a:ext cx="11094415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후보 4개는 전부 같은 내용이다 — 다른 것은 배치·인코딩뿐 · 라벨은 자리에 맞게 접혔다(… 외 N개) · 번호로 회신 (예: S4=1 · S7=3 · S13=전탈락)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731520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8A9099"/>
                </a:solidFill>
                <a:latin typeface="Pretendard"/>
              </a:rPr>
              <a:t>S19 · PART Ⅴ · 형태 후보 4 (내용 동일)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400" b="1" lang="ko-KR">
                <a:solidFill>
                  <a:srgbClr val="15171B"/>
                </a:solidFill>
                <a:latin typeface="Pretendard"/>
              </a:rPr>
              <a:t>빼는 것도 근거로 뺀다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11094415" cy="914"/>
          </a:xfrm>
          <a:prstGeom prst="rect">
            <a:avLst/>
          </a:prstGeom>
          <a:noFill/>
          <a:ln w="1778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50" b="1" lang="ko-KR">
                <a:solidFill>
                  <a:srgbClr val="D66E3A"/>
                </a:solidFill>
                <a:latin typeface="Pretendard"/>
              </a:rPr>
              <a:t>초점(채록): 빼는 것도 근거로 뺀다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0" lang="ko-KR">
                <a:solidFill>
                  <a:srgbClr val="8A9099"/>
                </a:solidFill>
                <a:latin typeface="Pretendard"/>
              </a:rPr>
              <a:t>담기는 것(고정): 제외 4건:사유 · 등급 폐지 전/후 3축 · 한계 6(2계열) · 스택 9계층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 제외 카탈로그 + 중앙 전/후 대결 + 우 한계 2계열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35024"/>
            <a:ext cx="1718087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무엇을 왜 뺐나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490472"/>
            <a:ext cx="1718087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1572768"/>
            <a:ext cx="687234" cy="181129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72768"/>
            <a:ext cx="614082" cy="18112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관계 분석 · 순환거래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63890" y="1663332"/>
            <a:ext cx="307042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689220" y="1572768"/>
            <a:ext cx="687234" cy="181129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25796" y="1572768"/>
            <a:ext cx="614082" cy="18112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사유 단일 법인 전표로는 불가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1781329"/>
            <a:ext cx="687234" cy="181129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1781329"/>
            <a:ext cx="614082" cy="18112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다중 모델 앙상블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63890" y="1871893"/>
            <a:ext cx="307042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689220" y="1781329"/>
            <a:ext cx="687234" cy="181129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25796" y="1781329"/>
            <a:ext cx="614082" cy="18112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사유 주입 규칙만 외우는 순환 학습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1989890"/>
            <a:ext cx="687234" cy="181129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1989890"/>
            <a:ext cx="614082" cy="18112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LLM 서술 생성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63890" y="2080454"/>
            <a:ext cx="307042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689220" y="1989890"/>
            <a:ext cx="687234" cy="181129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25796" y="1989890"/>
            <a:ext cx="614082" cy="18112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사유 외부 API에 전표 전송 금지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2198451"/>
            <a:ext cx="687234" cy="181129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2198451"/>
            <a:ext cx="614082" cy="18112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자동 위험 등급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363890" y="2289015"/>
            <a:ext cx="307042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689220" y="2198451"/>
            <a:ext cx="687234" cy="181129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25796" y="2198451"/>
            <a:ext cx="614082" cy="18112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사유 가중치 배점이 임의적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2553316"/>
            <a:ext cx="1718087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구현 못한 게 아니라 근거가 서지 않아 안 하기로 한 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2727052"/>
            <a:ext cx="536119" cy="491635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2727052"/>
            <a:ext cx="462967" cy="49163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데이터 한계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49351" y="2727052"/>
            <a:ext cx="536119" cy="491635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5927" y="2727052"/>
            <a:ext cx="462967" cy="49163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순환 학습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40335" y="2727052"/>
            <a:ext cx="536119" cy="491635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76911" y="2727052"/>
            <a:ext cx="462967" cy="49163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15171B"/>
                </a:solidFill>
                <a:latin typeface="Pretendard"/>
              </a:rPr>
              <a:t>보안 제약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9335" y="1335024"/>
            <a:ext cx="156868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위험 등급 폐지 — 판단 주체가 옮겨간다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59335" y="1490472"/>
            <a:ext cx="1568688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59335" y="1572768"/>
            <a:ext cx="52160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r"/>
            <a:r>
              <a:rPr sz="650" b="1" lang="ko-KR">
                <a:solidFill>
                  <a:srgbClr val="8A9099"/>
                </a:solidFill>
                <a:latin typeface="Pretendard"/>
              </a:rPr>
              <a:t>변경 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06414" y="1572768"/>
            <a:ext cx="52160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변경 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08376" y="1746504"/>
            <a:ext cx="470606" cy="31089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26664" y="1746504"/>
            <a:ext cx="434030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산출 방식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59335" y="1746504"/>
            <a:ext cx="521608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95911" y="1746504"/>
            <a:ext cx="448456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등급 자동 부여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06414" y="1746504"/>
            <a:ext cx="52160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42990" y="1746504"/>
            <a:ext cx="448456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시스템 등급화 폐지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08376" y="2148840"/>
            <a:ext cx="470606" cy="31089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26664" y="2148840"/>
            <a:ext cx="434030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산출 근거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59335" y="2148840"/>
            <a:ext cx="521608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95911" y="2148840"/>
            <a:ext cx="448456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주관적 가중치 배점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06414" y="2148840"/>
            <a:ext cx="52160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42990" y="2148840"/>
            <a:ext cx="448456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감리 건수·기준서 원문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08376" y="2551176"/>
            <a:ext cx="470606" cy="31089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26664" y="2551176"/>
            <a:ext cx="434030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판단 주체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59335" y="2551176"/>
            <a:ext cx="521608" cy="31089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95911" y="2551176"/>
            <a:ext cx="448456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시스템이 위험 선언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06414" y="2551176"/>
            <a:ext cx="52160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42990" y="2551176"/>
            <a:ext cx="448456" cy="31089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감사인이 최종 판단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10903" y="1335024"/>
            <a:ext cx="156868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한계 6가지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10903" y="1490472"/>
            <a:ext cx="1568688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467772" y="1572768"/>
            <a:ext cx="1254950" cy="263347"/>
          </a:xfrm>
          <a:prstGeom prst="round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04348" y="1572768"/>
            <a:ext cx="1181798" cy="263347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50" b="1" lang="ko-KR">
                <a:solidFill>
                  <a:srgbClr val="FFFFFF"/>
                </a:solidFill>
                <a:latin typeface="Pretendard"/>
              </a:rPr>
              <a:t>한계 6가지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95247" y="1836115"/>
            <a:ext cx="914" cy="14630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663858" y="1982419"/>
            <a:ext cx="862778" cy="91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663858" y="1982419"/>
            <a:ext cx="914" cy="102412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526637" y="1982419"/>
            <a:ext cx="914" cy="102412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10903" y="2084832"/>
            <a:ext cx="705909" cy="252984"/>
          </a:xfrm>
          <a:prstGeom prst="rect">
            <a:avLst/>
          </a:prstGeom>
          <a:solidFill>
            <a:srgbClr val="F2F3F5"/>
          </a:solidFill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47479" y="2084832"/>
            <a:ext cx="632757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합성 데이터 기반 검증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10903" y="2365248"/>
            <a:ext cx="705909" cy="252984"/>
          </a:xfrm>
          <a:prstGeom prst="rect">
            <a:avLst/>
          </a:prstGeom>
          <a:solidFill>
            <a:srgbClr val="F2F3F5"/>
          </a:solidFill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47479" y="2365248"/>
            <a:ext cx="632757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정답 데이터 자체 주입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4663858" y="2337816"/>
            <a:ext cx="0" cy="18288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4310903" y="2645664"/>
            <a:ext cx="705909" cy="252984"/>
          </a:xfrm>
          <a:prstGeom prst="rect">
            <a:avLst/>
          </a:prstGeom>
          <a:solidFill>
            <a:srgbClr val="F2F3F5"/>
          </a:solidFill>
          <a:ln w="1143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47479" y="2645664"/>
            <a:ext cx="632757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판정 기준 내부 산출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4663858" y="2618232"/>
            <a:ext cx="0" cy="18288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63858" y="2898648"/>
            <a:ext cx="0" cy="4572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4347479" y="2953512"/>
            <a:ext cx="649436" cy="23774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84055" y="2953512"/>
            <a:ext cx="576284" cy="2377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8A9099"/>
                </a:solidFill>
                <a:latin typeface="Pretendard"/>
              </a:rPr>
              <a:t>데이터로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173682" y="2084832"/>
            <a:ext cx="705909" cy="252984"/>
          </a:xfrm>
          <a:prstGeom prst="rect">
            <a:avLst/>
          </a:prstGeom>
          <a:solidFill>
            <a:srgbClr val="FFFFFF"/>
          </a:solidFill>
          <a:ln w="1143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210258" y="2084832"/>
            <a:ext cx="632757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단일 법인 단일 소스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73682" y="2365248"/>
            <a:ext cx="705909" cy="252984"/>
          </a:xfrm>
          <a:prstGeom prst="rect">
            <a:avLst/>
          </a:prstGeom>
          <a:solidFill>
            <a:srgbClr val="FFFFFF"/>
          </a:solidFill>
          <a:ln w="1143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210258" y="2365248"/>
            <a:ext cx="632757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치밀한 조작 검증 불가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5526637" y="2337816"/>
            <a:ext cx="0" cy="18288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5173682" y="2645664"/>
            <a:ext cx="705909" cy="252984"/>
          </a:xfrm>
          <a:prstGeom prst="rect">
            <a:avLst/>
          </a:prstGeom>
          <a:solidFill>
            <a:srgbClr val="FFFFFF"/>
          </a:solidFill>
          <a:ln w="1143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210258" y="2645664"/>
            <a:ext cx="632757" cy="25298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VAE 탐지 편향성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5526637" y="2618232"/>
            <a:ext cx="0" cy="18288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526637" y="2898648"/>
            <a:ext cx="0" cy="4572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5210258" y="2953512"/>
            <a:ext cx="649436" cy="23774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246834" y="2953512"/>
            <a:ext cx="576284" cy="2377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D66E3A"/>
                </a:solidFill>
                <a:latin typeface="Pretendard"/>
              </a:rPr>
              <a:t>원리적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99632" y="96926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99632" y="96926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73952" y="96926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2×2 구획 — 제외 / 전·후 / 한계 칩 / 스택 칩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1216152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1335024"/>
            <a:ext cx="269492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무엇을 왜 뺐나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309360" y="1490472"/>
            <a:ext cx="2694928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309360" y="1572768"/>
            <a:ext cx="1077971" cy="21488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45936" y="1572768"/>
            <a:ext cx="1004819" cy="21488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관계 분석 · 순환거래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7405619" y="1680210"/>
            <a:ext cx="502409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 102"/>
          <p:cNvSpPr/>
          <p:nvPr/>
        </p:nvSpPr>
        <p:spPr>
          <a:xfrm>
            <a:off x="7926316" y="1572768"/>
            <a:ext cx="1077971" cy="214883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962892" y="1572768"/>
            <a:ext cx="1004819" cy="21488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사유 단일 법인 전표로는 불가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309360" y="1815084"/>
            <a:ext cx="1077971" cy="21488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45936" y="1815084"/>
            <a:ext cx="1004819" cy="21488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다중 모델 앙상블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7405619" y="1922526"/>
            <a:ext cx="502409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7926316" y="1815084"/>
            <a:ext cx="1077971" cy="214883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962892" y="1815084"/>
            <a:ext cx="1004819" cy="21488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사유 주입 규칙만 외우는 순환 학습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309360" y="2066543"/>
            <a:ext cx="2694928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2개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187168" y="1335024"/>
            <a:ext cx="2343415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위험 등급 폐지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187168" y="1490472"/>
            <a:ext cx="2343415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187168" y="1572768"/>
            <a:ext cx="792763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r"/>
            <a:r>
              <a:rPr sz="650" b="1" lang="ko-KR">
                <a:solidFill>
                  <a:srgbClr val="8A9099"/>
                </a:solidFill>
                <a:latin typeface="Pretendard"/>
              </a:rPr>
              <a:t>변경 전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737820" y="1572768"/>
            <a:ext cx="792763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변경 후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007363" y="1746504"/>
            <a:ext cx="703024" cy="283463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025651" y="1746504"/>
            <a:ext cx="666448" cy="28346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산출 방식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187168" y="1746504"/>
            <a:ext cx="792763" cy="28346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223744" y="1746504"/>
            <a:ext cx="719611" cy="28346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등급 자동 부여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737820" y="1746504"/>
            <a:ext cx="792763" cy="283463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774396" y="1746504"/>
            <a:ext cx="719611" cy="28346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시스템 등급화 폐지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87168" y="2066543"/>
            <a:ext cx="2343415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2축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309360" y="2350008"/>
            <a:ext cx="2343415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한계 6 — 회색이 데이터로 해소 / 테두리가 원리적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309360" y="2505456"/>
            <a:ext cx="2343415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6309360" y="2587752"/>
            <a:ext cx="1135131" cy="16764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345936" y="2587752"/>
            <a:ext cx="1061979" cy="167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합성 데이터 기반 검증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517643" y="2587752"/>
            <a:ext cx="1135131" cy="16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554219" y="2587752"/>
            <a:ext cx="1061979" cy="167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단일 법인 단일 소스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309360" y="2819400"/>
            <a:ext cx="1135131" cy="16764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345936" y="2819400"/>
            <a:ext cx="1061979" cy="167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정답 데이터 자체 주입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7517643" y="2819400"/>
            <a:ext cx="1135131" cy="16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554219" y="2819400"/>
            <a:ext cx="1061979" cy="167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치밀한 조작 검증 불가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309360" y="3051048"/>
            <a:ext cx="1135131" cy="16764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345936" y="3051048"/>
            <a:ext cx="1061979" cy="167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판정 기준 내부 산출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7517643" y="3051048"/>
            <a:ext cx="1135131" cy="16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4219" y="3051048"/>
            <a:ext cx="1061979" cy="167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VAE 탐지 편향성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835655" y="2350008"/>
            <a:ext cx="2694928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기술 스택 9계층 — 전 구간 로컬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835655" y="2505456"/>
            <a:ext cx="2694928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8835655" y="2587752"/>
            <a:ext cx="849541" cy="16764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872231" y="2587752"/>
            <a:ext cx="776389" cy="167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Rust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9758349" y="2587752"/>
            <a:ext cx="849541" cy="16764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794925" y="2587752"/>
            <a:ext cx="776389" cy="167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Python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0681042" y="2587752"/>
            <a:ext cx="849541" cy="16764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717618" y="2587752"/>
            <a:ext cx="776389" cy="167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pandas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8835655" y="2819400"/>
            <a:ext cx="849541" cy="16764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872231" y="2819400"/>
            <a:ext cx="776389" cy="167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Pandera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9758349" y="2819400"/>
            <a:ext cx="849541" cy="16764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794925" y="2819400"/>
            <a:ext cx="776389" cy="167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scipy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0681042" y="2819400"/>
            <a:ext cx="849541" cy="16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717618" y="2819400"/>
            <a:ext cx="776389" cy="167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PyTorch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8835655" y="3051048"/>
            <a:ext cx="849541" cy="16764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872231" y="3051048"/>
            <a:ext cx="776389" cy="167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DuckDB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9758349" y="3051048"/>
            <a:ext cx="849541" cy="16764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794925" y="3051048"/>
            <a:ext cx="776389" cy="167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YAML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0681042" y="3051048"/>
            <a:ext cx="849541" cy="16764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0717618" y="3051048"/>
            <a:ext cx="776389" cy="1676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Streamlit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48640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48640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2959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좌앵커 + 중앙 제외·한계 2단 + 우 스택 9계층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58368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58368" y="3803903"/>
            <a:ext cx="11387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05000"/>
              </a:lnSpc>
            </a:pPr>
            <a:r>
              <a:rPr sz="1300" b="1" lang="ko-KR">
                <a:solidFill>
                  <a:srgbClr val="15171B"/>
                </a:solidFill>
                <a:latin typeface="Pretendard"/>
              </a:rPr>
              <a:t>폐지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58368" y="4133087"/>
            <a:ext cx="113874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1" lang="ko-KR">
                <a:solidFill>
                  <a:srgbClr val="D66E3A"/>
                </a:solidFill>
                <a:latin typeface="Pretendard"/>
              </a:rPr>
              <a:t>빼는 것도 근거로 뺀다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58368" y="4315967"/>
            <a:ext cx="113874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30000"/>
              </a:lnSpc>
            </a:pPr>
            <a:r>
              <a:rPr sz="650" b="0" lang="ko-KR">
                <a:solidFill>
                  <a:srgbClr val="555A60"/>
                </a:solidFill>
                <a:latin typeface="Pretendard"/>
              </a:rPr>
              <a:t>구현하지 못한 것이 아니라 근거가 서지 않아 하지 않기로 한 것이다.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979988" y="3803903"/>
            <a:ext cx="2056059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제외 대상과 사유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979988" y="3959351"/>
            <a:ext cx="2056059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979988" y="4041647"/>
            <a:ext cx="822423" cy="18716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2016564" y="4041647"/>
            <a:ext cx="749271" cy="1871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관계 분석 · 순환거래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2820700" y="4135228"/>
            <a:ext cx="374636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Rectangle 168"/>
          <p:cNvSpPr/>
          <p:nvPr/>
        </p:nvSpPr>
        <p:spPr>
          <a:xfrm>
            <a:off x="3213624" y="4041647"/>
            <a:ext cx="822423" cy="187160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250200" y="4041647"/>
            <a:ext cx="749271" cy="1871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사유 단일 법인 전표로는 불가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979988" y="4256240"/>
            <a:ext cx="822423" cy="18716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016564" y="4256240"/>
            <a:ext cx="749271" cy="1871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다중 모델 앙상블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2820700" y="4349820"/>
            <a:ext cx="374636" cy="0"/>
          </a:xfrm>
          <a:prstGeom prst="line">
            <a:avLst/>
          </a:prstGeom>
          <a:ln w="1016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Rectangle 173"/>
          <p:cNvSpPr/>
          <p:nvPr/>
        </p:nvSpPr>
        <p:spPr>
          <a:xfrm>
            <a:off x="3213624" y="4256240"/>
            <a:ext cx="822423" cy="187160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3250200" y="4256240"/>
            <a:ext cx="749271" cy="1871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사유 주입 규칙만 외우는 순환 학습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979988" y="4479976"/>
            <a:ext cx="2056059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2개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979988" y="4763440"/>
            <a:ext cx="2056059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한계 6가지 — 두 계열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979988" y="4918888"/>
            <a:ext cx="2056059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979988" y="5001184"/>
            <a:ext cx="774431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r"/>
            <a:r>
              <a:rPr sz="650" b="1" lang="ko-KR">
                <a:solidFill>
                  <a:srgbClr val="8A9099"/>
                </a:solidFill>
                <a:latin typeface="Pretendard"/>
              </a:rPr>
              <a:t>데이터로 해소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261617" y="5001184"/>
            <a:ext cx="774431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원리적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781852" y="5174920"/>
            <a:ext cx="452333" cy="155739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2800140" y="5174920"/>
            <a:ext cx="415757" cy="15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검증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979988" y="5174920"/>
            <a:ext cx="774431" cy="155739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2016564" y="5174920"/>
            <a:ext cx="701279" cy="15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합성 데이터 기반 검증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261617" y="5174920"/>
            <a:ext cx="774431" cy="155739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3298193" y="5174920"/>
            <a:ext cx="701279" cy="15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단일 법인 단일 소스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2781852" y="5358092"/>
            <a:ext cx="452333" cy="155739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2800140" y="5358092"/>
            <a:ext cx="415757" cy="15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정답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979988" y="5358092"/>
            <a:ext cx="774431" cy="155739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016564" y="5358092"/>
            <a:ext cx="701279" cy="15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정답 데이터 자체 주입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3261617" y="5358092"/>
            <a:ext cx="774431" cy="155739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3298193" y="5358092"/>
            <a:ext cx="701279" cy="15573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치밀한 조작 검증 불가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979988" y="5550407"/>
            <a:ext cx="2056059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1축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218928" y="3803903"/>
            <a:ext cx="1660663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기술 스택 9계층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218928" y="3959351"/>
            <a:ext cx="1660663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218928" y="4041647"/>
            <a:ext cx="1660663" cy="15544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4273792" y="4041647"/>
            <a:ext cx="697478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합성데이터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4949620" y="4041647"/>
            <a:ext cx="875107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Rust · 15 크레이트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4218928" y="4224527"/>
            <a:ext cx="1660663" cy="15544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4273792" y="4224527"/>
            <a:ext cx="697478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언어/패키지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949620" y="4224527"/>
            <a:ext cx="875107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Python 3.11+ · uv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4218928" y="4407407"/>
            <a:ext cx="1660663" cy="15544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273792" y="4407407"/>
            <a:ext cx="697478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수집/전처리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4949620" y="4407407"/>
            <a:ext cx="875107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pandas · openpyxl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4218928" y="4590287"/>
            <a:ext cx="1660663" cy="15544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4273792" y="4590287"/>
            <a:ext cx="697478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데이터 검증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949620" y="4590287"/>
            <a:ext cx="875107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Pandera 게이트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4218928" y="4773167"/>
            <a:ext cx="1660663" cy="15544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4273792" y="4773167"/>
            <a:ext cx="697478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통계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4949620" y="4773167"/>
            <a:ext cx="875107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scipy.stats · numpy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4218928" y="4956047"/>
            <a:ext cx="1660663" cy="15544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273792" y="4956047"/>
            <a:ext cx="697478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FFFFFF"/>
                </a:solidFill>
                <a:latin typeface="Pretendard"/>
              </a:rPr>
              <a:t>비지도 학습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949620" y="4956047"/>
            <a:ext cx="875107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FFFFFF"/>
                </a:solidFill>
                <a:latin typeface="Pretendard"/>
              </a:rPr>
              <a:t>PyTorch VAE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4218928" y="5138927"/>
            <a:ext cx="1660663" cy="15544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4273792" y="5138927"/>
            <a:ext cx="697478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저장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949620" y="5138927"/>
            <a:ext cx="875107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DuckDB 파일 격리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4218928" y="5321807"/>
            <a:ext cx="1660663" cy="15544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4273792" y="5321807"/>
            <a:ext cx="697478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설정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949620" y="5321807"/>
            <a:ext cx="875107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pydantic + YAML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4218928" y="5504687"/>
            <a:ext cx="1660663" cy="15544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4273792" y="5504687"/>
            <a:ext cx="697478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화면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4949620" y="5504687"/>
            <a:ext cx="875107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Streamlit + Plotly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199632" y="3438144"/>
            <a:ext cx="5440680" cy="2359152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6199632" y="3438144"/>
            <a:ext cx="201168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1" lang="ko-KR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6473952" y="3438144"/>
            <a:ext cx="5111496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좌 제외 4 팬인 + 중앙 전·후 / 한계 대결 + 우 스택 9계층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6309360" y="3685031"/>
            <a:ext cx="522122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309360" y="3803903"/>
            <a:ext cx="1593199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네 건이 한 결론으로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6309360" y="3959351"/>
            <a:ext cx="1593199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309360" y="4041647"/>
            <a:ext cx="1593199" cy="26060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6345936" y="4041647"/>
            <a:ext cx="1520047" cy="26060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관계 분석 · 순환거래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6721911" y="4302251"/>
            <a:ext cx="914" cy="961948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6309360" y="4329683"/>
            <a:ext cx="1593199" cy="26060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6345936" y="4329683"/>
            <a:ext cx="1520047" cy="26060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다중 모델 앙상블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6977943" y="4590288"/>
            <a:ext cx="914" cy="673912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6309360" y="4617719"/>
            <a:ext cx="1593199" cy="26060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6345936" y="4617719"/>
            <a:ext cx="1520047" cy="26060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LLM 서술 생성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7233975" y="4878323"/>
            <a:ext cx="914" cy="385876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309360" y="4905755"/>
            <a:ext cx="1593199" cy="26060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6345936" y="4905755"/>
            <a:ext cx="1520047" cy="260603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50" b="1" lang="ko-KR">
                <a:solidFill>
                  <a:srgbClr val="15171B"/>
                </a:solidFill>
                <a:latin typeface="Pretendard"/>
              </a:rPr>
              <a:t>자동 위험 등급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490007" y="5166359"/>
            <a:ext cx="914" cy="97840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721911" y="5264200"/>
            <a:ext cx="768096" cy="914"/>
          </a:xfrm>
          <a:prstGeom prst="rect">
            <a:avLst/>
          </a:prstGeom>
          <a:noFill/>
          <a:ln w="1143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3" name="Connector 242"/>
          <p:cNvCxnSpPr/>
          <p:nvPr/>
        </p:nvCxnSpPr>
        <p:spPr>
          <a:xfrm>
            <a:off x="7105959" y="5264200"/>
            <a:ext cx="0" cy="110643"/>
          </a:xfrm>
          <a:prstGeom prst="line">
            <a:avLst/>
          </a:prstGeom>
          <a:ln w="13970">
            <a:solidFill>
              <a:srgbClr val="9697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Rectangle 243"/>
          <p:cNvSpPr/>
          <p:nvPr/>
        </p:nvSpPr>
        <p:spPr>
          <a:xfrm>
            <a:off x="6309360" y="5374843"/>
            <a:ext cx="1593199" cy="29260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6345936" y="5374843"/>
            <a:ext cx="1520047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750" b="1" lang="ko-KR">
                <a:solidFill>
                  <a:srgbClr val="FFFFFF"/>
                </a:solidFill>
                <a:latin typeface="Pretendard"/>
              </a:rPr>
              <a:t>근거가 서지 않으면 넣지 않는다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085439" y="3803903"/>
            <a:ext cx="1669065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위험 등급 폐지 전/후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8085439" y="3959351"/>
            <a:ext cx="1669065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8085439" y="4041647"/>
            <a:ext cx="556741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r"/>
            <a:r>
              <a:rPr sz="650" b="1" lang="ko-KR">
                <a:solidFill>
                  <a:srgbClr val="8A9099"/>
                </a:solidFill>
                <a:latin typeface="Pretendard"/>
              </a:rPr>
              <a:t>변경 전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9197763" y="4041647"/>
            <a:ext cx="556741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변경 후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8669612" y="4215383"/>
            <a:ext cx="500719" cy="264981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8687900" y="4215383"/>
            <a:ext cx="464143" cy="26498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산출 방식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8085439" y="4215383"/>
            <a:ext cx="556741" cy="2649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8122015" y="4215383"/>
            <a:ext cx="483589" cy="26498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등급 자동 부여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9197763" y="4215383"/>
            <a:ext cx="556741" cy="264981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9234339" y="4215383"/>
            <a:ext cx="483589" cy="26498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시스템 등급화 폐지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8085439" y="4516941"/>
            <a:ext cx="1669065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2축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8085439" y="4800405"/>
            <a:ext cx="1669065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한계 6가지 — 두 계열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8085439" y="4955853"/>
            <a:ext cx="1669065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8085439" y="5038149"/>
            <a:ext cx="623503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r"/>
            <a:r>
              <a:rPr sz="650" b="1" lang="ko-KR">
                <a:solidFill>
                  <a:srgbClr val="8A9099"/>
                </a:solidFill>
                <a:latin typeface="Pretendard"/>
              </a:rPr>
              <a:t>데이터로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9131001" y="5038149"/>
            <a:ext cx="623503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원리적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8736374" y="5211885"/>
            <a:ext cx="367194" cy="30194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8754662" y="5211885"/>
            <a:ext cx="330618" cy="30194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600" b="1" lang="ko-KR">
                <a:solidFill>
                  <a:srgbClr val="FFFFFF"/>
                </a:solidFill>
                <a:latin typeface="Pretendard"/>
              </a:rPr>
              <a:t>검증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8085439" y="5211885"/>
            <a:ext cx="623503" cy="30194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8122015" y="5211885"/>
            <a:ext cx="550351" cy="30194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>
              <a:lnSpc>
                <a:spcPct val="120000"/>
              </a:lnSpc>
            </a:pPr>
            <a:r>
              <a:rPr sz="600" b="0" lang="ko-KR">
                <a:solidFill>
                  <a:srgbClr val="555A60"/>
                </a:solidFill>
                <a:latin typeface="Pretendard"/>
              </a:rPr>
              <a:t>합성 데이터 기반 검증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9131001" y="5211885"/>
            <a:ext cx="623503" cy="301946"/>
          </a:xfrm>
          <a:prstGeom prst="rect">
            <a:avLst/>
          </a:prstGeom>
          <a:solidFill>
            <a:srgbClr val="FFFFFF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9167577" y="5211885"/>
            <a:ext cx="550351" cy="30194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600" b="0" lang="ko-KR">
                <a:solidFill>
                  <a:srgbClr val="15171B"/>
                </a:solidFill>
                <a:latin typeface="Pretendard"/>
              </a:rPr>
              <a:t>단일 법인 단일 소스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8085439" y="5550407"/>
            <a:ext cx="1669065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650" b="0" lang="ko-KR">
                <a:solidFill>
                  <a:srgbClr val="8A9099"/>
                </a:solidFill>
                <a:latin typeface="Pretendard"/>
              </a:rPr>
              <a:t>… 외 2축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9937384" y="3803903"/>
            <a:ext cx="1593199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기술 스택 9계층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9937384" y="3959351"/>
            <a:ext cx="1593199" cy="914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937384" y="4041647"/>
            <a:ext cx="1593199" cy="15544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9992248" y="4041647"/>
            <a:ext cx="669143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합성데이터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10638392" y="4041647"/>
            <a:ext cx="837327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Rust · 15 크레이트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9937384" y="4224527"/>
            <a:ext cx="1593199" cy="15544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9992248" y="4224527"/>
            <a:ext cx="669143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언어/패키지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0638392" y="4224527"/>
            <a:ext cx="837327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Python 3.11+ · uv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9937384" y="4407407"/>
            <a:ext cx="1593199" cy="15544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9992248" y="4407407"/>
            <a:ext cx="669143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수집/전처리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10638392" y="4407407"/>
            <a:ext cx="837327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pandas · openpyxl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9937384" y="4590287"/>
            <a:ext cx="1593199" cy="15544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9992248" y="4590287"/>
            <a:ext cx="669143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데이터 검증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0638392" y="4590287"/>
            <a:ext cx="837327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Pandera 게이트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9937384" y="4773167"/>
            <a:ext cx="1593199" cy="15544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9992248" y="4773167"/>
            <a:ext cx="669143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통계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10638392" y="4773167"/>
            <a:ext cx="837327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scipy.stats · numpy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9937384" y="4956047"/>
            <a:ext cx="1593199" cy="15544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9992248" y="4956047"/>
            <a:ext cx="669143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FFFFFF"/>
                </a:solidFill>
                <a:latin typeface="Pretendard"/>
              </a:rPr>
              <a:t>비지도 학습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0638392" y="4956047"/>
            <a:ext cx="837327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FFFFFF"/>
                </a:solidFill>
                <a:latin typeface="Pretendard"/>
              </a:rPr>
              <a:t>PyTorch VAE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937384" y="5138927"/>
            <a:ext cx="1593199" cy="15544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9992248" y="5138927"/>
            <a:ext cx="669143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저장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10638392" y="5138927"/>
            <a:ext cx="837327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DuckDB 파일 격리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9937384" y="5321807"/>
            <a:ext cx="1593199" cy="15544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9992248" y="5321807"/>
            <a:ext cx="669143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설정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0638392" y="5321807"/>
            <a:ext cx="837327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pydantic + YAML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9937384" y="5504687"/>
            <a:ext cx="1593199" cy="15544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9992248" y="5504687"/>
            <a:ext cx="669143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50" b="1" lang="ko-KR">
                <a:solidFill>
                  <a:srgbClr val="15171B"/>
                </a:solidFill>
                <a:latin typeface="Pretendard"/>
              </a:rPr>
              <a:t>화면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0638392" y="5504687"/>
            <a:ext cx="837327" cy="1554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600" b="0" lang="ko-KR">
                <a:solidFill>
                  <a:srgbClr val="8A9099"/>
                </a:solidFill>
                <a:latin typeface="Pretendard"/>
              </a:rPr>
              <a:t>Streamlit + Plotly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548640" y="6528816"/>
            <a:ext cx="11094415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후보 4개는 전부 같은 내용이다 — 다른 것은 배치·인코딩뿐 · 라벨은 자리에 맞게 접혔다(… 외 N개) · 번호로 회신 (예: S4=1 · S7=3 · S13=전탈락)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