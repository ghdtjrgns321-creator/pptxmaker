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6419088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73152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감사 · 전표 데이터 분석 · 로컬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73936"/>
            <a:ext cx="10424160" cy="15179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로컬 기반 전표 데이터</a:t>
            </a:r>
          </a:p>
          <a:p>
            <a:pPr eaLnBrk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전수 분석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47872"/>
            <a:ext cx="8229600" cy="5120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33087"/>
            <a:ext cx="969264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로컬 환경에서 전표를 전수 분석하여 감사인이 검토할 항목을 1차 스크리닝하는 도구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956048"/>
            <a:ext cx="2599867" cy="786384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047488"/>
            <a:ext cx="2234107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분석 대상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전표 113,465건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원장 355,786행 · 3개년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6251" y="4956048"/>
            <a:ext cx="2599867" cy="786384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9131" y="5047488"/>
            <a:ext cx="2234107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분석 모델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룰 29종 · 지표 5종 · VAE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전표 단위 + 그룹 단위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5575" y="4956048"/>
            <a:ext cx="2599867" cy="786384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5" y="5047488"/>
            <a:ext cx="2234107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설계 근거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감리 지적사례 230건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2009~2025 · 기준서 240호 · 520호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24899" y="4956048"/>
            <a:ext cx="2599867" cy="786384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7779" y="5047488"/>
            <a:ext cx="2234107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판별력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AUROC 0.8845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4세트 평균 · 가공매출 계열 한정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57839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06777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170432"/>
            <a:ext cx="475488" cy="47548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170432"/>
            <a:ext cx="47548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1078992"/>
            <a:ext cx="402336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분석 범위와 문제 인식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1078992"/>
            <a:ext cx="512064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표본이 구조적으로 못 보는 것, 그리고 시스템이 서는 자리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53167" y="1078992"/>
            <a:ext cx="137160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03 – 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152851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216505"/>
            <a:ext cx="475488" cy="47548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216505"/>
            <a:ext cx="47548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125065"/>
            <a:ext cx="402336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합성 데이터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2125065"/>
            <a:ext cx="512064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회계 무결성을 지킨 정상 데이터 생성 · 금감원 사례 기반 이상 14종 주입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53167" y="2125065"/>
            <a:ext cx="137160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06 – 08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198924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262579"/>
            <a:ext cx="475488" cy="47548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62579"/>
            <a:ext cx="47548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3171139"/>
            <a:ext cx="402336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분석 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3171139"/>
            <a:ext cx="512064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룰 29종 · 분석적 검토 5종 · 비지도 학습(VAE)의 입력 설계까지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3167" y="3171139"/>
            <a:ext cx="137160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09 – 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244998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308652"/>
            <a:ext cx="475488" cy="47548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308652"/>
            <a:ext cx="47548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4217212"/>
            <a:ext cx="402336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4217212"/>
            <a:ext cx="512064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회수율이 아니라 lift · VAE 판별력 AUROC 0.8845 실측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3167" y="4217212"/>
            <a:ext cx="137160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15 – 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291072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354726"/>
            <a:ext cx="475488" cy="47548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5354726"/>
            <a:ext cx="47548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3584" y="5263286"/>
            <a:ext cx="402336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핵심 의사결정과 한계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3248" y="5263286"/>
            <a:ext cx="512064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빼는 것도 근거로 뺀다 — 의사결정 · 한계 6 · 기술 스택 9계층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3167" y="5263286"/>
            <a:ext cx="1371600" cy="99120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18 –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6419088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2103120" cy="4572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274320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0"/>
            <a:ext cx="914400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분석 범위와 문제 인식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9584"/>
            <a:ext cx="7680960" cy="40233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전표 전수를 어디까지 보고, 표본 방식은 무엇을 못 보는가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224528"/>
            <a:ext cx="1115568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224528"/>
            <a:ext cx="111556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04 문제 인식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1810512" y="4224528"/>
            <a:ext cx="1641348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4224528"/>
            <a:ext cx="164134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05 시스템 한 장 요약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문제 인식과 해결 방향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927201"/>
            <a:ext cx="1357884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1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2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3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078992"/>
            <a:ext cx="5085435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152144"/>
            <a:ext cx="4792827" cy="6949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문제 인식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표본 추출 방식에 따른 데이터 누락 및 주관성 개입 위험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9331" y="1078992"/>
            <a:ext cx="5085435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1517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5635" y="1152144"/>
            <a:ext cx="4792827" cy="6949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해결 방향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AI 기반 전수 분석 — 전표 전체에 같은 기준을 적용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98667" y="1399031"/>
            <a:ext cx="502920" cy="201168"/>
          </a:xfrm>
          <a:prstGeom prst="rightArrow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2231136"/>
            <a:ext cx="11057839" cy="310896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231136"/>
            <a:ext cx="2619006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9982" y="2231136"/>
            <a:ext cx="383536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기존 표본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1382" y="2231136"/>
            <a:ext cx="383536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기반 전수 분석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42032"/>
            <a:ext cx="11057839" cy="548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33366" y="2542032"/>
            <a:ext cx="4091400" cy="548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2542032"/>
            <a:ext cx="2619006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검증 범위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9982" y="2542032"/>
            <a:ext cx="3835368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표본 추출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1382" y="2542032"/>
            <a:ext cx="3835368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전표 전수 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33366" y="3090672"/>
            <a:ext cx="4091400" cy="548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3090672"/>
            <a:ext cx="2619006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분석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9982" y="3090672"/>
            <a:ext cx="3835368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주관적 판단 의존 → 감사인 간 분석 편차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1382" y="3090672"/>
            <a:ext cx="3835368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3가지 분석 모델로 일관된 기준 적용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639311"/>
            <a:ext cx="11057839" cy="548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33366" y="3639311"/>
            <a:ext cx="4091400" cy="548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3639311"/>
            <a:ext cx="2619006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금액 중요성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9982" y="3639311"/>
            <a:ext cx="3835368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고액 위주 분석 → 소액 누락 가능성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1382" y="3639311"/>
            <a:ext cx="3835368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금액 규모 무관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33366" y="4187952"/>
            <a:ext cx="4091400" cy="548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4187952"/>
            <a:ext cx="2619006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데이터 전처리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9982" y="4187952"/>
            <a:ext cx="3835368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수동 정렬 및 가공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1382" y="4187952"/>
            <a:ext cx="3835368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수기 입력·승인 생략·심야·기말 속성 자동 전처리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736592"/>
            <a:ext cx="11057839" cy="548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33366" y="4736592"/>
            <a:ext cx="4091400" cy="5486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4736592"/>
            <a:ext cx="2619006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사전 정의되지 않은 패턴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9982" y="4736592"/>
            <a:ext cx="3835368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정의된 조건 내에서만 식별 가능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1382" y="4736592"/>
            <a:ext cx="3835368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머신러닝으로 정의되지 않은 패턴 추출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358384"/>
            <a:ext cx="5486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AI가 전수를 가능하게 한 지점 — 기대 효과 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632704"/>
            <a:ext cx="3564026" cy="585216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" y="5669280"/>
            <a:ext cx="3399434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파생 변수 자동 생성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수기 입력 여부·기표 시간·기말 근접성 등 추가 속성을 전표 단위로 자동 부여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13834" y="5632704"/>
            <a:ext cx="3564026" cy="585216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96130" y="5669280"/>
            <a:ext cx="3399434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분석 결과 시각화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작성자·계정 단위 분석, 데이터 정합성 오류를 스트림릿 대시보드로 제공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0740" y="5632704"/>
            <a:ext cx="3564026" cy="585216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43036" y="5669280"/>
            <a:ext cx="3399434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검토 비용 절감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우선 확인이 필요한 전표 목록 제시 → 검토 대상 선별 시간 단축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프로젝트 개요와 분석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927201"/>
            <a:ext cx="1357884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1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2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3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pic>
        <p:nvPicPr>
          <p:cNvPr id="14" name="Picture 13" descr="screensho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215" y="1078992"/>
            <a:ext cx="3273552" cy="2832118"/>
          </a:xfrm>
          <a:prstGeom prst="rect">
            <a:avLst/>
          </a:prstGeom>
          <a:ln w="9525">
            <a:solidFill>
              <a:srgbClr val="DCDEE1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351215" y="3929398"/>
            <a:ext cx="3273552" cy="32918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분석 실행 전 품질진단 화면 — 전표 37,895건 · 거래금액 1.36조 · 활성 계정 39개 · 기표자 149명 · 거래처 1,270곳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389888"/>
            <a:ext cx="17830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426464"/>
            <a:ext cx="1618488" cy="7680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전표 전수 데이터</a:t>
            </a:r>
          </a:p>
          <a:p>
            <a:pPr eaLnBrk="0"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113,465건 · 3개년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8290" y="1389888"/>
            <a:ext cx="2057400" cy="84124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10586" y="1426464"/>
            <a:ext cx="1892807" cy="7680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3개 분석 모델</a:t>
            </a:r>
          </a:p>
          <a:p>
            <a:pPr eaLnBrk="0"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룰 29 · 지표 5 · VAE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50008" y="1810512"/>
            <a:ext cx="278282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963972" y="1389888"/>
            <a:ext cx="16002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6268" y="1426464"/>
            <a:ext cx="1435608" cy="7680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검토 대상 전표 목록</a:t>
            </a:r>
          </a:p>
          <a:p>
            <a:pPr eaLnBrk="0"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우선 검토 후보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85690" y="1810512"/>
            <a:ext cx="278282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842455" y="1389888"/>
            <a:ext cx="1234440" cy="84124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4751" y="1426464"/>
            <a:ext cx="1069848" cy="7680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감사인 최종 판단</a:t>
            </a:r>
          </a:p>
          <a:p>
            <a:pPr eaLnBrk="0"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부정 여부 확정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64172" y="1810512"/>
            <a:ext cx="278283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66928" y="2505456"/>
            <a:ext cx="7509967" cy="1737360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2505456"/>
            <a:ext cx="50292" cy="173736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2578608"/>
            <a:ext cx="7144207" cy="15910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분석 범위 — 무엇을 보고 무엇을 안 보나</a:t>
            </a:r>
          </a:p>
          <a:p>
            <a:pPr eaLnBrk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분석 대상 · 단일 법인 전표 데이터 3개년 — 원장 355,786행 / 전표 113,135건(정상 base)</a:t>
            </a:r>
          </a:p>
          <a:p>
            <a:pPr eaLnBrk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외부 자료 제외 · 거래처 마스터, 은행 거래 내역, 타사 장부 미사용</a:t>
            </a:r>
          </a:p>
          <a:p>
            <a:pPr eaLnBrk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검증 단위 · 전표 단위(룰·VAE) / 계정·거래처·작성자 그룹(분석적 검토)</a:t>
            </a:r>
          </a:p>
          <a:p>
            <a:pPr eaLnBrk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최종 산출물 · 감사인이 우선 검토할 전표 목록 — 부정 여부는 시스템이 확정하지 않는다</a:t>
            </a:r>
          </a:p>
          <a:p>
            <a:pPr eaLnBrk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실증 예시 · 정상 전표도 룰 5종에 걸린다(자기승인·직무분리·수기·휴일·기말결산) → 1차 스크리닝 정상 동작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443984"/>
            <a:ext cx="11057839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443984"/>
            <a:ext cx="45720" cy="53340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98848"/>
            <a:ext cx="3108868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룰 기반 검증 — 29종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116" y="4498848"/>
            <a:ext cx="2417766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묻는 것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사전에 정의된 특정 조건에 해당?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1035" y="4572000"/>
            <a:ext cx="7315" cy="277368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5899" y="4498848"/>
            <a:ext cx="2417766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산출물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룰 조합에 따른 검토 대상 전표 목록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6817" y="4572000"/>
            <a:ext cx="7315" cy="277368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41681" y="4498848"/>
            <a:ext cx="2290477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근거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감리 지적사례 230건 · 기준서 240호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068824"/>
            <a:ext cx="11057839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068824"/>
            <a:ext cx="45720" cy="53340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123688"/>
            <a:ext cx="3108868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분석적 검토 — 5종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0116" y="5123688"/>
            <a:ext cx="2417766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묻는 것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계정·거래처 분포에 통계적 이상치?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1035" y="5196840"/>
            <a:ext cx="7315" cy="277368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5899" y="5123688"/>
            <a:ext cx="2417766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산출물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통계적 분석 및 이상치 결과 시각화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86817" y="5196840"/>
            <a:ext cx="7315" cy="277368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41681" y="5123688"/>
            <a:ext cx="2290477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근거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회계감사기준 520호 준용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5693664"/>
            <a:ext cx="11057839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5693664"/>
            <a:ext cx="45720" cy="533400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748528"/>
            <a:ext cx="3108868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비지도 학습 — VAE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0116" y="5748528"/>
            <a:ext cx="2417766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묻는 것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사전에 정의되지 않은 패턴인가?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1035" y="5821680"/>
            <a:ext cx="7315" cy="277368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5899" y="5748528"/>
            <a:ext cx="2417766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산출물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신종·복합 패턴 식별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86817" y="5821680"/>
            <a:ext cx="7315" cy="277368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41681" y="5748528"/>
            <a:ext cx="2290477" cy="4236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근거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정상 전표 분포 학습 후 이탈 측정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6419088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2103120" cy="4572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274320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0"/>
            <a:ext cx="914400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합성 데이터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9584"/>
            <a:ext cx="7680960" cy="40233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실제 전표를 못 구해 직접 만들었다 — 회계 무결성을 지키면서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224528"/>
            <a:ext cx="1536192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224528"/>
            <a:ext cx="153619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07 정상 데이터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1136" y="4224528"/>
            <a:ext cx="1536192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31136" y="4224528"/>
            <a:ext cx="153619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08 이상 데이터 주입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합성 데이터 생성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1579" y="927201"/>
            <a:ext cx="1089279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2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3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정상 데이터 규모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355,786행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전표 113,135건 · K-IFRS 제조업 3개년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4247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3975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출력 스키마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73개 컬럼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CSV + 부속 명세서 · 검증 지표 66개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1567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1295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거래 시나리오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20종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업무 흐름 7종 · 무작위 배정 없음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28887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8615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생성 기반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DataSynth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EY 스위스 Assurance R&amp;D · Apache 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194560"/>
            <a:ext cx="603504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생성 순서 8단계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487168"/>
            <a:ext cx="274320" cy="190881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487168"/>
            <a:ext cx="274320" cy="19088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2468880"/>
            <a:ext cx="1417320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계정과목표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68296" y="2468880"/>
            <a:ext cx="4233672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가용 계정과목 풀 사전 생성, 룰이 참조하는 계정(가지급금 1190) 고정 할당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732913"/>
            <a:ext cx="274320" cy="190881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732913"/>
            <a:ext cx="274320" cy="19088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2714625"/>
            <a:ext cx="1417320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마스터데이터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68296" y="2714625"/>
            <a:ext cx="4233672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거래처·고객·자재·자산·직원(권한 한도 포함)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78658"/>
            <a:ext cx="274320" cy="190881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2978658"/>
            <a:ext cx="274320" cy="19088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" y="2960370"/>
            <a:ext cx="1417320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문서흐름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68296" y="2960370"/>
            <a:ext cx="4233672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발주 → 입고 → 송장 → 대금지급 연결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224403"/>
            <a:ext cx="274320" cy="190881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3224403"/>
            <a:ext cx="274320" cy="19088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" y="3206115"/>
            <a:ext cx="1417320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업무 이벤트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68296" y="3206115"/>
            <a:ext cx="4233672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정상 진행 75%, 예외 20%, 오류 5% (변경 가능)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470148"/>
            <a:ext cx="274320" cy="190881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470148"/>
            <a:ext cx="274320" cy="19088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3451860"/>
            <a:ext cx="1417320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전표 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68296" y="3451860"/>
            <a:ext cx="4233672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거래 유형·계정 매핑·분개 라인 수·금액·일자·시간·승인 8축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715893"/>
            <a:ext cx="274320" cy="190881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3715893"/>
            <a:ext cx="274320" cy="19088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" y="3697605"/>
            <a:ext cx="1417320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이상 데이터 주입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68296" y="3697605"/>
            <a:ext cx="4233672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이상·오류 삽입, 정상 데이터만 생성 시 비활성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3961637"/>
            <a:ext cx="274320" cy="190881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3961637"/>
            <a:ext cx="274320" cy="19088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" y="3943350"/>
            <a:ext cx="1417320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잔액 추적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68296" y="3943350"/>
            <a:ext cx="4233672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자산 = 부채 + 자본 + (수익 − 비용) 실시간 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207382"/>
            <a:ext cx="274320" cy="190881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4207382"/>
            <a:ext cx="274320" cy="19088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" y="4189095"/>
            <a:ext cx="1417320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출력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68296" y="4189095"/>
            <a:ext cx="4233672" cy="245745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73개 컬럼 CSV + 부속 명세서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2194560"/>
            <a:ext cx="4946904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거래 시나리오 20종 — 업무 흐름별 개수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2468880"/>
            <a:ext cx="1325880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결산 R2R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01000" y="2545297"/>
            <a:ext cx="12344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01000" y="2545297"/>
            <a:ext cx="1234440" cy="128016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0" y="2468880"/>
            <a:ext cx="292608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47504" y="2468880"/>
            <a:ext cx="1874519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발생분개·마감분개·대손상각·퇴직급여·잡이익·역분개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2749731"/>
            <a:ext cx="1325880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자산 A2R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01000" y="2826149"/>
            <a:ext cx="12344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01000" y="2826149"/>
            <a:ext cx="617220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26880" y="2749731"/>
            <a:ext cx="292608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47504" y="2749731"/>
            <a:ext cx="1874519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취득·감가상각·개발비 자본화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3030582"/>
            <a:ext cx="1325880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자금 TRE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01000" y="3107000"/>
            <a:ext cx="12344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001000" y="3107000"/>
            <a:ext cx="617220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0" y="3030582"/>
            <a:ext cx="292608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47504" y="3030582"/>
            <a:ext cx="1874519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차입·이자지급·임원 가지급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3311434"/>
            <a:ext cx="1325880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구매 P2P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01000" y="3387852"/>
            <a:ext cx="12344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01000" y="3387852"/>
            <a:ext cx="411068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26880" y="3311434"/>
            <a:ext cx="292608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47504" y="3311434"/>
            <a:ext cx="1874519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매입송장·대금지급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75120" y="3592285"/>
            <a:ext cx="1325880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판매 O2C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01000" y="3668703"/>
            <a:ext cx="12344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001000" y="3668703"/>
            <a:ext cx="411068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0" y="3592285"/>
            <a:ext cx="292608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47504" y="3592285"/>
            <a:ext cx="1874519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매출송장·고객입금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5120" y="3873137"/>
            <a:ext cx="1325880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급여 H2R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01000" y="3949554"/>
            <a:ext cx="12344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01000" y="3949554"/>
            <a:ext cx="411068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26880" y="3873137"/>
            <a:ext cx="292608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47504" y="3873137"/>
            <a:ext cx="1874519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급여 발생·급여 지급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75120" y="4153988"/>
            <a:ext cx="1325880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관계사 IC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01000" y="4230406"/>
            <a:ext cx="12344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4230406"/>
            <a:ext cx="411068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0" y="4153988"/>
            <a:ext cx="292608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747504" y="4153988"/>
            <a:ext cx="1874519" cy="28085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관계사 매출·관계사 정산 (거래 비중 10%)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4572000"/>
            <a:ext cx="73152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생성 직후 데이터 무결성 검증 — 세 관문을 모두 통과해야 채택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4864608"/>
            <a:ext cx="2331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9224" y="4901184"/>
            <a:ext cx="2167127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허용 계정 통제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해당 거래 유형에서 쓸 수 없는 계정의 유입 차단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72384" y="4864608"/>
            <a:ext cx="2331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154679" y="4901184"/>
            <a:ext cx="2167127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계정 매핑 교차 검증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차대 방향·계정 성격을 계정결정표와 재대조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2898648" y="5148072"/>
            <a:ext cx="173736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5577840" y="4864608"/>
            <a:ext cx="2331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60136" y="4901184"/>
            <a:ext cx="2167127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대차 균형 확인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차변 합 = 대변 합 완전 일치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5404103" y="5148072"/>
            <a:ext cx="173737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909560" y="5148072"/>
            <a:ext cx="274319" cy="0"/>
          </a:xfrm>
          <a:prstGeom prst="line">
            <a:avLst/>
          </a:prstGeom>
          <a:ln w="12700">
            <a:solidFill>
              <a:srgbClr val="D66E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8183879" y="4864608"/>
            <a:ext cx="3438144" cy="566928"/>
          </a:xfrm>
          <a:prstGeom prst="rect">
            <a:avLst/>
          </a:prstGeom>
          <a:solidFill>
            <a:srgbClr val="FBF1EA"/>
          </a:solidFill>
          <a:ln w="9525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66175" y="4901184"/>
            <a:ext cx="3273551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미통과 전표는 즉시 폐기 후 재생성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무작위 배정 없음 · 회계기간 준수 · 양수(+) 금액 기록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66928" y="5614416"/>
            <a:ext cx="2138415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9224" y="5650992"/>
            <a:ext cx="1973823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분개 라인 수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2줄 66.7% · 4줄 16.6% · 3줄 5.8%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96783" y="5614416"/>
            <a:ext cx="2138415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879079" y="5650992"/>
            <a:ext cx="1973823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거래 금액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중앙값 약 120만원 · 상한 1,000억원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026639" y="5614416"/>
            <a:ext cx="2138415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08935" y="5650992"/>
            <a:ext cx="1973823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라운드 넘버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만원 단위 12% · 천원 단위 8%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256495" y="5614416"/>
            <a:ext cx="2138415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38791" y="5650992"/>
            <a:ext cx="1973823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기표 일자 가중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월말 2배 · 분기말 3배 · 연말 4배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486351" y="5614416"/>
            <a:ext cx="2138415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568647" y="5650992"/>
            <a:ext cx="1973823" cy="49377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무작위 노이즈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결측 2% · 오타 0.15% · 예외 전결 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이상 데이터 시나리오 14종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1579" y="927201"/>
            <a:ext cx="1089279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2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3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078992"/>
            <a:ext cx="585216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이상 데이터 시나리오 14종 (FS01~FS14) — 태그는 주입 대상 거래 흐름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517904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517904"/>
            <a:ext cx="41148" cy="43107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1517904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FS01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9052" y="1517904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가공매출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5592" y="1517904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매출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38728" y="1517904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38728" y="1517904"/>
            <a:ext cx="41148" cy="43107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1517904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FS08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0852" y="1517904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부적절 자본화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7392" y="1517904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결산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040418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2040418"/>
            <a:ext cx="41148" cy="43107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040418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FS02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9052" y="2040418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진행률 조작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5592" y="2040418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결산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38728" y="2040418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38728" y="2040418"/>
            <a:ext cx="41148" cy="43107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66744" y="2040418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FS09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0852" y="2040418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컷오프 조작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7392" y="2040418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매출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562932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2562932"/>
            <a:ext cx="41148" cy="431074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2562932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FS03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9052" y="2562932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현금 횡령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85592" y="2562932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매입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38728" y="2562932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38728" y="2562932"/>
            <a:ext cx="41148" cy="43107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66744" y="2562932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FS10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0852" y="2562932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대손 회피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7392" y="2562932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매출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3085446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3085446"/>
            <a:ext cx="41148" cy="431074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" y="3085446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FS04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9052" y="3085446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횡령 은폐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85592" y="3085446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매입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38728" y="3085446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38728" y="3085446"/>
            <a:ext cx="41148" cy="431074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66744" y="3085446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A2D33"/>
                </a:solidFill>
                <a:latin typeface="Pretendard"/>
                <a:ea typeface="Pretendard"/>
                <a:cs typeface="Pretendard"/>
              </a:rPr>
              <a:t>FS11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30852" y="3085446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특수관계자 남용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57392" y="3085446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관계사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3607961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6928" y="3607961"/>
            <a:ext cx="41148" cy="43107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" y="3607961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FS05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9052" y="3607961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순환거래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85592" y="3607961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매출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38728" y="3607961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38728" y="3607961"/>
            <a:ext cx="41148" cy="431074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66744" y="3607961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FS12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30852" y="3607961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충당금 누락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57392" y="3607961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결산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4130475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6928" y="4130475"/>
            <a:ext cx="41148" cy="431074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944" y="4130475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FS06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59052" y="4130475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부채 누락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85592" y="4130475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매입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38728" y="4130475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38728" y="4130475"/>
            <a:ext cx="41148" cy="431074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66744" y="4130475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A2D33"/>
                </a:solidFill>
                <a:latin typeface="Pretendard"/>
                <a:ea typeface="Pretendard"/>
                <a:cs typeface="Pretendard"/>
              </a:rPr>
              <a:t>FS13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30852" y="4130475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손상 회피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57392" y="4130475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관계사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4652989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66928" y="4652989"/>
            <a:ext cx="41148" cy="431074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944" y="4652989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FS07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59052" y="4652989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재고 과대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85592" y="4652989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매입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38728" y="4652989"/>
            <a:ext cx="2880360" cy="43107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38728" y="4652989"/>
            <a:ext cx="41148" cy="431074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66744" y="4652989"/>
            <a:ext cx="86410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A2D33"/>
                </a:solidFill>
                <a:latin typeface="Pretendard"/>
                <a:ea typeface="Pretendard"/>
                <a:cs typeface="Pretendard"/>
              </a:rPr>
              <a:t>FS14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30852" y="4652989"/>
            <a:ext cx="1267358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유령직원 급여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57392" y="4652989"/>
            <a:ext cx="633679" cy="43107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급여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1078992"/>
            <a:ext cx="5038344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주입 생성 로직 4단계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83680" y="1536192"/>
            <a:ext cx="274320" cy="274320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83680" y="1536192"/>
            <a:ext cx="2743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67728" y="1517904"/>
            <a:ext cx="1188720" cy="3703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베이스 선택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56448" y="1517904"/>
            <a:ext cx="3465576" cy="3703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수법의 거래 유형과 일치하는 정상 전표 1건 복제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83680" y="1906524"/>
            <a:ext cx="274320" cy="274320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83680" y="1906524"/>
            <a:ext cx="2743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67728" y="1888236"/>
            <a:ext cx="1188720" cy="3703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목표 속성 변이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56448" y="1888236"/>
            <a:ext cx="3465576" cy="3703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금액·계정·일자·승인자 등 지정 컬럼만 덮어쓰기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583680" y="2276856"/>
            <a:ext cx="274320" cy="274320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83680" y="2276856"/>
            <a:ext cx="2743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67728" y="2258568"/>
            <a:ext cx="1188720" cy="3703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시퀀스 연결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56448" y="2258568"/>
            <a:ext cx="3465576" cy="3703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단건 조작이 아닌 연계 전표 흐름 전체 생성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83680" y="2647188"/>
            <a:ext cx="274320" cy="274320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0" y="2647188"/>
            <a:ext cx="274320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67728" y="2628900"/>
            <a:ext cx="1188720" cy="3703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흔적 제거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56448" y="2628900"/>
            <a:ext cx="3465576" cy="3703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정상에서 고빈도로 쓰이는 계정 22개로 한정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83680" y="3127248"/>
            <a:ext cx="5038344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[예시] 가공매출 — 네 장이 이어져야 한 수법이 된다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83680" y="3419856"/>
            <a:ext cx="5038344" cy="347472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665976" y="3456432"/>
            <a:ext cx="487375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매출 계상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0" y="3895344"/>
            <a:ext cx="503834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665976" y="3931920"/>
            <a:ext cx="487375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가공 회수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9098280" y="3767328"/>
            <a:ext cx="0" cy="128016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6583680" y="4370832"/>
            <a:ext cx="503834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665976" y="4407408"/>
            <a:ext cx="487375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매출채권 담보 차입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9098280" y="4242816"/>
            <a:ext cx="0" cy="128016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6583680" y="4846320"/>
            <a:ext cx="503834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65976" y="4882896"/>
            <a:ext cx="487375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차기 역분개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9098280" y="4718304"/>
            <a:ext cx="0" cy="128016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66928" y="5340096"/>
            <a:ext cx="5486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주입 밀도 — 실제 부정 발생의 희소성을 반영한다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35624" y="5340096"/>
            <a:ext cx="5486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이상 전표 330건 = 전체 113,465건의 0.29%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66928" y="5632704"/>
            <a:ext cx="11057839" cy="29260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569903" y="5632704"/>
            <a:ext cx="54864" cy="292608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94944" y="5632704"/>
            <a:ext cx="548640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정상 전표 113,135건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0607040" y="5504688"/>
            <a:ext cx="990295" cy="109728"/>
          </a:xfrm>
          <a:prstGeom prst="line">
            <a:avLst/>
          </a:prstGeom>
          <a:ln w="12700">
            <a:solidFill>
              <a:srgbClr val="D66E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566928" y="5980176"/>
            <a:ext cx="11057839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막대 전체가 전표 113,465건 — 오른쪽 끝의 가는 띠가 이상 전표 330건이다. 룰과 VAE는 이 폭을 찾아내야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6419088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2103120" cy="4572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274320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0"/>
            <a:ext cx="914400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분석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9584"/>
            <a:ext cx="7680960" cy="40233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룰 기반 검증 · 분석적 검토 · 비지도 학습(VAE)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224528"/>
            <a:ext cx="1115568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224528"/>
            <a:ext cx="111556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10 룰 29종</a:t>
            </a:r>
          </a:p>
        </p:txBody>
      </p:sp>
      <p:sp>
        <p:nvSpPr>
          <p:cNvPr id="9" name="Rectangle 8"/>
          <p:cNvSpPr/>
          <p:nvPr/>
        </p:nvSpPr>
        <p:spPr>
          <a:xfrm>
            <a:off x="1810512" y="4224528"/>
            <a:ext cx="1115568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4224528"/>
            <a:ext cx="111556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11 검토 조합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4096" y="4224528"/>
            <a:ext cx="1220724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4224528"/>
            <a:ext cx="1220724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12 분석적 검토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2836" y="4224528"/>
            <a:ext cx="1220724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2836" y="4224528"/>
            <a:ext cx="1220724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13 VAE 채택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51575" y="4224528"/>
            <a:ext cx="1220724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51575" y="4224528"/>
            <a:ext cx="1220724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14 VAE 입력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룰 기반 검증 29종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0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8154" y="927201"/>
            <a:ext cx="706374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3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078992"/>
            <a:ext cx="3246120" cy="6035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1115568"/>
            <a:ext cx="3081527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금융감독원 감리 지적사례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230건 · 2009~2025 공개 원문 전수 학습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13048" y="1380744"/>
            <a:ext cx="1234440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13048" y="1097280"/>
            <a:ext cx="123444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적발 계정·거래 구조화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7488" y="1078992"/>
            <a:ext cx="2724912" cy="603504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9783" y="1115568"/>
            <a:ext cx="2560320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조작 대상 9종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룰 L2·L3·L4 계열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1773936"/>
            <a:ext cx="3246120" cy="60350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1810512"/>
            <a:ext cx="3081527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회계감사기준서 240호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부정 분개의 특징 · 부록 포함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13048" y="2075688"/>
            <a:ext cx="1234440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13048" y="1792224"/>
            <a:ext cx="123444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통제 위반 패턴 구조화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7488" y="1773936"/>
            <a:ext cx="2724912" cy="603504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9783" y="1810512"/>
            <a:ext cx="2560320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조작 수법 10종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룰 L1·L3·L4 계열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651760"/>
            <a:ext cx="7772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조작 대상 9종 — 감리 지적 빈도(건)가 그대로 룰의 출전이다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926080"/>
            <a:ext cx="17830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L3-10 추정계정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963672"/>
            <a:ext cx="21031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50008" y="2963672"/>
            <a:ext cx="2103120" cy="128016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4567" y="2926080"/>
            <a:ext cx="4114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147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4064" y="2926080"/>
            <a:ext cx="3255263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대손상각비 등 회수가능성 추정을 그 전표에서 다시 매김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9280"/>
            <a:ext cx="17830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L3-03 관계사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50008" y="3166872"/>
            <a:ext cx="21031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3166872"/>
            <a:ext cx="1144097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7" y="3129280"/>
            <a:ext cx="4114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4064" y="3129280"/>
            <a:ext cx="3255263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관계사 계정쌍(1150↔2050, 4500↔2700) 사용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332480"/>
            <a:ext cx="17830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L3-11 컷오프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3370072"/>
            <a:ext cx="21031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50008" y="3370072"/>
            <a:ext cx="328086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44567" y="3332480"/>
            <a:ext cx="4114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4064" y="3332480"/>
            <a:ext cx="3255263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기간 경계에서 수익 인식 시점이 어긋남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535680"/>
            <a:ext cx="17830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L2-04 비용자산화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50008" y="3573272"/>
            <a:ext cx="21031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350008" y="3573272"/>
            <a:ext cx="315468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44567" y="3535680"/>
            <a:ext cx="4114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84064" y="3535680"/>
            <a:ext cx="3255263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비용 성격 계정(5~8xxx)이 자산 계정(12xxx, 15xxx)으로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738879"/>
            <a:ext cx="17830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L3-04 기말결산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50008" y="3776471"/>
            <a:ext cx="21031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50008" y="3776471"/>
            <a:ext cx="286024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44567" y="3738879"/>
            <a:ext cx="4114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84064" y="3738879"/>
            <a:ext cx="3255263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월말 앞뒤 5일 전기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3942080"/>
            <a:ext cx="17830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L4-01 매출과대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50008" y="3979672"/>
            <a:ext cx="21031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50008" y="3979672"/>
            <a:ext cx="286024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44567" y="3942080"/>
            <a:ext cx="4114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84064" y="3942080"/>
            <a:ext cx="3255263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매출 계정(4xxx)에서 같은 계정군 대비 3σ 밖 금액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4145280"/>
            <a:ext cx="17830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L4-03 이상고액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50008" y="4182871"/>
            <a:ext cx="21031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350008" y="4182871"/>
            <a:ext cx="172455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44567" y="4145280"/>
            <a:ext cx="4114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84064" y="4145280"/>
            <a:ext cx="3255263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수행중요성 초과 (세전이익 5%의 75%)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4348480"/>
            <a:ext cx="17830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L2-05 역분개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50008" y="4386071"/>
            <a:ext cx="21031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350008" y="4386071"/>
            <a:ext cx="42062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44567" y="4348480"/>
            <a:ext cx="4114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84064" y="4348480"/>
            <a:ext cx="3255263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금액 동일·방향 반대 전표 쌍 (예외: 입고미착, 관계사 정산)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551680"/>
            <a:ext cx="17830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L3-09 가수금 체류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50008" y="4589271"/>
            <a:ext cx="21031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350008" y="4589271"/>
            <a:ext cx="29443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44567" y="4551680"/>
            <a:ext cx="411480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84064" y="4551680"/>
            <a:ext cx="3255263" cy="203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가지급금·가수금·미결산 계정이 30일 넘게 잔존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882896"/>
            <a:ext cx="77724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주제별 룰 구성 — 괄호 안이 그 주제의 룰 수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5120640"/>
            <a:ext cx="2529840" cy="530352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" y="5157216"/>
            <a:ext cx="2365248" cy="45719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데이터 정합성 (4)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차대균형 · 필수필드 · 무효계정 · 기간불일치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88208" y="5120640"/>
            <a:ext cx="2529840" cy="530352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70504" y="5157216"/>
            <a:ext cx="2365248" cy="45719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승인/권한 (5)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승인한도초과 · 자기승인 · 직무분리 · 승인생략 · 유령승인자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09488" y="5120640"/>
            <a:ext cx="2529840" cy="530352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91784" y="5157216"/>
            <a:ext cx="2365248" cy="45719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금액/분할 (5)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한도 직하 분할 · 분할 거래 · 중복 전표 · 매출과대 · 이상고액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5687568"/>
            <a:ext cx="2529840" cy="530352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9224" y="5724144"/>
            <a:ext cx="2365248" cy="45719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시점 (6)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기말결산 · 휴일 · 심야 · 소급기표 · 심야 배치 · 배치 이상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88208" y="5687568"/>
            <a:ext cx="2529840" cy="530352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70504" y="5724144"/>
            <a:ext cx="2365248" cy="45719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계정 성격 (5)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비용자산화 · 추정계정 · 가수금 체류 · 관계사 · 희소계정쌍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809488" y="5687568"/>
            <a:ext cx="2529840" cy="530352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91784" y="5724144"/>
            <a:ext cx="2365248" cy="45719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거래 성격 (4)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역분개 · 수기 · 컷오프 · 업무범위 집중</a:t>
            </a:r>
          </a:p>
        </p:txBody>
      </p:sp>
      <p:pic>
        <p:nvPicPr>
          <p:cNvPr id="85" name="Picture 84" descr="screenshot-rul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4" y="1078992"/>
            <a:ext cx="3017520" cy="2078576"/>
          </a:xfrm>
          <a:prstGeom prst="rect">
            <a:avLst/>
          </a:prstGeom>
          <a:ln w="9525">
            <a:solidFill>
              <a:srgbClr val="DCDEE1"/>
            </a:solidFill>
          </a:ln>
        </p:spPr>
      </p:pic>
      <p:sp>
        <p:nvSpPr>
          <p:cNvPr id="86" name="TextBox 85"/>
          <p:cNvSpPr txBox="1"/>
          <p:nvPr/>
        </p:nvSpPr>
        <p:spPr>
          <a:xfrm>
            <a:off x="8604504" y="3175856"/>
            <a:ext cx="30175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룰별 검토 대상 건수 — 미실행 룰과 실행 후 0건을 화면에서 구분</a:t>
            </a:r>
          </a:p>
        </p:txBody>
      </p:sp>
      <p:pic>
        <p:nvPicPr>
          <p:cNvPr id="87" name="Picture 86" descr="screenshot-integ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3495896"/>
            <a:ext cx="3017520" cy="2359564"/>
          </a:xfrm>
          <a:prstGeom prst="rect">
            <a:avLst/>
          </a:prstGeom>
          <a:ln w="9525">
            <a:solidFill>
              <a:srgbClr val="DCDEE1"/>
            </a:solidFill>
          </a:ln>
        </p:spPr>
      </p:pic>
      <p:sp>
        <p:nvSpPr>
          <p:cNvPr id="88" name="TextBox 87"/>
          <p:cNvSpPr txBox="1"/>
          <p:nvPr/>
        </p:nvSpPr>
        <p:spPr>
          <a:xfrm>
            <a:off x="8604504" y="5873749"/>
            <a:ext cx="30175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데이터 정합성 — 수정 신호로만 사용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검토 조합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0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8154" y="927201"/>
            <a:ext cx="706374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3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078992"/>
            <a:ext cx="6858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조작 대상 9종 × 조작 수법 10종 — 교차는 감사인이 고른다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499616"/>
            <a:ext cx="2880360" cy="2057400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1536192"/>
            <a:ext cx="266090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조작 대상 9종 · 금감원 감리 지적사례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1847088"/>
            <a:ext cx="8503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1883664"/>
            <a:ext cx="6858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추정계정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81912" y="1847088"/>
            <a:ext cx="8503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64208" y="1883664"/>
            <a:ext cx="6858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관계사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7168" y="1847088"/>
            <a:ext cx="8503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9463" y="1883664"/>
            <a:ext cx="6858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컷오프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" y="2359152"/>
            <a:ext cx="8503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2395728"/>
            <a:ext cx="6858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비용자산화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81912" y="2359152"/>
            <a:ext cx="8503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64208" y="2395728"/>
            <a:ext cx="6858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기말결산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7168" y="2359152"/>
            <a:ext cx="8503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9463" y="2395728"/>
            <a:ext cx="6858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매출과대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" y="2871216"/>
            <a:ext cx="8503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2907792"/>
            <a:ext cx="6858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이상고액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81912" y="2871216"/>
            <a:ext cx="8503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64208" y="2907792"/>
            <a:ext cx="6858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역분개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87168" y="2871216"/>
            <a:ext cx="8503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9463" y="2907792"/>
            <a:ext cx="6858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가수금 체류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2249424"/>
            <a:ext cx="548640" cy="54864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94176" y="2286000"/>
            <a:ext cx="38404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1499616"/>
            <a:ext cx="3081528" cy="2057400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53128" y="1536192"/>
            <a:ext cx="2862072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조작 수법 10종 · 회계감사기준서 240호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53128" y="1847088"/>
            <a:ext cx="1408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35424" y="1883664"/>
            <a:ext cx="1243584" cy="20116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수기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16168" y="1847088"/>
            <a:ext cx="1408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98464" y="1883664"/>
            <a:ext cx="1243584" cy="20116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승인한도초과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3128" y="2171700"/>
            <a:ext cx="1408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35424" y="2208276"/>
            <a:ext cx="1243584" cy="20116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자기승인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16168" y="2171700"/>
            <a:ext cx="1408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98464" y="2208276"/>
            <a:ext cx="1243584" cy="20116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승인생략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53128" y="2496312"/>
            <a:ext cx="1408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35424" y="2532888"/>
            <a:ext cx="1243584" cy="20116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유령승인자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16168" y="2496312"/>
            <a:ext cx="1408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98464" y="2532888"/>
            <a:ext cx="1243584" cy="20116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직무분리 겸직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53128" y="2820924"/>
            <a:ext cx="1408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35424" y="2857500"/>
            <a:ext cx="1243584" cy="20116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소급기표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16168" y="2820924"/>
            <a:ext cx="1408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98464" y="2857500"/>
            <a:ext cx="1243584" cy="20116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희소계정쌍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53128" y="3145536"/>
            <a:ext cx="1408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35424" y="3182112"/>
            <a:ext cx="1243584" cy="20116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휴일 입력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16168" y="3145536"/>
            <a:ext cx="140817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98464" y="3182112"/>
            <a:ext cx="1243584" cy="201167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심야 입력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621024"/>
            <a:ext cx="6858000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→ 충족 전표만 검토 대상 목록에 등재. 데이터 정합성 4종은 조합 검증에서 제외한다.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931920"/>
            <a:ext cx="685800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프리셋 5종 — 막대는 검토 대상 중 이상 전표 밀도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4224528"/>
            <a:ext cx="14173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비용자산화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84248" y="4361688"/>
            <a:ext cx="17373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984248" y="4361688"/>
            <a:ext cx="1737360" cy="128016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13048" y="4224528"/>
            <a:ext cx="7315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10.7%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72584" y="4224528"/>
            <a:ext cx="2752344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적중 25건 / 검토 대상 234건 · 감리 확정 22건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626864"/>
            <a:ext cx="14173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역분개/은폐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84248" y="4764024"/>
            <a:ext cx="17373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984248" y="4764024"/>
            <a:ext cx="1136233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13048" y="4626864"/>
            <a:ext cx="7315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6.9~7.1%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72584" y="4626864"/>
            <a:ext cx="2752344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적중 108~111건 / 검토 대상 ~1,558건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5029200"/>
            <a:ext cx="14173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수익인식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84248" y="5166359"/>
            <a:ext cx="17373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984248" y="5166359"/>
            <a:ext cx="787024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13048" y="5029200"/>
            <a:ext cx="7315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4.5~5.2%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72584" y="5029200"/>
            <a:ext cx="2752344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적중 12~14건 / 검토 대상 ~266건 · 기준서 240 문단 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5431536"/>
            <a:ext cx="14173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추정·관계사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84248" y="5568696"/>
            <a:ext cx="17373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84248" y="5568696"/>
            <a:ext cx="373532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13048" y="5431536"/>
            <a:ext cx="7315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2.3%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72584" y="5431536"/>
            <a:ext cx="2752344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적중 46~47건 / 검토 대상 ~2,040건 · 감리 최다 147·80건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5833872"/>
            <a:ext cx="14173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결산 손상·충당금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84248" y="5971032"/>
            <a:ext cx="17373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984248" y="5971032"/>
            <a:ext cx="81655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13048" y="5833872"/>
            <a:ext cx="731520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0.5%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72584" y="5833872"/>
            <a:ext cx="2752344" cy="4023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적중 229~241건 / 검토 대상 ~50,200건</a:t>
            </a:r>
          </a:p>
        </p:txBody>
      </p:sp>
      <p:pic>
        <p:nvPicPr>
          <p:cNvPr id="86" name="Picture 85" descr="screenshot-combo-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78992"/>
            <a:ext cx="3657600" cy="2707724"/>
          </a:xfrm>
          <a:prstGeom prst="rect">
            <a:avLst/>
          </a:prstGeom>
          <a:ln w="9525">
            <a:solidFill>
              <a:srgbClr val="DCDEE1"/>
            </a:solidFill>
          </a:ln>
        </p:spPr>
      </p:pic>
      <p:sp>
        <p:nvSpPr>
          <p:cNvPr id="87" name="TextBox 86"/>
          <p:cNvSpPr txBox="1"/>
          <p:nvPr/>
        </p:nvSpPr>
        <p:spPr>
          <a:xfrm>
            <a:off x="7680960" y="3805004"/>
            <a:ext cx="3657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금감원 사례 조합 5종 — 카드별 감리 확정 건수 표기</a:t>
            </a:r>
          </a:p>
        </p:txBody>
      </p:sp>
      <p:pic>
        <p:nvPicPr>
          <p:cNvPr id="88" name="Picture 87" descr="screenshot-combo-di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115900"/>
            <a:ext cx="3657599" cy="1838935"/>
          </a:xfrm>
          <a:prstGeom prst="rect">
            <a:avLst/>
          </a:prstGeom>
          <a:ln w="9525">
            <a:solidFill>
              <a:srgbClr val="DCDEE1"/>
            </a:solidFill>
          </a:ln>
        </p:spPr>
      </p:pic>
      <p:sp>
        <p:nvSpPr>
          <p:cNvPr id="89" name="TextBox 88"/>
          <p:cNvSpPr txBox="1"/>
          <p:nvPr/>
        </p:nvSpPr>
        <p:spPr>
          <a:xfrm>
            <a:off x="7680960" y="5973124"/>
            <a:ext cx="36576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직접 조합 — 감사인이 대상·수법 표에서 임의로 교차 선택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분석적 검토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0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8154" y="927201"/>
            <a:ext cx="706374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3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078992"/>
            <a:ext cx="57607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분석 지표 5종 — 분석 단위와 판정 대상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481328"/>
            <a:ext cx="5760720" cy="356616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1481328"/>
            <a:ext cx="41148" cy="3566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1481328"/>
            <a:ext cx="1591056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벤포드 법칙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1481328"/>
            <a:ext cx="1280160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계정 · 월별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1481328"/>
            <a:ext cx="2615184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첫 자릿수 분포와 이론값의 평균절대편차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1874520"/>
            <a:ext cx="576072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1874520"/>
            <a:ext cx="41148" cy="3566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1874520"/>
            <a:ext cx="1591056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라운드 넘버 밀집도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1874520"/>
            <a:ext cx="1280160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계정 · 월별 · 작성자별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1874520"/>
            <a:ext cx="2615184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전체 비율 대비 특정 그룹의 라운드 넘버 비율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267712"/>
            <a:ext cx="5760720" cy="356616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2267712"/>
            <a:ext cx="41148" cy="3566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267712"/>
            <a:ext cx="1591056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신규·희소 거래처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4288" y="2267712"/>
            <a:ext cx="1280160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거래처별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2736" y="2267712"/>
            <a:ext cx="2615184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전기 미등장 · 거래 건수 하위 10% · 휴면 후 재등장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660904"/>
            <a:ext cx="576072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2660904"/>
            <a:ext cx="41148" cy="3566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2660904"/>
            <a:ext cx="1591056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계정별 활동성 변동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4288" y="2660904"/>
            <a:ext cx="1280160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계정 · 전기대비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2736" y="2660904"/>
            <a:ext cx="2615184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금액 · 건수 · 건당 금액의 변동 절대값 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054096"/>
            <a:ext cx="5760720" cy="356616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3054096"/>
            <a:ext cx="41148" cy="3566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3054096"/>
            <a:ext cx="1591056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월 집중도 변화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4288" y="3054096"/>
            <a:ext cx="1280160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계정 · 전기대비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2736" y="3054096"/>
            <a:ext cx="2615184" cy="3566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전기 월 비중 대비 당기 월 비중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529584"/>
            <a:ext cx="5760720" cy="658368"/>
          </a:xfrm>
          <a:prstGeom prst="rect">
            <a:avLst/>
          </a:prstGeom>
          <a:solidFill>
            <a:srgbClr val="FBF1EA"/>
          </a:solidFill>
          <a:ln w="9525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" y="3566160"/>
            <a:ext cx="5596128" cy="58521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정량 성과 측정은 불가능하다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 330건이 39개 계정에 넓게 분산 주입 → 어떤 그룹을 위험군으로 지목해도 최소 61% 확률로 맞는 착시가 생긴다. 그래서 참고 신호로만 쓴다.</a:t>
            </a:r>
          </a:p>
        </p:txBody>
      </p:sp>
      <p:pic>
        <p:nvPicPr>
          <p:cNvPr id="42" name="Picture 41" descr="screenshot-vendor-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343400"/>
            <a:ext cx="2651760" cy="1474775"/>
          </a:xfrm>
          <a:prstGeom prst="rect">
            <a:avLst/>
          </a:prstGeom>
          <a:ln w="9525">
            <a:solidFill>
              <a:srgbClr val="DCDEE1"/>
            </a:solidFill>
          </a:ln>
        </p:spPr>
      </p:pic>
      <p:sp>
        <p:nvSpPr>
          <p:cNvPr id="43" name="TextBox 42"/>
          <p:cNvSpPr txBox="1"/>
          <p:nvPr/>
        </p:nvSpPr>
        <p:spPr>
          <a:xfrm>
            <a:off x="566928" y="5836463"/>
            <a:ext cx="26517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거래처 단위 신호 3종 — 확정이 아닌 근사 신호</a:t>
            </a:r>
          </a:p>
        </p:txBody>
      </p:sp>
      <p:pic>
        <p:nvPicPr>
          <p:cNvPr id="44" name="Picture 43" descr="screenshot-account-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4343400"/>
            <a:ext cx="2971800" cy="1462062"/>
          </a:xfrm>
          <a:prstGeom prst="rect">
            <a:avLst/>
          </a:prstGeom>
          <a:ln w="9525">
            <a:solidFill>
              <a:srgbClr val="DCDEE1"/>
            </a:solidFill>
          </a:ln>
        </p:spPr>
      </p:pic>
      <p:sp>
        <p:nvSpPr>
          <p:cNvPr id="45" name="TextBox 44"/>
          <p:cNvSpPr txBox="1"/>
          <p:nvPr/>
        </p:nvSpPr>
        <p:spPr>
          <a:xfrm>
            <a:off x="3355848" y="5823750"/>
            <a:ext cx="297180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계정별 활동성 변동 — 임계 없이 전 계정 노출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035040"/>
            <a:ext cx="576072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결과 제공 방식 — 모집단 분포 원형을 그대로 제시하고, 검토 우선순위 판단은 감사인에게 넘긴다.</a:t>
            </a:r>
          </a:p>
        </p:txBody>
      </p:sp>
      <p:pic>
        <p:nvPicPr>
          <p:cNvPr id="47" name="Picture 46" descr="screenshot-benfo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772" y="1078992"/>
            <a:ext cx="3566160" cy="2797351"/>
          </a:xfrm>
          <a:prstGeom prst="rect">
            <a:avLst/>
          </a:prstGeom>
          <a:ln w="9525">
            <a:solidFill>
              <a:srgbClr val="DCDEE1"/>
            </a:solidFill>
          </a:ln>
        </p:spPr>
      </p:pic>
      <p:sp>
        <p:nvSpPr>
          <p:cNvPr id="48" name="TextBox 47"/>
          <p:cNvSpPr txBox="1"/>
          <p:nvPr/>
        </p:nvSpPr>
        <p:spPr>
          <a:xfrm>
            <a:off x="7319772" y="3894631"/>
            <a:ext cx="356616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벤포드 첫째 자릿수 — 전체 119,170건 적합 판정 후 계정별 이탈도 상위 제시</a:t>
            </a:r>
          </a:p>
        </p:txBody>
      </p:sp>
      <p:pic>
        <p:nvPicPr>
          <p:cNvPr id="49" name="Picture 48" descr="screenshot-round-den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4168951"/>
            <a:ext cx="4983480" cy="1774975"/>
          </a:xfrm>
          <a:prstGeom prst="rect">
            <a:avLst/>
          </a:prstGeom>
          <a:ln w="9525">
            <a:solidFill>
              <a:srgbClr val="DCDEE1"/>
            </a:solidFill>
          </a:ln>
        </p:spPr>
      </p:pic>
      <p:sp>
        <p:nvSpPr>
          <p:cNvPr id="50" name="TextBox 49"/>
          <p:cNvSpPr txBox="1"/>
          <p:nvPr/>
        </p:nvSpPr>
        <p:spPr>
          <a:xfrm>
            <a:off x="6611112" y="5962214"/>
            <a:ext cx="498348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라운드 넘버 밀집도 — 점선은 해당 데이터에서 산출한 기준선 4.1%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머신러닝 — 비지도 학습 (VAE)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0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8154" y="927201"/>
            <a:ext cx="706374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3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078992"/>
            <a:ext cx="539496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비지도 학습을 고른 이유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354580"/>
            <a:ext cx="1463040" cy="621792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54580"/>
            <a:ext cx="1316736" cy="6217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비지도 학습</a:t>
            </a: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
채택 사유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7984" y="1857755"/>
            <a:ext cx="10972" cy="1615440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57984" y="1857755"/>
            <a:ext cx="146304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04288" y="1499616"/>
            <a:ext cx="3657600" cy="71627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정답 데이터 부재</a:t>
            </a:r>
          </a:p>
          <a:p>
            <a:pPr eaLnBrk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전표별 부정 여부에 대한 정답 라벨이 존재하지 않는다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57984" y="2665475"/>
            <a:ext cx="146304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2307335"/>
            <a:ext cx="3657600" cy="71627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미정의 패턴 대응</a:t>
            </a:r>
          </a:p>
          <a:p>
            <a:pPr eaLnBrk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지도학습은 라벨에 있는 기존 수법만 학습, 비지도는 신종·변형 패턴 식별 가능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7984" y="3473195"/>
            <a:ext cx="146304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04288" y="3115055"/>
            <a:ext cx="3657600" cy="716279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데이터 요건 충족</a:t>
            </a:r>
          </a:p>
          <a:p>
            <a:pPr eaLnBrk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부정 사례는 희소, 정상 전표는 대량 → 정상 분포 학습 후 이탈 정도 측정 용이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078992"/>
            <a:ext cx="5404104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그중 VAE를 고른 이유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354580"/>
            <a:ext cx="1463040" cy="621792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354580"/>
            <a:ext cx="1316736" cy="62179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VAE</a:t>
            </a: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
채택 사유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08976" y="1756791"/>
            <a:ext cx="10972" cy="181736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08976" y="1756791"/>
            <a:ext cx="146304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1499616"/>
            <a:ext cx="3666743" cy="51435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판정 원리</a:t>
            </a:r>
          </a:p>
          <a:p>
            <a:pPr eaLnBrk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데이터를 압축 후 복구하며, 복구 오차를 이상치 점수로 사용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08976" y="2362581"/>
            <a:ext cx="146304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2105406"/>
            <a:ext cx="3666743" cy="51435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근거 제시 가능</a:t>
            </a:r>
          </a:p>
          <a:p>
            <a:pPr eaLnBrk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복구 오차가 항목별로 산출 → 기여도 분해 가능, 별도 설명 도구 불필요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8976" y="2968371"/>
            <a:ext cx="146304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2711196"/>
            <a:ext cx="3666743" cy="51435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혼합형 데이터 처리</a:t>
            </a:r>
          </a:p>
          <a:p>
            <a:pPr eaLnBrk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금액(수치)·계정과목(범주)이 혼재된 전표를 복구 오차라는 동일 척도로 비교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8976" y="3574160"/>
            <a:ext cx="146304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3316985"/>
            <a:ext cx="3666743" cy="51435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단순 암기 방지</a:t>
            </a:r>
          </a:p>
          <a:p>
            <a:pPr eaLnBrk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정상 데이터를 개별적으로 암기하지 못하도록 확률적 제약 → 공통 구조만 학습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950208"/>
            <a:ext cx="11057839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비지도 학습(VAE) 파이프라인 6단계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224528"/>
            <a:ext cx="1675333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224528"/>
            <a:ext cx="1675333" cy="4114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" y="4306824"/>
            <a:ext cx="1510741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1  입력 변수 선정</a:t>
            </a:r>
          </a:p>
          <a:p>
            <a:pPr eaLnBrk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73열 중 원본 39 + 파생 11 = 50열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43429" y="4224528"/>
            <a:ext cx="1675333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43429" y="4224528"/>
            <a:ext cx="1675333" cy="4114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5725" y="4306824"/>
            <a:ext cx="1510741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2  데이터 분할</a:t>
            </a:r>
          </a:p>
          <a:p>
            <a:pPr eaLnBrk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학습 80% · 확인용 20% (전표 단위)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242261" y="4590288"/>
            <a:ext cx="201168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319930" y="4224528"/>
            <a:ext cx="1675333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19930" y="4224528"/>
            <a:ext cx="1675333" cy="4114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02226" y="4306824"/>
            <a:ext cx="1510741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3  전처리</a:t>
            </a:r>
          </a:p>
          <a:p>
            <a:pPr eaLnBrk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학습 Set 기준 통계 파라미터 산출·저장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118762" y="4590288"/>
            <a:ext cx="201168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196431" y="4224528"/>
            <a:ext cx="1675333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96431" y="4224528"/>
            <a:ext cx="1675333" cy="4114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78727" y="4306824"/>
            <a:ext cx="1510741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4  학습</a:t>
            </a:r>
          </a:p>
          <a:p>
            <a:pPr eaLnBrk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정상 전표만 투입 · 라벨 미참조 · 시드 고정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95263" y="4590288"/>
            <a:ext cx="201168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072932" y="4224528"/>
            <a:ext cx="1675333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72932" y="4224528"/>
            <a:ext cx="1675333" cy="4114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55228" y="4306824"/>
            <a:ext cx="1510741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5  이상치 점수화</a:t>
            </a:r>
          </a:p>
          <a:p>
            <a:pPr eaLnBrk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복구 오차를 학습 분포 백분위로 환산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871764" y="4590288"/>
            <a:ext cx="201168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9949434" y="4224528"/>
            <a:ext cx="1675333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49434" y="4224528"/>
            <a:ext cx="1675333" cy="41148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31730" y="4306824"/>
            <a:ext cx="1510741" cy="60350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6  검증 및 평가</a:t>
            </a:r>
          </a:p>
          <a:p>
            <a:pPr eaLnBrk="0" algn="l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1차 정상 과탐 억제 · 2차 판별력 AUROC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748266" y="4590288"/>
            <a:ext cx="201168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6928" y="5138928"/>
            <a:ext cx="11057839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판정 원리 — 복구 오차 하나로 점수와 근거가 같이 나온다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5431536"/>
            <a:ext cx="1845807" cy="512064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" y="5468112"/>
            <a:ext cx="1681215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전표 50열 입력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69935" y="5431536"/>
            <a:ext cx="1845807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52231" y="5468112"/>
            <a:ext cx="1681215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잠재 공간 압축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412735" y="5687568"/>
            <a:ext cx="457200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172943" y="5431536"/>
            <a:ext cx="1845807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55239" y="5468112"/>
            <a:ext cx="1681215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복구(재구성)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4715743" y="5687568"/>
            <a:ext cx="457200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7475951" y="5431536"/>
            <a:ext cx="1845807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58247" y="5468112"/>
            <a:ext cx="1681215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복구 오차 산출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018751" y="5687568"/>
            <a:ext cx="457200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9778959" y="5431536"/>
            <a:ext cx="1845807" cy="512064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61255" y="5468112"/>
            <a:ext cx="1681215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항목별 기여도 분해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321759" y="5687568"/>
            <a:ext cx="457200" cy="0"/>
          </a:xfrm>
          <a:prstGeom prst="line">
            <a:avLst/>
          </a:prstGeom>
          <a:ln w="12700">
            <a:solidFill>
              <a:srgbClr val="8A90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66928" y="6016752"/>
            <a:ext cx="11057839" cy="23774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손실 = 복구 오차 + 잠재 공간 규제 (비중 1:1, 가중 조정 없음) · 복구 오차 백분위 상위 1% 초과 시 검토 후보로 표시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입력 변수 선정과 전처리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0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8154" y="927201"/>
            <a:ext cx="706374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3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078992"/>
            <a:ext cx="11057839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원시 73열 → 최종 입력 50열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517904"/>
            <a:ext cx="4494338" cy="438912"/>
          </a:xfrm>
          <a:prstGeom prst="rect">
            <a:avLst/>
          </a:prstGeom>
          <a:solidFill>
            <a:srgbClr val="15171B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517904"/>
            <a:ext cx="4311458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채택 39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1266" y="1517904"/>
            <a:ext cx="460957" cy="438912"/>
          </a:xfrm>
          <a:prstGeom prst="rect">
            <a:avLst/>
          </a:prstGeom>
          <a:solidFill>
            <a:srgbClr val="8A9099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2224" y="1517904"/>
            <a:ext cx="3457183" cy="438912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3664" y="1517904"/>
            <a:ext cx="3274303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학습 배제 30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34272" y="1737360"/>
            <a:ext cx="292608" cy="0"/>
          </a:xfrm>
          <a:prstGeom prst="line">
            <a:avLst/>
          </a:prstGeom>
          <a:ln w="12700">
            <a:solidFill>
              <a:srgbClr val="D66E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326880" y="1426464"/>
            <a:ext cx="2295144" cy="62179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9176" y="1463040"/>
            <a:ext cx="2130551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 입력 50열</a:t>
            </a:r>
          </a:p>
          <a:p>
            <a:pPr eaLnBrk="0"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FBF1EA"/>
                </a:solidFill>
                <a:latin typeface="Pretendard"/>
                <a:ea typeface="Pretendard"/>
                <a:cs typeface="Pretendard"/>
              </a:rPr>
              <a:t>채택 39 + 파생 채택 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121408"/>
            <a:ext cx="146304" cy="182880"/>
          </a:xfrm>
          <a:prstGeom prst="rect">
            <a:avLst/>
          </a:prstGeom>
          <a:solidFill>
            <a:srgbClr val="15171B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2084831"/>
            <a:ext cx="2249424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학습 변수 채택 39열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8688" y="2121408"/>
            <a:ext cx="146304" cy="182880"/>
          </a:xfrm>
          <a:prstGeom prst="rect">
            <a:avLst/>
          </a:prstGeom>
          <a:solidFill>
            <a:srgbClr val="8A9099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38144" y="2084831"/>
            <a:ext cx="3986783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파생 산출 전용 4열 (전기일·증빙일·승인일·인도일)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07808" y="2121408"/>
            <a:ext cx="146304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7264" y="2084831"/>
            <a:ext cx="3794759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학습 배제 30열 (아래 5개 사유)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487168"/>
            <a:ext cx="603504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학습 배제 30열 — 사유별 열 개수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61488"/>
            <a:ext cx="16002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합성 생성 흔적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7128" y="2889504"/>
            <a:ext cx="137160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67128" y="2889504"/>
            <a:ext cx="1371600" cy="128016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0168" y="2761488"/>
            <a:ext cx="3657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23944" y="2761488"/>
            <a:ext cx="2478023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합성 여부·변형 여부·시나리오 ID 2종·배치 ID와 유형·잡 ID·변형 상세 6종·탐지 힌트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145536"/>
            <a:ext cx="16002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전표 고유 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7128" y="3273552"/>
            <a:ext cx="137160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67128" y="3273552"/>
            <a:ext cx="685800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30168" y="3145536"/>
            <a:ext cx="3657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23944" y="3145536"/>
            <a:ext cx="2478023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전표 ID와 번호·참조번호·IP·행번호·원전표 ID·역분개 전표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529584"/>
            <a:ext cx="16002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정답 라벨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67128" y="3657600"/>
            <a:ext cx="137160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167128" y="3657600"/>
            <a:ext cx="392277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30168" y="3529584"/>
            <a:ext cx="3657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23944" y="3529584"/>
            <a:ext cx="2478023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부정 여부와 유형, 이상 여부와 유형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913632"/>
            <a:ext cx="16002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결측치 과다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67128" y="4041648"/>
            <a:ext cx="137160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67128" y="4041648"/>
            <a:ext cx="293522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30168" y="3913632"/>
            <a:ext cx="3657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23944" y="3913632"/>
            <a:ext cx="2478023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역분개 유형·역분개 사유·사유 코드 (역분개 전용)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4297680"/>
            <a:ext cx="160020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판정 결과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67128" y="4425696"/>
            <a:ext cx="137160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167128" y="4425696"/>
            <a:ext cx="196138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30168" y="4297680"/>
            <a:ext cx="365760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23944" y="4297680"/>
            <a:ext cx="2478023" cy="38404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직무분리 위반 여부·위반 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2487168"/>
            <a:ext cx="4764024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학습 변수 채택 39열 — 묶음별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2761488"/>
            <a:ext cx="132588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금액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83879" y="2793492"/>
            <a:ext cx="24231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83879" y="2793492"/>
            <a:ext cx="2423160" cy="128016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98480" y="2761488"/>
            <a:ext cx="36576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2953512"/>
            <a:ext cx="132588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계정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2985516"/>
            <a:ext cx="24231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83879" y="2985516"/>
            <a:ext cx="2076648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98480" y="2953512"/>
            <a:ext cx="36576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3145536"/>
            <a:ext cx="132588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기간과 소속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83879" y="3177540"/>
            <a:ext cx="24231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183879" y="3177540"/>
            <a:ext cx="1730136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98480" y="3145536"/>
            <a:ext cx="36576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3337560"/>
            <a:ext cx="132588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거래처와 부서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83879" y="3369564"/>
            <a:ext cx="24231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83879" y="3369564"/>
            <a:ext cx="1383624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98480" y="3337560"/>
            <a:ext cx="36576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3529584"/>
            <a:ext cx="132588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거래 성격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83879" y="3561588"/>
            <a:ext cx="24231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83879" y="3561588"/>
            <a:ext cx="1383624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698480" y="3529584"/>
            <a:ext cx="36576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0" y="3721608"/>
            <a:ext cx="132588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사람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83879" y="3753612"/>
            <a:ext cx="24231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83879" y="3753612"/>
            <a:ext cx="1039535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698480" y="3721608"/>
            <a:ext cx="36576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0" y="3913632"/>
            <a:ext cx="132588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적요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83879" y="3945636"/>
            <a:ext cx="24231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83879" y="3945636"/>
            <a:ext cx="1039535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698480" y="3913632"/>
            <a:ext cx="36576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0" y="4105656"/>
            <a:ext cx="132588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전표 상태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83879" y="4137660"/>
            <a:ext cx="24231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183879" y="4137660"/>
            <a:ext cx="1039535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698480" y="4105656"/>
            <a:ext cx="36576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0" y="4297680"/>
            <a:ext cx="132588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세무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83879" y="4329684"/>
            <a:ext cx="24231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83879" y="4329684"/>
            <a:ext cx="693023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698480" y="4297680"/>
            <a:ext cx="36576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0" y="4489704"/>
            <a:ext cx="132588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증빙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83879" y="4521708"/>
            <a:ext cx="24231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183879" y="4521708"/>
            <a:ext cx="693023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698480" y="4489704"/>
            <a:ext cx="365760" cy="1920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6928" y="4846320"/>
            <a:ext cx="66751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파생 변수 채택 11열 — 원본에 없던 축을 만든다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6928" y="5120640"/>
            <a:ext cx="15727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66928" y="5120640"/>
            <a:ext cx="41148" cy="10972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4944" y="5175504"/>
            <a:ext cx="1335024" cy="9875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시계열 주기성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4열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요일·시간대·월중 일자·공휴일 범주화 (23시와 0시의 거리 왜곡 방지)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67712" y="5120640"/>
            <a:ext cx="15727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267712" y="5120640"/>
            <a:ext cx="41148" cy="10972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395728" y="5175504"/>
            <a:ext cx="1335024" cy="9875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업무 리드 타임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3열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주요 일자 간 격차 (+/− 부호로 소급·지연 식별)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968496" y="5120640"/>
            <a:ext cx="15727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968496" y="5120640"/>
            <a:ext cx="41148" cy="10972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096511" y="5175504"/>
            <a:ext cx="1335024" cy="9875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외부 통제 환경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2열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인사 마스터 조인 — 원본에 없는 승인자 한도·유효성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669280" y="5120640"/>
            <a:ext cx="157276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669280" y="5120640"/>
            <a:ext cx="41148" cy="109728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797296" y="5175504"/>
            <a:ext cx="1335024" cy="9875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금액 속성 구조화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2열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첫 자릿수·끝자리 0 개수 (로그 변환 시 소실되는 패턴 보존)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406640" y="4846320"/>
            <a:ext cx="4215384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전처리·스케일링 5기법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406640" y="5120640"/>
            <a:ext cx="4215384" cy="205740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498079" y="5120640"/>
            <a:ext cx="1325880" cy="2057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원-핫 인코딩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69680" y="5120640"/>
            <a:ext cx="2697480" cy="2057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고윳값별 독립 차원 할당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06640" y="5344668"/>
            <a:ext cx="4215384" cy="2057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498079" y="5344668"/>
            <a:ext cx="1325880" cy="2057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빈도 인코딩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5344668"/>
            <a:ext cx="2697480" cy="2057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전체 데이터 내 출현 비율(%)로 치환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406640" y="5568696"/>
            <a:ext cx="4215384" cy="205740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498079" y="5568696"/>
            <a:ext cx="1325880" cy="2057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부호 보존 로그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869680" y="5568696"/>
            <a:ext cx="2697480" cy="2057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부호를 유지한 채 스케일만 축소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406640" y="5792724"/>
            <a:ext cx="4215384" cy="2057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498079" y="5792724"/>
            <a:ext cx="1325880" cy="2057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적응형 스케일링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869680" y="5792724"/>
            <a:ext cx="2697480" cy="2057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치우침·이상치 비율로 중앙값/평균 자동 선택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406640" y="6016752"/>
            <a:ext cx="4215384" cy="205740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498079" y="6016752"/>
            <a:ext cx="1325880" cy="2057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이진화 처리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869680" y="6016752"/>
            <a:ext cx="2697480" cy="2057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조건 충족 1 / 미충족 0, 결측은 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6419088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2103120" cy="4572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274320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0"/>
            <a:ext cx="914400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9584"/>
            <a:ext cx="7680960" cy="40233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정상 베이스라인 · 단일 룰 발현 · 이상 주입 후 회수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224528"/>
            <a:ext cx="1220724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224528"/>
            <a:ext cx="1220724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16 검증 ① 룰</a:t>
            </a:r>
          </a:p>
        </p:txBody>
      </p:sp>
      <p:sp>
        <p:nvSpPr>
          <p:cNvPr id="9" name="Rectangle 8"/>
          <p:cNvSpPr/>
          <p:nvPr/>
        </p:nvSpPr>
        <p:spPr>
          <a:xfrm>
            <a:off x="1915668" y="4224528"/>
            <a:ext cx="1431036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15668" y="4224528"/>
            <a:ext cx="1431036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17 검증 ② VAE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검증 ① 룰 기반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0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1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61823" y="927201"/>
            <a:ext cx="437769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정상 데이터 베이스라인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28 / 0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통과 / 실패 · 원장 355,786행 투입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4247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3975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단일 룰 발현 정확도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29 / 29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룰별 위반 2~5건 주입 · 74행 / 전표 36건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1567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1295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최대 회수율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99.4~100%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 전표 328~330 / 330건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28887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8615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실질 회수율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89.7~90.9%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296~300 / 330건 · lift ≤ 1.0 제외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194560"/>
            <a:ext cx="722376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룰별 판별력 lift — 막대는 로그 눈금(최대 810배)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468880"/>
            <a:ext cx="192024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L4-04 희소계정쌍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7168" y="2524252"/>
            <a:ext cx="21945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87168" y="2524252"/>
            <a:ext cx="2194560" cy="128016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2468880"/>
            <a:ext cx="50292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810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4104" y="2468880"/>
            <a:ext cx="2386584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 17.0% · 정상 0.02%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07640"/>
            <a:ext cx="192024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L2-05 역분개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2763012"/>
            <a:ext cx="21945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87168" y="2763012"/>
            <a:ext cx="1537030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3168" y="2707640"/>
            <a:ext cx="50292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108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4104" y="2707640"/>
            <a:ext cx="2386584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 30.9% · 정상 0.29%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946400"/>
            <a:ext cx="192024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L1-05 자기승인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87168" y="3001772"/>
            <a:ext cx="21945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87168" y="3001772"/>
            <a:ext cx="1341434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2946400"/>
            <a:ext cx="50292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4104" y="2946400"/>
            <a:ext cx="2386584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 19.7% · 정상 0.33%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185160"/>
            <a:ext cx="192024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L2-04 비용자산화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3240532"/>
            <a:ext cx="21945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87168" y="3240532"/>
            <a:ext cx="1216681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3168" y="3185160"/>
            <a:ext cx="50292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4104" y="3185160"/>
            <a:ext cx="2386584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 7.6% · 정상 0.19%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423920"/>
            <a:ext cx="192024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L3-09 가수금 체류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87168" y="3479292"/>
            <a:ext cx="21945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87168" y="3479292"/>
            <a:ext cx="1027284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73168" y="3423920"/>
            <a:ext cx="50292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4104" y="3423920"/>
            <a:ext cx="2386584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 9.4% · 정상 0.43%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662680"/>
            <a:ext cx="192024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L3-02 수기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87168" y="3718051"/>
            <a:ext cx="21945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87168" y="3718051"/>
            <a:ext cx="391165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73168" y="3662680"/>
            <a:ext cx="50292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2.3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04104" y="3662680"/>
            <a:ext cx="2386584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 59.1% · 정상 25.7%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901440"/>
            <a:ext cx="192024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L3-04 기말결산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87168" y="3956812"/>
            <a:ext cx="21945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87168" y="3956812"/>
            <a:ext cx="313055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73168" y="3901440"/>
            <a:ext cx="50292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1.6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04104" y="3901440"/>
            <a:ext cx="2386584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 70.9% · 정상 44.5%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4140200"/>
            <a:ext cx="192024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L1-07 승인생략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87168" y="4195572"/>
            <a:ext cx="21945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87168" y="4195572"/>
            <a:ext cx="162077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73168" y="4140200"/>
            <a:ext cx="50292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0.64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04104" y="4140200"/>
            <a:ext cx="2386584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 46.1% · 정상 71.6% (역전)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4378960"/>
            <a:ext cx="192024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무발현 룰 6종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87168" y="4434332"/>
            <a:ext cx="219456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73168" y="4378960"/>
            <a:ext cx="502920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04104" y="4378960"/>
            <a:ext cx="2386584" cy="238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 0% · 정상 0.01~0.6%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2194560"/>
            <a:ext cx="3575304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lift를 판정선으로 읽는 법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2468880"/>
            <a:ext cx="3575304" cy="493776"/>
          </a:xfrm>
          <a:prstGeom prst="rect">
            <a:avLst/>
          </a:prstGeom>
          <a:solidFill>
            <a:srgbClr val="FBF1EA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29016" y="2505456"/>
            <a:ext cx="3410712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lift &gt; 1.0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정상 전표 대비 이상 전표에서 발현율 극대화 — 변별력 있음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0" y="3017520"/>
            <a:ext cx="3575304" cy="493776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29016" y="3054096"/>
            <a:ext cx="3410712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lift = 1.0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정상·이상에서 완전히 동일한 확률로 발현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3566160"/>
            <a:ext cx="3575304" cy="493776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29016" y="3602736"/>
            <a:ext cx="3410712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lift &lt; 1.0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이상보다 정상에서 더 자주 발현 — 실질 회수율에서 제외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6720" y="4114800"/>
            <a:ext cx="357530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29016" y="4151376"/>
            <a:ext cx="3410712" cy="4297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무발현 룰 6종 (lift 0)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승인한도초과 · 한도 직하 분할 · 분할 거래 · 소급기표 · 매출과대 · 이상고액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4718304"/>
            <a:ext cx="11057839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정상 데이터 베이스라인 — 실측 발현율(주황)이 사전 선언 임계 범위(회색 띠) 안에 들어왔다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5010912"/>
            <a:ext cx="3588410" cy="374904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5010912"/>
            <a:ext cx="14813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L1-07 승인생략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94560" y="5180076"/>
            <a:ext cx="1234440" cy="3657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688336" y="5129784"/>
            <a:ext cx="493776" cy="137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924507" y="5093208"/>
            <a:ext cx="45720" cy="21031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74720" y="5010912"/>
            <a:ext cx="640080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22.73%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01642" y="5010912"/>
            <a:ext cx="3588410" cy="374904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93082" y="5010912"/>
            <a:ext cx="14813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L3-04 기말결산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29274" y="5180076"/>
            <a:ext cx="1234440" cy="3657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423050" y="5129784"/>
            <a:ext cx="493776" cy="137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609185" y="5093208"/>
            <a:ext cx="45720" cy="21031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209434" y="5010912"/>
            <a:ext cx="640080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14.14%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36356" y="5010912"/>
            <a:ext cx="3588410" cy="374904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27796" y="5010912"/>
            <a:ext cx="14813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L3-02 수기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663988" y="5180076"/>
            <a:ext cx="1234440" cy="3657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75468" y="5129784"/>
            <a:ext cx="576072" cy="137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317236" y="5093208"/>
            <a:ext cx="45720" cy="21031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944148" y="5010912"/>
            <a:ext cx="640080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8.16%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66928" y="5428518"/>
            <a:ext cx="358841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8368" y="5428518"/>
            <a:ext cx="14813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L3-06 심야 입력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194560" y="5597682"/>
            <a:ext cx="1234440" cy="3657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342692" y="5547390"/>
            <a:ext cx="839419" cy="137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577465" y="5510814"/>
            <a:ext cx="45720" cy="21031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474720" y="5428518"/>
            <a:ext cx="640080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3.25%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301642" y="5428518"/>
            <a:ext cx="358841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93082" y="5428518"/>
            <a:ext cx="14813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L1-06 직무분리 겸직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29274" y="5597682"/>
            <a:ext cx="1234440" cy="3657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990996" y="5547390"/>
            <a:ext cx="925830" cy="137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287490" y="5510814"/>
            <a:ext cx="45720" cy="21031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209434" y="5428518"/>
            <a:ext cx="640080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3.05%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36356" y="5428518"/>
            <a:ext cx="358841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127796" y="5428518"/>
            <a:ext cx="14813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L4-05 심야 배치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63988" y="5597682"/>
            <a:ext cx="1234440" cy="3657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87432" y="5547390"/>
            <a:ext cx="864108" cy="137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991344" y="5510814"/>
            <a:ext cx="45720" cy="21031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944148" y="5428518"/>
            <a:ext cx="640080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2.8%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8" y="5846124"/>
            <a:ext cx="3588410" cy="374904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58368" y="5846124"/>
            <a:ext cx="14813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L3-05 휴일 입력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194560" y="6015288"/>
            <a:ext cx="1234440" cy="3657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304288" y="5964996"/>
            <a:ext cx="877824" cy="137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449494" y="5928420"/>
            <a:ext cx="45720" cy="21031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474720" y="5846124"/>
            <a:ext cx="640080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2.49%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301642" y="5846124"/>
            <a:ext cx="3588410" cy="374904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393082" y="5846124"/>
            <a:ext cx="14813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L3-10 추정계정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929274" y="6015288"/>
            <a:ext cx="1234440" cy="3657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028029" y="5964996"/>
            <a:ext cx="888796" cy="137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503517" y="5928420"/>
            <a:ext cx="45720" cy="21031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9434" y="5846124"/>
            <a:ext cx="640080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0.42%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36356" y="5846124"/>
            <a:ext cx="3588410" cy="374904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127796" y="5846124"/>
            <a:ext cx="1481328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L4-03 이상고액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663988" y="6015288"/>
            <a:ext cx="1234440" cy="3657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770973" y="5964996"/>
            <a:ext cx="880567" cy="137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958425" y="5928420"/>
            <a:ext cx="45720" cy="21031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944148" y="5846124"/>
            <a:ext cx="640080" cy="3749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0.19%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검증 ② VAE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0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1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61823" y="927201"/>
            <a:ext cx="437769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전표 단위 AUROC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0.8845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4세트 평균 · 무작위 = 0.5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4247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3975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세트 간 편차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0.0154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0.8775 ~ 0.8929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1567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1295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상위 1% 회수율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0.3568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검토 대상 1,134건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28887" y="1078992"/>
            <a:ext cx="2695879" cy="859536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8615" y="1170432"/>
            <a:ext cx="2476423" cy="6766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미학습 정상 발현율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1.956%</a:t>
            </a:r>
          </a:p>
          <a:p>
            <a:pPr eaLnBrk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데이터 생성 시 설정 이상 1.00%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194560"/>
            <a:ext cx="329184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4세트 반복 — 시드만 바꿔 재측정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468880"/>
            <a:ext cx="960120" cy="4297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r9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27048" y="2619756"/>
            <a:ext cx="14173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27048" y="2619756"/>
            <a:ext cx="1070076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35808" y="2468880"/>
            <a:ext cx="548640" cy="4297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0.8775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898648"/>
            <a:ext cx="960120" cy="4297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r9_seed1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27048" y="3049524"/>
            <a:ext cx="14173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7048" y="3049524"/>
            <a:ext cx="1085667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35808" y="2898648"/>
            <a:ext cx="548640" cy="4297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0.8831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328416"/>
            <a:ext cx="960120" cy="4297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r9_seed2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27048" y="3479292"/>
            <a:ext cx="14173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27048" y="3479292"/>
            <a:ext cx="1089919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5808" y="3328416"/>
            <a:ext cx="548640" cy="4297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0.8844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758184"/>
            <a:ext cx="960120" cy="4297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r9_seed3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27048" y="3909060"/>
            <a:ext cx="14173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27048" y="3909060"/>
            <a:ext cx="1114013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35808" y="3758184"/>
            <a:ext cx="548640" cy="4297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0.8929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187952"/>
            <a:ext cx="960120" cy="4297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4세트 평균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27048" y="4338828"/>
            <a:ext cx="141732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27048" y="4338828"/>
            <a:ext cx="1089919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35808" y="4187952"/>
            <a:ext cx="548640" cy="4297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0.8845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2194560"/>
            <a:ext cx="352044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항목별 기여 배율 — 근거가 수법과 맞는다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2468880"/>
            <a:ext cx="1874519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인도일−증빙일 간격 (4세트)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2583942"/>
            <a:ext cx="10058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89320" y="2583942"/>
            <a:ext cx="1005840" cy="128016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0" y="2468880"/>
            <a:ext cx="411480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39.0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2827020"/>
            <a:ext cx="1874519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대변 금액 (3세트)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2942082"/>
            <a:ext cx="10058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89320" y="2942082"/>
            <a:ext cx="725210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6600" y="2827020"/>
            <a:ext cx="411480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28.1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3185160"/>
            <a:ext cx="1874519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차변 금액 (3세트)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3300222"/>
            <a:ext cx="10058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89320" y="3300222"/>
            <a:ext cx="376184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86600" y="3185160"/>
            <a:ext cx="411480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14.6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3543300"/>
            <a:ext cx="1874519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전표유형 = KR (3세트)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3658362"/>
            <a:ext cx="10058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89320" y="3658362"/>
            <a:ext cx="286664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86600" y="3543300"/>
            <a:ext cx="411480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11.1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3901440"/>
            <a:ext cx="1874519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업무프로세스 = 구매 (3세트)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4016502"/>
            <a:ext cx="10058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89320" y="4016502"/>
            <a:ext cx="219273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86600" y="3901440"/>
            <a:ext cx="411480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8.5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4259580"/>
            <a:ext cx="1874519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인도일 간격 결측 (4세트)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89320" y="4374642"/>
            <a:ext cx="1005840" cy="128016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89320" y="4374642"/>
            <a:ext cx="204185" cy="12801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86600" y="4259580"/>
            <a:ext cx="411480" cy="3581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7.9</a:t>
            </a:r>
          </a:p>
        </p:txBody>
      </p:sp>
      <p:pic>
        <p:nvPicPr>
          <p:cNvPr id="68" name="Picture 67" descr="screenshot-vae-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583" y="2176272"/>
            <a:ext cx="3758184" cy="2521939"/>
          </a:xfrm>
          <a:prstGeom prst="rect">
            <a:avLst/>
          </a:prstGeom>
          <a:ln w="9525">
            <a:solidFill>
              <a:srgbClr val="DCDEE1"/>
            </a:solidFill>
          </a:ln>
        </p:spPr>
      </p:pic>
      <p:sp>
        <p:nvSpPr>
          <p:cNvPr id="69" name="TextBox 68"/>
          <p:cNvSpPr txBox="1"/>
          <p:nvPr/>
        </p:nvSpPr>
        <p:spPr>
          <a:xfrm>
            <a:off x="7866583" y="4716499"/>
            <a:ext cx="3758184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score 분포·분위 통계·ROC 곡선 (화면 값은 구 회차 배치 기준)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5175504"/>
            <a:ext cx="3564026" cy="1042415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9224" y="5212080"/>
            <a:ext cx="3399434" cy="969263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1차 — 정상 과탐 억제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미학습 정상 발현율 1.956% (데이터 생성 시 설정 이상 1.00%)</a:t>
            </a: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
학습 구간 발현율 0.999% · 학습 표본 정상 200,001행 / 전표 63,854건</a:t>
            </a: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
라벨 미사용 · 입력 = 원본 속성 39 + 생성 파생 11 = 50개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13834" y="5175504"/>
            <a:ext cx="3564026" cy="1042415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96130" y="5212080"/>
            <a:ext cx="3399434" cy="969263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2차 — 판별력(AUROC)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실측 손실 = 복구 오차 0.0724 + 잠재 규제 0.1105 (비중 1:1, 가중 조정 없음)</a:t>
            </a: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
전표 단위 AUROC 4세트 평균 0.8845 (0.8775~0.8929)</a:t>
            </a: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
시드 고정 — 동일 데이터 재측정 시 동일 값 산출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60740" y="5175504"/>
            <a:ext cx="3564026" cy="1042415"/>
          </a:xfrm>
          <a:prstGeom prst="rect">
            <a:avLst/>
          </a:prstGeom>
          <a:solidFill>
            <a:srgbClr val="FBF1EA"/>
          </a:solidFill>
          <a:ln w="9525">
            <a:solidFill>
              <a:srgbClr val="D66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43036" y="5212080"/>
            <a:ext cx="3399434" cy="969263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해석 범위 — 가공매출 계열 한정</a:t>
            </a:r>
          </a:p>
          <a:p>
            <a:pPr eaLnBrk="0" algn="l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유령급여 등 다른 계열은 성과 없음</a:t>
            </a: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
핵심 판정 근거는 인도일−증빙일 간격, 생성 흔적에는 거의 반응하지 않음</a:t>
            </a: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
4세트 반복에서 일관된 근거로 적발 — 재현성 확보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6419088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2103120" cy="4572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2743200" cy="56692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43200"/>
            <a:ext cx="914400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의사결정과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9584"/>
            <a:ext cx="7680960" cy="40233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무엇을 빼기로 했고, 무엇이 아직 안 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224528"/>
            <a:ext cx="2377440" cy="310896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224528"/>
            <a:ext cx="2377440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CDEE1"/>
                </a:solidFill>
                <a:latin typeface="Pretendard"/>
                <a:ea typeface="Pretendard"/>
                <a:cs typeface="Pretendard"/>
              </a:rPr>
              <a:t>19 의사결정 · 한계 · 기술 스택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4681728" cy="51206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핵심 의사결정과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32688"/>
            <a:ext cx="11057839" cy="16459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932688"/>
            <a:ext cx="1051560" cy="16459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400800"/>
            <a:ext cx="11057839" cy="10972"/>
          </a:xfrm>
          <a:prstGeom prst="rect">
            <a:avLst/>
          </a:prstGeom>
          <a:solidFill>
            <a:srgbClr val="DC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로컬 기반 전표 데이터 전수 분석 시스템 · local-ai-assist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55664"/>
            <a:ext cx="1563624" cy="23774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8" name="부내비:Ⅰ"/>
          <p:cNvSpPr txBox="1"/>
          <p:nvPr/>
        </p:nvSpPr>
        <p:spPr>
          <a:xfrm>
            <a:off x="5486400" y="548640"/>
            <a:ext cx="135788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Ⅰ 분석 범위와 문제 인식</a:t>
            </a:r>
          </a:p>
        </p:txBody>
      </p:sp>
      <p:sp>
        <p:nvSpPr>
          <p:cNvPr id="9" name="부내비:Ⅱ"/>
          <p:cNvSpPr txBox="1"/>
          <p:nvPr/>
        </p:nvSpPr>
        <p:spPr>
          <a:xfrm>
            <a:off x="7151579" y="548640"/>
            <a:ext cx="10892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Ⅱ 합성 데이터 생성</a:t>
            </a:r>
          </a:p>
        </p:txBody>
      </p:sp>
      <p:sp>
        <p:nvSpPr>
          <p:cNvPr id="10" name="부내비:Ⅲ"/>
          <p:cNvSpPr txBox="1"/>
          <p:nvPr/>
        </p:nvSpPr>
        <p:spPr>
          <a:xfrm>
            <a:off x="8548154" y="548640"/>
            <a:ext cx="706374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Ⅲ 분석 모델</a:t>
            </a:r>
          </a:p>
        </p:txBody>
      </p:sp>
      <p:sp>
        <p:nvSpPr>
          <p:cNvPr id="11" name="부내비:Ⅳ"/>
          <p:cNvSpPr txBox="1"/>
          <p:nvPr/>
        </p:nvSpPr>
        <p:spPr>
          <a:xfrm>
            <a:off x="9561823" y="548640"/>
            <a:ext cx="43776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Ⅳ 검증</a:t>
            </a:r>
          </a:p>
        </p:txBody>
      </p:sp>
      <p:sp>
        <p:nvSpPr>
          <p:cNvPr id="12" name="부내비:Ⅴ"/>
          <p:cNvSpPr txBox="1"/>
          <p:nvPr/>
        </p:nvSpPr>
        <p:spPr>
          <a:xfrm>
            <a:off x="10306888" y="548640"/>
            <a:ext cx="1317879" cy="27432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Ⅴ 핵심 의사결정과 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06888" y="927201"/>
            <a:ext cx="1317879" cy="27432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078992"/>
            <a:ext cx="5760720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자동 위험 등급 산출 기능 폐지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481328"/>
            <a:ext cx="5760720" cy="310896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1481328"/>
            <a:ext cx="896112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1481328"/>
            <a:ext cx="2048256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변경 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481328"/>
            <a:ext cx="2048256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변경 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1792224"/>
            <a:ext cx="5760720" cy="4206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60" y="1792224"/>
            <a:ext cx="2304288" cy="4206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1792224"/>
            <a:ext cx="896112" cy="420623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산출 방식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1792224"/>
            <a:ext cx="2048256" cy="420623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HIGH/MEDIUM/LOW/CONTEXT 자동 부여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792224"/>
            <a:ext cx="2048256" cy="420623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시스템 등급화 폐지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2212848"/>
            <a:ext cx="2304288" cy="4206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2212848"/>
            <a:ext cx="896112" cy="420623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산출 근거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2212848"/>
            <a:ext cx="2048256" cy="420623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주관적·임의적 가중치 배점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1376" y="2212848"/>
            <a:ext cx="2048256" cy="420623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감리 지적 건수·기준서 원문 표기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633472"/>
            <a:ext cx="5760720" cy="4206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23360" y="2633472"/>
            <a:ext cx="2304288" cy="420623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2633472"/>
            <a:ext cx="896112" cy="420623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판단 주체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2633472"/>
            <a:ext cx="2048256" cy="420623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시스템이 위험 여부 선언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51376" y="2633472"/>
            <a:ext cx="2048256" cy="420623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감사인이 최종 판단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078992"/>
            <a:ext cx="5129784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프로젝트 범위 조정 — 데이터·보안 제약으로 배제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481328"/>
            <a:ext cx="5129784" cy="463296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1481328"/>
            <a:ext cx="45720" cy="4632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1" y="1536192"/>
            <a:ext cx="1330452" cy="3535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관계 분석 계열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7011" y="1536192"/>
            <a:ext cx="3232403" cy="3535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사유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순환거래 검사기 — 단일 법인 전표로는 확인 불가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2036064"/>
            <a:ext cx="5129784" cy="463296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2036064"/>
            <a:ext cx="45720" cy="4632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6831" y="2090928"/>
            <a:ext cx="1330452" cy="3535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앙상블 모델 비교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7011" y="2090928"/>
            <a:ext cx="3232403" cy="3535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사유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합성 라벨 지도학습은 주입 규칙만 외우는 순환 학습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590800"/>
            <a:ext cx="5129784" cy="463296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0" y="2590800"/>
            <a:ext cx="45720" cy="46329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1" y="2645664"/>
            <a:ext cx="1330452" cy="3535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LLM 서술 생성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7011" y="2645664"/>
            <a:ext cx="3232403" cy="35356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사유</a:t>
            </a:r>
          </a:p>
          <a:p>
            <a:pPr eaLnBrk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Text-to-SQL 포함 — 외부 API에 전표 전송 금지(보안)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145536"/>
            <a:ext cx="11057839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한계점 6 — 데이터를 다시 만들어도 해소되지 않는 것이 절반이다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3419856"/>
            <a:ext cx="5483199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6928" y="3419856"/>
            <a:ext cx="41148" cy="518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3419856"/>
            <a:ext cx="1644959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① 합성 데이터 기반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9903" y="3419856"/>
            <a:ext cx="2412607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실제 기업 전표 확보 불가 — 실제 운영 성능으로 확대 해석 불가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15807" y="3419856"/>
            <a:ext cx="1206303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검증 한계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41567" y="3419856"/>
            <a:ext cx="5483199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41567" y="3419856"/>
            <a:ext cx="41148" cy="51816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9583" y="3419856"/>
            <a:ext cx="1644959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④ 단일 법인 단일 소스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14543" y="3419856"/>
            <a:ext cx="2412607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은행 계좌망·타사 장부·거래처 마스터 부재 — 순환거래·가공거래처·유령급여 확인 불가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90447" y="3419856"/>
            <a:ext cx="1206303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원리적 한계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4029456"/>
            <a:ext cx="5483199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" y="4029456"/>
            <a:ext cx="41148" cy="518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" y="4029456"/>
            <a:ext cx="1644959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② 정답 데이터 자체 주입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39903" y="4029456"/>
            <a:ext cx="2412607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평가용 이상 데이터를 직접 주입 — 주입 방식에 따라 객관성 훼손 우려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15807" y="4029456"/>
            <a:ext cx="1206303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검증 한계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41567" y="4029456"/>
            <a:ext cx="5483199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41567" y="4029456"/>
            <a:ext cx="41148" cy="51816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9583" y="4029456"/>
            <a:ext cx="1644959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⑤ 치밀한 조작 검증 불가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14543" y="4029456"/>
            <a:ext cx="2412607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승인·증빙·차대변이 모두 구비된 조작은 룰 기반 검증 불가능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90447" y="4029456"/>
            <a:ext cx="1206303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원리적 한계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4639056"/>
            <a:ext cx="5483199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6928" y="4639056"/>
            <a:ext cx="41148" cy="518160"/>
          </a:xfrm>
          <a:prstGeom prst="rect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" y="4639056"/>
            <a:ext cx="1644959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③ 판정 기준 내부 산출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39903" y="4639056"/>
            <a:ext cx="2412607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정상 데이터 허용 수치를 외부 공인 기준 없이 자체 설정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15807" y="4639056"/>
            <a:ext cx="1206303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검증 한계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41567" y="4639056"/>
            <a:ext cx="5483199" cy="518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41567" y="4639056"/>
            <a:ext cx="41148" cy="518160"/>
          </a:xfrm>
          <a:prstGeom prst="rect">
            <a:avLst/>
          </a:prstGeom>
          <a:solidFill>
            <a:srgbClr val="D6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9583" y="4639056"/>
            <a:ext cx="1644959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66E3A"/>
                </a:solidFill>
                <a:latin typeface="Pretendard"/>
                <a:ea typeface="Pretendard"/>
                <a:cs typeface="Pretendard"/>
              </a:rPr>
              <a:t>⑥ VAE 탐지 편향성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14543" y="4639056"/>
            <a:ext cx="2412607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추가 탐지 성과가 가공매출 계열에 한정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90447" y="4639056"/>
            <a:ext cx="1206303" cy="5181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원리적 한계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285232"/>
            <a:ext cx="11057839" cy="21945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eaLnBrk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171B"/>
                </a:solidFill>
                <a:latin typeface="Pretendard"/>
                <a:ea typeface="Pretendard"/>
                <a:cs typeface="Pretendard"/>
              </a:rPr>
              <a:t>기술 스택 9계층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" y="5559552"/>
            <a:ext cx="1147368" cy="65836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6928" y="5559552"/>
            <a:ext cx="1147368" cy="3657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5632704"/>
            <a:ext cx="1001064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합성데이터 생성</a:t>
            </a:r>
          </a:p>
          <a:p>
            <a:pPr eaLnBrk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Rust · 15 크레이트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05736" y="5559552"/>
            <a:ext cx="1147368" cy="65836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05736" y="5559552"/>
            <a:ext cx="1147368" cy="3657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878888" y="5632704"/>
            <a:ext cx="1001064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언어/패키지</a:t>
            </a:r>
          </a:p>
          <a:p>
            <a:pPr eaLnBrk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Python 3.11+ · uv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44545" y="5559552"/>
            <a:ext cx="1147368" cy="65836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044545" y="5559552"/>
            <a:ext cx="1147368" cy="3657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17697" y="5632704"/>
            <a:ext cx="1001064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수집/전처리</a:t>
            </a:r>
          </a:p>
          <a:p>
            <a:pPr eaLnBrk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pandas 2.x · rapidfuzz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83354" y="5559552"/>
            <a:ext cx="1147368" cy="65836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83354" y="5559552"/>
            <a:ext cx="1147368" cy="3657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356506" y="5632704"/>
            <a:ext cx="1001064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데이터 검증</a:t>
            </a:r>
          </a:p>
          <a:p>
            <a:pPr eaLnBrk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Pandera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22163" y="5559552"/>
            <a:ext cx="1147368" cy="65836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522163" y="5559552"/>
            <a:ext cx="1147368" cy="3657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95315" y="5632704"/>
            <a:ext cx="1001064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통계</a:t>
            </a:r>
          </a:p>
          <a:p>
            <a:pPr eaLnBrk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scipy.stats · numpy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760972" y="5559552"/>
            <a:ext cx="1147368" cy="65836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760972" y="5559552"/>
            <a:ext cx="1147368" cy="3657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34124" y="5632704"/>
            <a:ext cx="1001064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비지도 학습</a:t>
            </a:r>
          </a:p>
          <a:p>
            <a:pPr eaLnBrk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PyTorch · scikit-learn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99780" y="5559552"/>
            <a:ext cx="1147368" cy="65836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999780" y="5559552"/>
            <a:ext cx="1147368" cy="3657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72932" y="5632704"/>
            <a:ext cx="1001064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저장</a:t>
            </a:r>
          </a:p>
          <a:p>
            <a:pPr eaLnBrk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238589" y="5559552"/>
            <a:ext cx="1147368" cy="65836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238589" y="5559552"/>
            <a:ext cx="1147368" cy="3657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311741" y="5632704"/>
            <a:ext cx="1001064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설정</a:t>
            </a:r>
          </a:p>
          <a:p>
            <a:pPr eaLnBrk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pydantic-settings · YAML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477398" y="5559552"/>
            <a:ext cx="1147368" cy="658368"/>
          </a:xfrm>
          <a:prstGeom prst="rect">
            <a:avLst/>
          </a:prstGeom>
          <a:solidFill>
            <a:srgbClr val="F2F3F5"/>
          </a:solidFill>
          <a:ln w="9525">
            <a:solidFill>
              <a:srgbClr val="DCDE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477398" y="5559552"/>
            <a:ext cx="1147368" cy="3657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550550" y="5632704"/>
            <a:ext cx="1001064" cy="53035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eaLnBrk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F2329"/>
                </a:solidFill>
                <a:latin typeface="Pretendard"/>
                <a:ea typeface="Pretendard"/>
                <a:cs typeface="Pretendard"/>
              </a:rPr>
              <a:t>화면</a:t>
            </a:r>
          </a:p>
          <a:p>
            <a:pPr eaLnBrk="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750" b="0" i="0">
                <a:solidFill>
                  <a:srgbClr val="8A9099"/>
                </a:solidFill>
                <a:latin typeface="Pretendard"/>
                <a:ea typeface="Pretendard"/>
                <a:cs typeface="Pretendard"/>
              </a:rPr>
              <a:t>Streamlit · Plotly · AgGrid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