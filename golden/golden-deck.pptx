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5171B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DEE0E2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재현</c:v>
                </c:pt>
                <c:pt idx="1">
                  <c:v>미재현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14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9.png"/><Relationship Id="rId9" Type="http://schemas.openxmlformats.org/officeDocument/2006/relationships/image" Target="../media/image7.png"/><Relationship Id="rId10" Type="http://schemas.openxmlformats.org/officeDocument/2006/relationships/image" Target="../media/image10.png"/><Relationship Id="rId11" Type="http://schemas.openxmlformats.org/officeDocument/2006/relationships/image" Target="../media/image2.png"/><Relationship Id="rId1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10.png"/><Relationship Id="rId10" Type="http://schemas.openxmlformats.org/officeDocument/2006/relationships/image" Target="../media/image3.png"/><Relationship Id="rId11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Relationship Id="rId8" Type="http://schemas.openxmlformats.org/officeDocument/2006/relationships/image" Target="../media/image4.png"/><Relationship Id="rId9" Type="http://schemas.openxmlformats.org/officeDocument/2006/relationships/image" Target="../media/image9.png"/><Relationship Id="rId10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24.png"/><Relationship Id="rId9" Type="http://schemas.openxmlformats.org/officeDocument/2006/relationships/image" Target="../media/image9.png"/><Relationship Id="rId10" Type="http://schemas.openxmlformats.org/officeDocument/2006/relationships/image" Target="../media/image25.png"/><Relationship Id="rId11" Type="http://schemas.openxmlformats.org/officeDocument/2006/relationships/image" Target="../media/image1.png"/><Relationship Id="rId12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chart" Target="../charts/chart1.xml"/><Relationship Id="rId5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18.png"/><Relationship Id="rId8" Type="http://schemas.openxmlformats.org/officeDocument/2006/relationships/image" Target="../media/image30.png"/><Relationship Id="rId9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8A9099"/>
                </a:solidFill>
                <a:latin typeface="Pretendard"/>
              </a:rPr>
              <a:t>TECHNICAL PROPOSAL · K-IFRS 1115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1002975" cy="12801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2514600"/>
            <a:ext cx="274320" cy="27432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880360"/>
            <a:ext cx="11002975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4000" b="1" lang="ko-KR">
                <a:solidFill>
                  <a:srgbClr val="15171B"/>
                </a:solidFill>
                <a:latin typeface="Pretendard"/>
              </a:rPr>
              <a:t>K-IFRS 1115 온톨로지 지식그래프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86200"/>
            <a:ext cx="100584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0" lang="ko-KR">
                <a:solidFill>
                  <a:srgbClr val="1F2329"/>
                </a:solidFill>
                <a:latin typeface="Pretendard"/>
              </a:rPr>
              <a:t>확실할 때만 확정하고, 애매하면 근거를 보여주며 유보한다 — 2종 오류를 구조로 차단하는 수익인식 특화 챗봇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36576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0" lang="ko-KR">
                <a:solidFill>
                  <a:srgbClr val="8A9099"/>
                </a:solidFill>
                <a:latin typeface="Pretendard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1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69379"/>
            <a:ext cx="548640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FFFFFF"/>
                </a:solidFill>
                <a:latin typeface="Pretendard"/>
              </a:rPr>
              <a:t>My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822960"/>
            <a:ext cx="1767535" cy="822960"/>
          </a:xfrm>
          <a:prstGeom prst="rect">
            <a:avLst/>
          </a:prstGeom>
          <a:noFill/>
          <a:ln w="12700">
            <a:solidFill>
              <a:srgbClr val="4A4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097280"/>
            <a:ext cx="1767535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ctr"/>
            <a:r>
              <a:rPr sz="900" b="0" lang="ko-KR">
                <a:solidFill>
                  <a:srgbClr val="4A4D54"/>
                </a:solidFill>
                <a:latin typeface="Pretendard"/>
              </a:rPr>
              <a:t>회사 로고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5806440"/>
            <a:ext cx="277337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40000"/>
              </a:lnSpc>
            </a:pPr>
            <a:r>
              <a:rPr sz="900" b="1" lang="ko-KR">
                <a:solidFill>
                  <a:srgbClr val="FFFFFF"/>
                </a:solidFill>
                <a:latin typeface="Pretendard"/>
              </a:rPr>
              <a:t>K-IFRS 1115 온톨로지 지식그래프 RAG</a:t>
            </a:r>
          </a:p>
          <a:p>
            <a:pPr eaLnBrk="0" algn="l">
              <a:lnSpc>
                <a:spcPct val="140000"/>
              </a:lnSpc>
            </a:pPr>
            <a:r>
              <a:rPr sz="900" b="0" lang="ko-KR">
                <a:solidFill>
                  <a:srgbClr val="F2F3F5"/>
                </a:solidFill>
                <a:latin typeface="Pretendard"/>
              </a:rPr>
              <a:t>기술 제안서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36576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3200" b="1" lang="ko-KR">
                <a:solidFill>
                  <a:srgbClr val="15171B"/>
                </a:solidFill>
                <a:latin typeface="Pretendard"/>
              </a:rPr>
              <a:t>목차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7772400" cy="12801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1" lang="ko-KR">
                <a:solidFill>
                  <a:srgbClr val="D66E3A"/>
                </a:solidFill>
                <a:latin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10512"/>
            <a:ext cx="54864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문제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03120"/>
            <a:ext cx="617220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0" lang="ko-KR">
                <a:solidFill>
                  <a:srgbClr val="8A9099"/>
                </a:solidFill>
                <a:latin typeface="Pretendard"/>
              </a:rPr>
              <a:t>치명적 오류는 2종(허위 확정) · 일반 LLM이 실패하는 4가지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828800"/>
            <a:ext cx="822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1200" b="0" lang="ko-KR">
                <a:solidFill>
                  <a:srgbClr val="8A9099"/>
                </a:solidFill>
                <a:latin typeface="Pretendard"/>
              </a:rPr>
              <a:t>p.03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2423160"/>
            <a:ext cx="7086600" cy="914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78608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1" lang="ko-KR">
                <a:solidFill>
                  <a:srgbClr val="D66E3A"/>
                </a:solidFill>
                <a:latin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60320"/>
            <a:ext cx="54864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파이프라인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852927"/>
            <a:ext cx="617220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0" lang="ko-KR">
                <a:solidFill>
                  <a:srgbClr val="8A9099"/>
                </a:solidFill>
                <a:latin typeface="Pretendard"/>
              </a:rPr>
              <a:t>Analyze → Retrieve → Generate → Format · 4개 결정 노드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578608"/>
            <a:ext cx="822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1200" b="0" lang="ko-KR">
                <a:solidFill>
                  <a:srgbClr val="8A9099"/>
                </a:solidFill>
                <a:latin typeface="Pretendard"/>
              </a:rPr>
              <a:t>p.05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3172968"/>
            <a:ext cx="7086600" cy="914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28415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1" lang="ko-KR">
                <a:solidFill>
                  <a:srgbClr val="D66E3A"/>
                </a:solidFill>
                <a:latin typeface="Pretendar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310127"/>
            <a:ext cx="54864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기술 설명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602735"/>
            <a:ext cx="617220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0" lang="ko-KR">
                <a:solidFill>
                  <a:srgbClr val="8A9099"/>
                </a:solidFill>
                <a:latin typeface="Pretendard"/>
              </a:rPr>
              <a:t>용어사전 · 지식그래프 · 판단트리 · 구조화 출력 — 노드 순서대로 4개 기술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328415"/>
            <a:ext cx="822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1200" b="0" lang="ko-KR">
                <a:solidFill>
                  <a:srgbClr val="8A9099"/>
                </a:solidFill>
                <a:latin typeface="Pretendard"/>
              </a:rPr>
              <a:t>p.07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" y="3922776"/>
            <a:ext cx="7086600" cy="914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78224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1" lang="ko-KR">
                <a:solidFill>
                  <a:srgbClr val="D66E3A"/>
                </a:solidFill>
                <a:latin typeface="Pretendar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059936"/>
            <a:ext cx="54864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문제와 해결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352544"/>
            <a:ext cx="617220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0" lang="ko-KR">
                <a:solidFill>
                  <a:srgbClr val="8A9099"/>
                </a:solidFill>
                <a:latin typeface="Pretendard"/>
              </a:rPr>
              <a:t>확률 신호의 실패 실측(탈락 103/105) · 재현 72→78 · 정직한 한계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078224"/>
            <a:ext cx="822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1200" b="0" lang="ko-KR">
                <a:solidFill>
                  <a:srgbClr val="8A9099"/>
                </a:solidFill>
                <a:latin typeface="Pretendard"/>
              </a:rPr>
              <a:t>p.13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34440" y="4672584"/>
            <a:ext cx="7086600" cy="914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28031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1" lang="ko-KR">
                <a:solidFill>
                  <a:srgbClr val="D66E3A"/>
                </a:solidFill>
                <a:latin typeface="Pretendard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809744"/>
            <a:ext cx="548640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성과·증거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102351"/>
            <a:ext cx="617220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0" lang="ko-KR">
                <a:solidFill>
                  <a:srgbClr val="8A9099"/>
                </a:solidFill>
                <a:latin typeface="Pretendard"/>
              </a:rPr>
              <a:t>홀드아웃 78/92 · 에러 0건 · 미재현 원인 분해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828031"/>
            <a:ext cx="822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1200" b="0" lang="ko-KR">
                <a:solidFill>
                  <a:srgbClr val="8A9099"/>
                </a:solidFill>
                <a:latin typeface="Pretendard"/>
              </a:rPr>
              <a:t>p.15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1737360"/>
            <a:ext cx="5486400" cy="2377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/>
            <a:r>
              <a:rPr sz="16000" b="1" lang="ko-KR">
                <a:solidFill>
                  <a:srgbClr val="2F3237"/>
                </a:solidFill>
                <a:latin typeface="Pretendard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828800"/>
            <a:ext cx="1188720" cy="38404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1" lang="ko-KR">
                <a:solidFill>
                  <a:srgbClr val="FFFFFF"/>
                </a:solidFill>
                <a:latin typeface="Pretendard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685800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4000" b="1" lang="ko-KR">
                <a:solidFill>
                  <a:srgbClr val="FFFFFF"/>
                </a:solidFill>
                <a:latin typeface="Pretendard"/>
              </a:rPr>
              <a:t>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4023360"/>
            <a:ext cx="45720" cy="32004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868680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400" b="0" lang="ko-KR">
                <a:solidFill>
                  <a:srgbClr val="F2F3F5"/>
                </a:solidFill>
                <a:latin typeface="Pretendard"/>
              </a:rPr>
              <a:t>일반 LLM의 허위 확정 리스크와, 초기 임베딩 RAG 운영에서 실측된 4가지 균열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5257800"/>
            <a:ext cx="118872" cy="118872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79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74519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1. 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일반 LLM은 틀리는 게 아니라, 틀리는 방향이 문제다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94415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근거가 부족할 때 무엇을 하느냐가 갈린다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52144"/>
            <a:ext cx="11094415" cy="10972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22476"/>
            <a:ext cx="1417320" cy="960120"/>
          </a:xfrm>
          <a:prstGeom prst="roundRect">
            <a:avLst/>
          </a:prstGeom>
          <a:solidFill>
            <a:srgbClr val="F2F3F5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4864" rIns="54864"/>
          <a:lstStyle/>
          <a:p>
            <a:pPr algn="ctr" eaLnBrk="0"/>
            <a:r>
              <a:rPr b="1" sz="900">
                <a:solidFill>
                  <a:srgbClr val="15171B"/>
                </a:solidFill>
                <a:latin typeface="Pretendard"/>
              </a:rPr>
              <a:t>"이 계약, 수익을
지금 인식해도
됩니까?"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65960" y="2002536"/>
            <a:ext cx="274320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2240280" y="1568195"/>
            <a:ext cx="1234440" cy="8686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4864" rIns="54864"/>
          <a:lstStyle/>
          <a:p>
            <a:pPr algn="ctr" eaLnBrk="0"/>
            <a:r>
              <a:rPr b="1" sz="900">
                <a:solidFill>
                  <a:srgbClr val="15171B"/>
                </a:solidFill>
                <a:latin typeface="Pretendard"/>
              </a:rPr>
              <a:t>근거 충분?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474720" y="1508760"/>
            <a:ext cx="457200" cy="493776"/>
          </a:xfrm>
          <a:prstGeom prst="bentConnector3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74720" y="2002536"/>
            <a:ext cx="457200" cy="493776"/>
          </a:xfrm>
          <a:prstGeom prst="bentConnector3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29584" y="1234440"/>
            <a:ext cx="5669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8A9099"/>
                </a:solidFill>
                <a:latin typeface="Pretendard"/>
              </a:rPr>
              <a:t>충분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2551176"/>
            <a:ext cx="5669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부족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1289304"/>
            <a:ext cx="1143000" cy="438912"/>
          </a:xfrm>
          <a:prstGeom prst="roundRect">
            <a:avLst/>
          </a:prstGeom>
          <a:solidFill>
            <a:srgbClr val="F2F3F5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4864" rIns="54864"/>
          <a:lstStyle/>
          <a:p>
            <a:pPr algn="ctr" eaLnBrk="0"/>
            <a:r>
              <a:rPr b="1" sz="1200">
                <a:solidFill>
                  <a:srgbClr val="15171B"/>
                </a:solidFill>
                <a:latin typeface="Pretendard"/>
              </a:rPr>
              <a:t>확정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79" y="1271016"/>
            <a:ext cx="6202375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900" b="0" lang="ko-KR">
                <a:solidFill>
                  <a:srgbClr val="4A4D54"/>
                </a:solidFill>
                <a:latin typeface="Pretendard"/>
              </a:rPr>
              <a:t>근거가 충분하면 두 시스템 모두 확정한다 — 여기서는 차이가 없다. 문제는 전부 아래, 근거가 부족한 구간에서 생긴다.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2276856"/>
            <a:ext cx="1143000" cy="4389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4864" rIns="54864"/>
          <a:lstStyle/>
          <a:p>
            <a:pPr algn="ctr" eaLnBrk="0"/>
            <a:r>
              <a:rPr b="1" sz="1200">
                <a:solidFill>
                  <a:srgbClr val="15171B"/>
                </a:solidFill>
                <a:latin typeface="Pretendard"/>
              </a:rPr>
              <a:t>근거 부족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074920" y="2093976"/>
            <a:ext cx="365759" cy="402336"/>
          </a:xfrm>
          <a:prstGeom prst="bentConnector3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74920" y="2496312"/>
            <a:ext cx="365759" cy="402336"/>
          </a:xfrm>
          <a:prstGeom prst="bentConnector3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40679" y="1874519"/>
            <a:ext cx="2148840" cy="438912"/>
          </a:xfrm>
          <a:prstGeom prst="roundRect">
            <a:avLst/>
          </a:prstGeom>
          <a:solidFill>
            <a:srgbClr val="F2F3F5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4864" rIns="54864"/>
          <a:lstStyle/>
          <a:p>
            <a:pPr algn="ctr" eaLnBrk="0"/>
            <a:r>
              <a:rPr b="1" sz="900">
                <a:solidFill>
                  <a:srgbClr val="15171B"/>
                </a:solidFill>
                <a:latin typeface="Pretendard"/>
              </a:rPr>
              <a:t>일반 LLM · 확정 강행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89519" y="2093976"/>
            <a:ext cx="365760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955279" y="1874519"/>
            <a:ext cx="1737360" cy="438912"/>
          </a:xfrm>
          <a:prstGeom prst="round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4864" rIns="54864"/>
          <a:lstStyle/>
          <a:p>
            <a:pPr algn="ctr" eaLnBrk="0"/>
            <a:r>
              <a:rPr b="1" sz="900">
                <a:solidFill>
                  <a:srgbClr val="FFFFFF"/>
                </a:solidFill>
                <a:latin typeface="Pretendard"/>
              </a:rPr>
              <a:t>2종 · 허위 확정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92640" y="2093976"/>
            <a:ext cx="365760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0058400" y="1874519"/>
            <a:ext cx="1584655" cy="43891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4864" rIns="54864"/>
          <a:lstStyle/>
          <a:p>
            <a:pPr algn="ctr" eaLnBrk="0"/>
            <a:r>
              <a:rPr b="1" sz="900">
                <a:solidFill>
                  <a:srgbClr val="FFFFFF"/>
                </a:solidFill>
                <a:latin typeface="Pretendard"/>
              </a:rPr>
              <a:t>재무제표 반영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350008"/>
            <a:ext cx="1584655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900" b="1" lang="ko-KR">
                <a:solidFill>
                  <a:srgbClr val="15171B"/>
                </a:solidFill>
                <a:latin typeface="Pretendard"/>
              </a:rPr>
              <a:t>✕ 불가역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350008"/>
            <a:ext cx="201168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0" lang="ko-KR">
                <a:solidFill>
                  <a:srgbClr val="4A4D54"/>
                </a:solidFill>
                <a:latin typeface="Pretendard"/>
              </a:rPr>
              <a:t>그대로 왜곡으로 직결된다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79" y="2679191"/>
            <a:ext cx="2148840" cy="438912"/>
          </a:xfrm>
          <a:prstGeom prst="roundRect">
            <a:avLst/>
          </a:prstGeom>
          <a:solidFill>
            <a:srgbClr val="F2F3F5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4864" rIns="54864"/>
          <a:lstStyle/>
          <a:p>
            <a:pPr algn="ctr" eaLnBrk="0"/>
            <a:r>
              <a:rPr b="1" sz="900">
                <a:solidFill>
                  <a:srgbClr val="15171B"/>
                </a:solidFill>
                <a:latin typeface="Pretendard"/>
              </a:rPr>
              <a:t>본 시스템 · 유보 + 근거 제시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89519" y="2898648"/>
            <a:ext cx="365760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955279" y="2679191"/>
            <a:ext cx="1737360" cy="438912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4864" rIns="54864"/>
          <a:lstStyle/>
          <a:p>
            <a:pPr algn="ctr" eaLnBrk="0"/>
            <a:r>
              <a:rPr b="1" sz="900">
                <a:solidFill>
                  <a:srgbClr val="15171B"/>
                </a:solidFill>
                <a:latin typeface="Pretendard"/>
              </a:rPr>
              <a:t>1종 · 놓침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23959" y="3118103"/>
            <a:ext cx="0" cy="329185"/>
          </a:xfrm>
          <a:prstGeom prst="line">
            <a:avLst/>
          </a:prstGeom>
          <a:ln w="12700">
            <a:solidFill>
              <a:srgbClr val="8A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257300" y="3447288"/>
            <a:ext cx="7566659" cy="0"/>
          </a:xfrm>
          <a:prstGeom prst="line">
            <a:avLst/>
          </a:prstGeom>
          <a:ln w="12700">
            <a:solidFill>
              <a:srgbClr val="8A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257300" y="2482596"/>
            <a:ext cx="0" cy="964692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194560" y="3227832"/>
            <a:ext cx="32004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↩ 근거를 보고 다시 묻는다 — 손실은 시간뿐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675887"/>
            <a:ext cx="11094415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범용 LLM은 왜 이 판정을 세울 수 없나 — 한계 4가지가 한 곳에서 만난다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005072"/>
            <a:ext cx="11094415" cy="10972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4261104"/>
            <a:ext cx="2880360" cy="45720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306824"/>
            <a:ext cx="2569463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근거 추적 불가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507992"/>
            <a:ext cx="2569463" cy="1828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어느 문단으로 답했는지 못 밝힌다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754880"/>
            <a:ext cx="2880360" cy="45720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4800600"/>
            <a:ext cx="2569463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재현성 없음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5001768"/>
            <a:ext cx="2569463" cy="1828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같은 질문에 매번 다른 판정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248656"/>
            <a:ext cx="2880360" cy="45720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294376"/>
            <a:ext cx="2569463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판단 출처 창작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5495544"/>
            <a:ext cx="2569463" cy="1828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없는 조항·문단을 지어낸다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742432"/>
            <a:ext cx="2880360" cy="45720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5788152"/>
            <a:ext cx="2569463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환각 위험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5989320"/>
            <a:ext cx="2569463" cy="1828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그럴듯한 허위를 확정으로 낸다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429000" y="4489704"/>
            <a:ext cx="777240" cy="740664"/>
          </a:xfrm>
          <a:prstGeom prst="line">
            <a:avLst/>
          </a:prstGeom>
          <a:ln w="12700">
            <a:solidFill>
              <a:srgbClr val="8A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429000" y="4983480"/>
            <a:ext cx="777240" cy="246888"/>
          </a:xfrm>
          <a:prstGeom prst="line">
            <a:avLst/>
          </a:prstGeom>
          <a:ln w="12700">
            <a:solidFill>
              <a:srgbClr val="8A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429000" y="5230368"/>
            <a:ext cx="777240" cy="246888"/>
          </a:xfrm>
          <a:prstGeom prst="line">
            <a:avLst/>
          </a:prstGeom>
          <a:ln w="12700">
            <a:solidFill>
              <a:srgbClr val="8A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429000" y="5230368"/>
            <a:ext cx="777240" cy="740664"/>
          </a:xfrm>
          <a:prstGeom prst="line">
            <a:avLst/>
          </a:prstGeom>
          <a:ln w="12700">
            <a:solidFill>
              <a:srgbClr val="8A9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206240" y="5230368"/>
            <a:ext cx="347472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iamond 52"/>
          <p:cNvSpPr/>
          <p:nvPr/>
        </p:nvSpPr>
        <p:spPr>
          <a:xfrm>
            <a:off x="4553712" y="4796028"/>
            <a:ext cx="1234440" cy="8686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8A90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4864" rIns="54864"/>
          <a:lstStyle/>
          <a:p>
            <a:pPr algn="ctr" eaLnBrk="0"/>
            <a:r>
              <a:rPr b="1" sz="900">
                <a:solidFill>
                  <a:srgbClr val="8A9099"/>
                </a:solidFill>
                <a:latin typeface="Pretendard"/>
              </a:rPr>
              <a:t>근거 충분?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52744" y="5129784"/>
            <a:ext cx="1682496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✕ 세울 수 없다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62272" y="5737860"/>
            <a:ext cx="3172968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900" b="0" lang="ko-KR">
                <a:solidFill>
                  <a:srgbClr val="4A4D54"/>
                </a:solidFill>
                <a:latin typeface="Pretendard"/>
              </a:rPr>
              <a:t>판정이 서지 않으니 '부족'을 인지할 수단이 없다 — 늘 위쪽 경로로 샌다.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18120" y="3931920"/>
            <a:ext cx="3824935" cy="21579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18120" y="3931920"/>
            <a:ext cx="45720" cy="215798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circle-check-big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4151376"/>
            <a:ext cx="274320" cy="2743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403336" y="4133087"/>
            <a:ext cx="3075127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D66E3A"/>
                </a:solidFill>
                <a:latin typeface="Pretendard"/>
              </a:rPr>
              <a:t>그래서 — 편향을 구조로 건다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55864" y="4590288"/>
            <a:ext cx="3367735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40000"/>
              </a:lnSpc>
            </a:pPr>
            <a:r>
              <a:rPr sz="900" b="1" lang="ko-KR">
                <a:solidFill>
                  <a:srgbClr val="15171B"/>
                </a:solidFill>
                <a:latin typeface="Pretendard"/>
              </a:rPr>
              <a:t>확실할 때만 확정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하고, 애매하면 근거를 보여주며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유보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한다. 판정을 프롬프트가 아니라 시스템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구조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로 세운다.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55864" y="5614416"/>
            <a:ext cx="1610715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 eaLnBrk="0"/>
            <a:r>
              <a:rPr b="1" sz="800" lang="ko-KR">
                <a:solidFill>
                  <a:srgbClr val="D66E3A"/>
                </a:solidFill>
                <a:latin typeface="Pretendard"/>
              </a:rPr>
              <a:t>확정  </a:t>
            </a:r>
            <a:r>
              <a:rPr b="0" sz="800" lang="ko-KR">
                <a:solidFill>
                  <a:srgbClr val="8A9099"/>
                </a:solidFill>
                <a:latin typeface="Pretendard"/>
              </a:rPr>
              <a:t>근거 충분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12883" y="5614416"/>
            <a:ext cx="1610715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 eaLnBrk="0"/>
            <a:r>
              <a:rPr b="1" sz="800" lang="ko-KR">
                <a:solidFill>
                  <a:srgbClr val="D66E3A"/>
                </a:solidFill>
                <a:latin typeface="Pretendard"/>
              </a:rPr>
              <a:t>유보  </a:t>
            </a:r>
            <a:r>
              <a:rPr b="0" sz="800" lang="ko-KR">
                <a:solidFill>
                  <a:srgbClr val="8A9099"/>
                </a:solidFill>
                <a:latin typeface="Pretendard"/>
              </a:rPr>
              <a:t>근거 부족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출처: 1_OVERVIEW.md · PROJECT_OVERVIEW.md · 5_INTERFACE.md (00_factsheet.md §A·§B)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1737360"/>
            <a:ext cx="5486400" cy="2377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/>
            <a:r>
              <a:rPr sz="16000" b="1" lang="ko-KR">
                <a:solidFill>
                  <a:srgbClr val="2F3237"/>
                </a:solidFill>
                <a:latin typeface="Pretendard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828800"/>
            <a:ext cx="1188720" cy="38404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1" lang="ko-KR">
                <a:solidFill>
                  <a:srgbClr val="FFFFFF"/>
                </a:solidFill>
                <a:latin typeface="Pretendard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685800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4000" b="1" lang="ko-KR">
                <a:solidFill>
                  <a:srgbClr val="FFFFFF"/>
                </a:solidFill>
                <a:latin typeface="Pretendard"/>
              </a:rPr>
              <a:t>파이프라인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4023360"/>
            <a:ext cx="45720" cy="32004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868680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400" b="0" lang="ko-KR">
                <a:solidFill>
                  <a:srgbClr val="F2F3F5"/>
                </a:solidFill>
                <a:latin typeface="Pretendard"/>
              </a:rPr>
              <a:t>질문에서 답까지 4개 노드 전부가 결정적으로 동작합니다 — 진입부 임베딩 유사도 0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5257800"/>
            <a:ext cx="118872" cy="118872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79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74519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36576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2.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질문에서 응답까지 — 분기까지 전부 결정적인 실행 그래프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91440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1200" b="1" lang="ko-KR">
                <a:solidFill>
                  <a:srgbClr val="15171B"/>
                </a:solidFill>
                <a:latin typeface="Pretendard"/>
              </a:rPr>
              <a:t>질문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8129" y="960120"/>
            <a:ext cx="1325880" cy="548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1200" b="1" lang="ko-KR">
                <a:solidFill>
                  <a:srgbClr val="15171B"/>
                </a:solidFill>
                <a:latin typeface="Pretendard"/>
              </a:rPr>
              <a:t>Analyze</a:t>
            </a:r>
          </a:p>
        </p:txBody>
      </p:sp>
      <p:sp>
        <p:nvSpPr>
          <p:cNvPr id="8" name="Diamond 7"/>
          <p:cNvSpPr/>
          <p:nvPr/>
        </p:nvSpPr>
        <p:spPr>
          <a:xfrm>
            <a:off x="3759098" y="845820"/>
            <a:ext cx="1051560" cy="7772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판정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95747" y="960120"/>
            <a:ext cx="1325880" cy="548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1200" b="1" lang="ko-KR">
                <a:solidFill>
                  <a:srgbClr val="15171B"/>
                </a:solidFill>
                <a:latin typeface="Pretendard"/>
              </a:rPr>
              <a:t>Retrieve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06716" y="960120"/>
            <a:ext cx="1325880" cy="548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1200" b="1" lang="ko-KR">
                <a:solidFill>
                  <a:srgbClr val="15171B"/>
                </a:solidFill>
                <a:latin typeface="Pretendard"/>
              </a:rPr>
              <a:t>Generate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7686" y="960120"/>
            <a:ext cx="1325880" cy="54864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1200" b="1" lang="ko-KR">
                <a:solidFill>
                  <a:srgbClr val="15171B"/>
                </a:solidFill>
                <a:latin typeface="Pretendard"/>
              </a:rPr>
              <a:t>Format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28655" y="960120"/>
            <a:ext cx="914400" cy="548640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1200" b="1" lang="ko-KR">
                <a:solidFill>
                  <a:srgbClr val="FFFFFF"/>
                </a:solidFill>
                <a:latin typeface="Pretendard"/>
              </a:rPr>
              <a:t>응답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" y="1234440"/>
            <a:ext cx="485089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74009" y="1234440"/>
            <a:ext cx="485089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10658" y="1234440"/>
            <a:ext cx="485089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21627" y="1234440"/>
            <a:ext cx="485089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432596" y="1234440"/>
            <a:ext cx="485090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243566" y="1234440"/>
            <a:ext cx="485089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28089" y="1600200"/>
            <a:ext cx="19659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900" b="1" lang="ko-KR">
                <a:solidFill>
                  <a:srgbClr val="15171B"/>
                </a:solidFill>
                <a:latin typeface="Pretendard"/>
              </a:rPr>
              <a:t>용어사전 매칭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5707" y="1600200"/>
            <a:ext cx="19659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900" b="1" lang="ko-KR">
                <a:solidFill>
                  <a:srgbClr val="15171B"/>
                </a:solidFill>
                <a:latin typeface="Pretendard"/>
              </a:rPr>
              <a:t>그래프 1홉 탐색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6676" y="1600200"/>
            <a:ext cx="19659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900" b="1" lang="ko-KR">
                <a:solidFill>
                  <a:srgbClr val="15171B"/>
                </a:solidFill>
                <a:latin typeface="Pretendard"/>
              </a:rPr>
              <a:t>판단트리 주입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7646" y="1600200"/>
            <a:ext cx="19659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900" b="1" lang="ko-KR">
                <a:solidFill>
                  <a:srgbClr val="15171B"/>
                </a:solidFill>
                <a:latin typeface="Pretendard"/>
              </a:rPr>
              <a:t>경고·꼬리질문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8090" y="941832"/>
            <a:ext cx="4572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0478" y="2061972"/>
            <a:ext cx="1828800" cy="41148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거절 메시지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84878" y="1623060"/>
            <a:ext cx="0" cy="438912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94606" y="1732788"/>
            <a:ext cx="54864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2158" y="2153412"/>
            <a:ext cx="38404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0" lang="ko-KR">
                <a:solidFill>
                  <a:srgbClr val="8A9099"/>
                </a:solidFill>
                <a:latin typeface="Pretendard"/>
              </a:rPr>
              <a:t>범위 밖 질문은 본선에 진입하지 못하고 즉시 거절된다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606040"/>
            <a:ext cx="2650159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6656" y="2724912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2706624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용어사전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3063240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후보 진입점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" y="3300984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등재 423 · AI 신규 창작 0</a:t>
            </a:r>
          </a:p>
        </p:txBody>
      </p:sp>
      <p:pic>
        <p:nvPicPr>
          <p:cNvPr id="33" name="Picture 32" descr="book-open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263" y="3593592"/>
            <a:ext cx="438912" cy="43891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5800" y="4105656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자료 3종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질의매핑·사례제목·부록A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370832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AI 초안 + 전수 검수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로 등재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636008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확정 라우터 아님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— 후보 진입점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901184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substring 진입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— 임베딩 아님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" y="5257800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6656" y="5340096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288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질의 매핑</a:t>
            </a:r>
          </a:p>
        </p:txBody>
      </p:sp>
      <p:pic>
        <p:nvPicPr>
          <p:cNvPr id="40" name="Picture 39" descr="book-open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67528"/>
            <a:ext cx="155448" cy="155448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676656" y="5559552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123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사례 제목</a:t>
            </a:r>
          </a:p>
        </p:txBody>
      </p:sp>
      <p:pic>
        <p:nvPicPr>
          <p:cNvPr id="42" name="Picture 41" descr="file-text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586984"/>
            <a:ext cx="155448" cy="155448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676656" y="577900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9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부록A 정의</a:t>
            </a:r>
          </a:p>
        </p:txBody>
      </p:sp>
      <p:pic>
        <p:nvPicPr>
          <p:cNvPr id="44" name="Picture 43" descr="target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806440"/>
            <a:ext cx="155448" cy="155448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3363391" y="2606040"/>
            <a:ext cx="2650159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91407" y="2724912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38879" y="2706624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지식그래프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1407" y="3063240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기계 생성 뼈대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91407" y="3300984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노드 929 · 간선 2,697</a:t>
            </a:r>
          </a:p>
        </p:txBody>
      </p:sp>
      <p:pic>
        <p:nvPicPr>
          <p:cNvPr id="50" name="Picture 49" descr="workflow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9015" y="3593592"/>
            <a:ext cx="438912" cy="43891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500551" y="4105656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공식 소제목 →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개념 80 · 문단 250 배정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00551" y="4370832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계층·참조 간선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기준서에서 기계 생성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00551" y="4636008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AI 생성물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용어 색인 하나뿐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00551" y="4901184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탐색 hops=1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상호참조 E3 1홉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91407" y="5257800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91407" y="5340096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개념 80</a:t>
            </a:r>
          </a:p>
        </p:txBody>
      </p:sp>
      <p:pic>
        <p:nvPicPr>
          <p:cNvPr id="57" name="Picture 56" descr="git-branch_prim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4559" y="5367528"/>
            <a:ext cx="155448" cy="155448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3491407" y="5559552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문단 250</a:t>
            </a:r>
          </a:p>
        </p:txBody>
      </p:sp>
      <p:pic>
        <p:nvPicPr>
          <p:cNvPr id="59" name="Picture 58" descr="layers_prima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4559" y="5586984"/>
            <a:ext cx="155448" cy="155448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3491407" y="577900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AI 창작 0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간선</a:t>
            </a:r>
          </a:p>
        </p:txBody>
      </p:sp>
      <p:pic>
        <p:nvPicPr>
          <p:cNvPr id="61" name="Picture 60" descr="circle-x_prima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4559" y="5806440"/>
            <a:ext cx="155448" cy="155448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6178143" y="2606040"/>
            <a:ext cx="2650159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306159" y="2724912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53631" y="2706624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판단트리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6159" y="3063240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판단 순서의 사전 조립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6159" y="3300984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조건-분기 골격 41 · 원문 앵커</a:t>
            </a:r>
          </a:p>
        </p:txBody>
      </p:sp>
      <p:pic>
        <p:nvPicPr>
          <p:cNvPr id="67" name="Picture 66" descr="git-branch_acc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3767" y="3593592"/>
            <a:ext cx="438912" cy="43891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315303" y="4105656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흩어진 판단 절차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미리 조립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15303" y="4370832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진입·트리거 개념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최다 겹침 주입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15303" y="4636008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주제 직속 트리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전부 프롬프트 주입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15303" y="4901184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via_topic 다중 주입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원문 앵커 포함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6159" y="5257800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06159" y="5340096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트리 41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조건-분기</a:t>
            </a:r>
          </a:p>
        </p:txBody>
      </p:sp>
      <p:pic>
        <p:nvPicPr>
          <p:cNvPr id="74" name="Picture 73" descr="git-branch_prim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9311" y="5367528"/>
            <a:ext cx="155448" cy="155448"/>
          </a:xfrm>
          <a:prstGeom prst="rect">
            <a:avLst/>
          </a:prstGeom>
        </p:spPr>
      </p:pic>
      <p:sp>
        <p:nvSpPr>
          <p:cNvPr id="75" name="Rectangle 74"/>
          <p:cNvSpPr/>
          <p:nvPr/>
        </p:nvSpPr>
        <p:spPr>
          <a:xfrm>
            <a:off x="6306159" y="5559552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원문 앵커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포함</a:t>
            </a:r>
          </a:p>
        </p:txBody>
      </p:sp>
      <p:pic>
        <p:nvPicPr>
          <p:cNvPr id="76" name="Picture 75" descr="link_primar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9311" y="5586984"/>
            <a:ext cx="155448" cy="155448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6306159" y="577900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창작 0</a:t>
            </a:r>
          </a:p>
        </p:txBody>
      </p:sp>
      <p:pic>
        <p:nvPicPr>
          <p:cNvPr id="78" name="Picture 77" descr="circle-check-big_primar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79311" y="5806440"/>
            <a:ext cx="155448" cy="155448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8992895" y="2606040"/>
            <a:ext cx="2650159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120911" y="2724912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68383" y="2706624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구조화 출력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20911" y="3063240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코드 수준 강제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20911" y="3300984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PydanticAI 스키마 강제</a:t>
            </a:r>
          </a:p>
        </p:txBody>
      </p:sp>
      <p:pic>
        <p:nvPicPr>
          <p:cNvPr id="84" name="Picture 83" descr="lock_accen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98519" y="3593592"/>
            <a:ext cx="438912" cy="438912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9130055" y="4105656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답변 형식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코드로 강제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30055" y="4370832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위반 시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result_validator 자동 재시도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30055" y="4636008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출력 스키마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자유 서술 차단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30055" y="4901184"/>
            <a:ext cx="2412415" cy="25603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감리 경고·꼬리질문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마지막 보조 장치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20911" y="5257800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120911" y="5340096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스키마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강제</a:t>
            </a:r>
          </a:p>
        </p:txBody>
      </p:sp>
      <p:pic>
        <p:nvPicPr>
          <p:cNvPr id="91" name="Picture 90" descr="lock_primar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94063" y="5367528"/>
            <a:ext cx="155448" cy="155448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9120911" y="5559552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재시도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자동</a:t>
            </a:r>
          </a:p>
        </p:txBody>
      </p:sp>
      <p:pic>
        <p:nvPicPr>
          <p:cNvPr id="93" name="Picture 92" descr="settings_primar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94063" y="5586984"/>
            <a:ext cx="155448" cy="155448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9120911" y="577900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감리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보조</a:t>
            </a:r>
          </a:p>
        </p:txBody>
      </p:sp>
      <p:pic>
        <p:nvPicPr>
          <p:cNvPr id="95" name="Picture 94" descr="file-text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063" y="5806440"/>
            <a:ext cx="155448" cy="15544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548640" y="6163056"/>
            <a:ext cx="11094415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초기 설계의 유사도 재정렬(rerank) 단계는 제거 — 그래프가 이미 결정적으로 선별하므로 재정렬할 것이 없다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출처: 4_SEARCH-PIPELINE.md (00_factsheet.md §C)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1737360"/>
            <a:ext cx="5486400" cy="2377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/>
            <a:r>
              <a:rPr sz="16000" b="1" lang="ko-KR">
                <a:solidFill>
                  <a:srgbClr val="2F3237"/>
                </a:solidFill>
                <a:latin typeface="Pretendard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828800"/>
            <a:ext cx="1188720" cy="38404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1" lang="ko-KR">
                <a:solidFill>
                  <a:srgbClr val="FFFFFF"/>
                </a:solidFill>
                <a:latin typeface="Pretendard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685800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4000" b="1" lang="ko-KR">
                <a:solidFill>
                  <a:srgbClr val="FFFFFF"/>
                </a:solidFill>
                <a:latin typeface="Pretendard"/>
              </a:rPr>
              <a:t>기술 설명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4023360"/>
            <a:ext cx="45720" cy="32004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868680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400" b="0" lang="ko-KR">
                <a:solidFill>
                  <a:srgbClr val="F2F3F5"/>
                </a:solidFill>
                <a:latin typeface="Pretendard"/>
              </a:rPr>
              <a:t>기준서의 명시적 관계를 그대로 옮긴 지식그래프와, 회계 항등식으로 전수 검증한 데이터입니다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5257800"/>
            <a:ext cx="118872" cy="118872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79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74519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3. 기술 설명 — TECH 01 · 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용어사전 — 실무 언어를 기준서 개념에 잇는 진입 색인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69494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실무가 쓰는 말 → 기준서가 쓰는 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6949440" cy="914"/>
          </a:xfrm>
          <a:prstGeom prst="rect">
            <a:avLst/>
          </a:prstGeom>
          <a:noFill/>
          <a:ln w="1270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795528"/>
            <a:ext cx="3154679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800" b="0" lang="ko-KR">
                <a:solidFill>
                  <a:srgbClr val="8A9099"/>
                </a:solidFill>
                <a:latin typeface="Pretendard"/>
              </a:rPr>
              <a:t>실선 = 자동    점선 = 자동(위임판단) — AI가 판단, 사람이 승인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240280" y="1261872"/>
            <a:ext cx="2103120" cy="73152"/>
          </a:xfrm>
          <a:prstGeom prst="line">
            <a:avLst/>
          </a:prstGeom>
          <a:ln w="12700">
            <a:solidFill>
              <a:srgbClr val="8A90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240280" y="1566672"/>
            <a:ext cx="2103120" cy="152400"/>
          </a:xfrm>
          <a:prstGeom prst="line">
            <a:avLst/>
          </a:prstGeom>
          <a:ln w="12700">
            <a:solidFill>
              <a:srgbClr val="8A90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240280" y="1834896"/>
            <a:ext cx="2103120" cy="268224"/>
          </a:xfrm>
          <a:prstGeom prst="line">
            <a:avLst/>
          </a:prstGeom>
          <a:ln w="12700">
            <a:solidFill>
              <a:srgbClr val="8A90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40280" y="2103120"/>
            <a:ext cx="2103120" cy="0"/>
          </a:xfrm>
          <a:prstGeom prst="line">
            <a:avLst/>
          </a:prstGeom>
          <a:ln w="12700">
            <a:solidFill>
              <a:srgbClr val="8A90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240280" y="1335024"/>
            <a:ext cx="2103120" cy="1152144"/>
          </a:xfrm>
          <a:prstGeom prst="line">
            <a:avLst/>
          </a:prstGeom>
          <a:ln w="12700">
            <a:solidFill>
              <a:srgbClr val="8A9099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240280" y="2371344"/>
            <a:ext cx="2103120" cy="115824"/>
          </a:xfrm>
          <a:prstGeom prst="line">
            <a:avLst/>
          </a:prstGeom>
          <a:ln w="12700">
            <a:solidFill>
              <a:srgbClr val="8A9099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240280" y="2639568"/>
            <a:ext cx="2103120" cy="231647"/>
          </a:xfrm>
          <a:prstGeom prst="line">
            <a:avLst/>
          </a:prstGeom>
          <a:ln w="12700">
            <a:solidFill>
              <a:srgbClr val="8A90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40280" y="2871215"/>
            <a:ext cx="2103120" cy="36576"/>
          </a:xfrm>
          <a:prstGeom prst="line">
            <a:avLst/>
          </a:prstGeom>
          <a:ln w="12700">
            <a:solidFill>
              <a:srgbClr val="8A90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371600" y="1225295"/>
            <a:ext cx="868680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리베이트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1609343"/>
            <a:ext cx="868680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밀어내기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7864" y="1993391"/>
            <a:ext cx="1042416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볼륨디스카운트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2377439"/>
            <a:ext cx="868680" cy="21945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상품권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06424" y="2761487"/>
            <a:ext cx="1133856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반품의 회계처리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1188720"/>
            <a:ext cx="1408176" cy="219456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0" lang="ko-KR">
                <a:solidFill>
                  <a:srgbClr val="15171B"/>
                </a:solidFill>
                <a:latin typeface="Pretendard"/>
              </a:rPr>
              <a:t>고객에게 지급할 대가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1456944"/>
            <a:ext cx="868680" cy="219456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0" lang="ko-KR">
                <a:solidFill>
                  <a:srgbClr val="15171B"/>
                </a:solidFill>
                <a:latin typeface="Pretendard"/>
              </a:rPr>
              <a:t>위탁약정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1725168"/>
            <a:ext cx="868680" cy="219456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0" lang="ko-KR">
                <a:solidFill>
                  <a:srgbClr val="15171B"/>
                </a:solidFill>
                <a:latin typeface="Pretendard"/>
              </a:rPr>
              <a:t>변동대가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1993391"/>
            <a:ext cx="1591056" cy="219456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0" lang="ko-KR">
                <a:solidFill>
                  <a:srgbClr val="15171B"/>
                </a:solidFill>
                <a:latin typeface="Pretendard"/>
              </a:rPr>
              <a:t>변동대가 추정치를 제약함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2261616"/>
            <a:ext cx="1773936" cy="219456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0" lang="ko-KR">
                <a:solidFill>
                  <a:srgbClr val="15171B"/>
                </a:solidFill>
                <a:latin typeface="Pretendard"/>
              </a:rPr>
              <a:t>고객이 행사하지 아니한 권리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2529840"/>
            <a:ext cx="1316736" cy="219456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0" lang="ko-KR">
                <a:solidFill>
                  <a:srgbClr val="15171B"/>
                </a:solidFill>
                <a:latin typeface="Pretendard"/>
              </a:rPr>
              <a:t>반품권이 있는 판매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2798063"/>
            <a:ext cx="1682496" cy="219456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0" lang="ko-KR">
                <a:solidFill>
                  <a:srgbClr val="15171B"/>
                </a:solidFill>
                <a:latin typeface="Pretendard"/>
              </a:rPr>
              <a:t>본인 대 대리인의 고려사항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072384"/>
            <a:ext cx="69494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등재 423 중 발췌 5건 — 423 = 자동 316 + 자동(위임판단) 86 + 검토 18 + 사용자 확정 1 + 제외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731519"/>
            <a:ext cx="3687775" cy="2286000"/>
          </a:xfrm>
          <a:prstGeom prst="roundRect">
            <a:avLst>
              <a:gd name="adj" fmla="val 5000"/>
            </a:avLst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8" y="859536"/>
            <a:ext cx="3285439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F2F3F5"/>
                </a:solidFill>
                <a:latin typeface="Pretendard"/>
              </a:rPr>
              <a:t>aliases.json — 실제 엔트리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1133856"/>
            <a:ext cx="3285439" cy="17739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18000"/>
              </a:lnSpc>
            </a:pPr>
            <a:r>
              <a:rPr sz="800" b="0" lang="ko-KR">
                <a:solidFill>
                  <a:srgbClr val="FFFFFF"/>
                </a:solidFill>
                <a:latin typeface="Consolas"/>
              </a:rPr>
              <a:t>{ "term": "상품권",</a:t>
            </a:r>
          </a:p>
          <a:p>
            <a:pPr eaLnBrk="0" algn="l">
              <a:lnSpc>
                <a:spcPct val="118000"/>
              </a:lnSpc>
            </a:pPr>
            <a:r>
              <a:rPr sz="800" b="0" lang="ko-KR">
                <a:solidFill>
                  <a:srgbClr val="FFFFFF"/>
                </a:solidFill>
                <a:latin typeface="Consolas"/>
              </a:rPr>
              <a:t>  "sources": ["query-mapping"],</a:t>
            </a:r>
          </a:p>
          <a:p>
            <a:pPr eaLnBrk="0" algn="l">
              <a:lnSpc>
                <a:spcPct val="118000"/>
              </a:lnSpc>
            </a:pPr>
            <a:r>
              <a:rPr sz="800" b="0" lang="ko-KR">
                <a:solidFill>
                  <a:srgbClr val="FFFFFF"/>
                </a:solidFill>
                <a:latin typeface="Consolas"/>
              </a:rPr>
              <a:t>  "grade": "자동(위임판단)",</a:t>
            </a:r>
          </a:p>
          <a:p>
            <a:pPr eaLnBrk="0" algn="l">
              <a:lnSpc>
                <a:spcPct val="118000"/>
              </a:lnSpc>
            </a:pPr>
            <a:r>
              <a:rPr sz="800" b="0" lang="ko-KR">
                <a:solidFill>
                  <a:srgbClr val="FFFFFF"/>
                </a:solidFill>
                <a:latin typeface="Consolas"/>
              </a:rPr>
              <a:t>  "concepts": [</a:t>
            </a:r>
          </a:p>
          <a:p>
            <a:pPr eaLnBrk="0" algn="l">
              <a:lnSpc>
                <a:spcPct val="118000"/>
              </a:lnSpc>
            </a:pPr>
            <a:r>
              <a:rPr sz="800" b="0" lang="ko-KR">
                <a:solidFill>
                  <a:srgbClr val="FFFFFF"/>
                </a:solidFill>
                <a:latin typeface="Consolas"/>
              </a:rPr>
              <a:t>    "고객에게 지급할 대가",</a:t>
            </a:r>
          </a:p>
          <a:p>
            <a:pPr eaLnBrk="0" algn="l">
              <a:lnSpc>
                <a:spcPct val="118000"/>
              </a:lnSpc>
            </a:pPr>
            <a:r>
              <a:rPr sz="800" b="0" lang="ko-KR">
                <a:solidFill>
                  <a:srgbClr val="FFFFFF"/>
                </a:solidFill>
                <a:latin typeface="Consolas"/>
              </a:rPr>
              <a:t>    "고객이 행사하지 아니한 권리" ],</a:t>
            </a:r>
          </a:p>
          <a:p>
            <a:pPr eaLnBrk="0" algn="l">
              <a:lnSpc>
                <a:spcPct val="118000"/>
              </a:lnSpc>
            </a:pPr>
            <a:r>
              <a:rPr sz="800" b="0" lang="ko-KR">
                <a:solidFill>
                  <a:srgbClr val="FFFFFF"/>
                </a:solidFill>
                <a:latin typeface="Consolas"/>
              </a:rPr>
              <a:t>  "decision": {</a:t>
            </a:r>
          </a:p>
          <a:p>
            <a:pPr eaLnBrk="0" algn="l">
              <a:lnSpc>
                <a:spcPct val="118000"/>
              </a:lnSpc>
            </a:pPr>
            <a:r>
              <a:rPr sz="800" b="0" lang="ko-KR">
                <a:solidFill>
                  <a:srgbClr val="FFFFFF"/>
                </a:solidFill>
                <a:latin typeface="Consolas"/>
              </a:rPr>
              <a:t>    "by": "AI 위임 판단",</a:t>
            </a:r>
          </a:p>
          <a:p>
            <a:pPr eaLnBrk="0" algn="l">
              <a:lnSpc>
                <a:spcPct val="118000"/>
              </a:lnSpc>
            </a:pPr>
            <a:r>
              <a:rPr sz="800" b="0" lang="ko-KR">
                <a:solidFill>
                  <a:srgbClr val="FFFFFF"/>
                </a:solidFill>
                <a:latin typeface="Consolas"/>
              </a:rPr>
              <a:t>    "reason": "미행사 상품권 =</a:t>
            </a:r>
          </a:p>
          <a:p>
            <a:pPr eaLnBrk="0" algn="l">
              <a:lnSpc>
                <a:spcPct val="118000"/>
              </a:lnSpc>
            </a:pPr>
            <a:r>
              <a:rPr sz="800" b="0" lang="ko-KR">
                <a:solidFill>
                  <a:srgbClr val="FFFFFF"/>
                </a:solidFill>
                <a:latin typeface="Consolas"/>
              </a:rPr>
              <a:t>        B44~47 정면 조항" }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072384"/>
            <a:ext cx="3687775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모든 엔트리가 결정 로그(누가·왜)를 갖는다 — 전건 추적.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310128"/>
            <a:ext cx="2650159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6656" y="3429000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3410712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언어 간극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3767328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실무어 ↔ 기준서어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" y="4005072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표현은 달라도 같은 개념</a:t>
            </a:r>
          </a:p>
        </p:txBody>
      </p:sp>
      <p:pic>
        <p:nvPicPr>
          <p:cNvPr id="39" name="Picture 38" descr="link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51" y="4315968"/>
            <a:ext cx="402336" cy="402336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676656" y="5559552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6656" y="564184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N:M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잇기</a:t>
            </a:r>
          </a:p>
        </p:txBody>
      </p:sp>
      <p:pic>
        <p:nvPicPr>
          <p:cNvPr id="42" name="Picture 41" descr="link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69280"/>
            <a:ext cx="155448" cy="155448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676656" y="5861304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423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등재어</a:t>
            </a:r>
          </a:p>
        </p:txBody>
      </p:sp>
      <p:pic>
        <p:nvPicPr>
          <p:cNvPr id="44" name="Picture 43" descr="book-open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888736"/>
            <a:ext cx="155448" cy="155448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676656" y="6080760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사람 승인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경로</a:t>
            </a:r>
          </a:p>
        </p:txBody>
      </p:sp>
      <p:pic>
        <p:nvPicPr>
          <p:cNvPr id="46" name="Picture 45" descr="circle-check-big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6108192"/>
            <a:ext cx="155448" cy="15544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85800" y="4846320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실무 '리베이트'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기준서 '지급 대가'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065776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간극 미연결 시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검색 시작 불가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285232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여러 용어 → 한 개념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N:M 수렴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63391" y="3310128"/>
            <a:ext cx="2650159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491407" y="3429000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38879" y="3410712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결정적 진입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91407" y="3767328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임베딩 0 · substring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91407" y="4005072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유사도 점수 없는 진입</a:t>
            </a:r>
          </a:p>
        </p:txBody>
      </p:sp>
      <p:pic>
        <p:nvPicPr>
          <p:cNvPr id="55" name="Picture 54" descr="search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303" y="4315968"/>
            <a:ext cx="402336" cy="402336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3491407" y="5559552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91407" y="564184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substring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결정적</a:t>
            </a:r>
          </a:p>
        </p:txBody>
      </p:sp>
      <p:pic>
        <p:nvPicPr>
          <p:cNvPr id="58" name="Picture 57" descr="search_prim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4559" y="5669280"/>
            <a:ext cx="155448" cy="155448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3491407" y="5861304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임베딩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0</a:t>
            </a:r>
          </a:p>
        </p:txBody>
      </p:sp>
      <p:pic>
        <p:nvPicPr>
          <p:cNvPr id="60" name="Picture 59" descr="circle-x_prima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4559" y="5888736"/>
            <a:ext cx="155448" cy="155448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3491407" y="6080760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그래프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진입</a:t>
            </a:r>
          </a:p>
        </p:txBody>
      </p:sp>
      <p:pic>
        <p:nvPicPr>
          <p:cNvPr id="62" name="Picture 61" descr="git-branch_prima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4559" y="6108192"/>
            <a:ext cx="155448" cy="15544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500551" y="4846320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질문 속 문자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그대로 포착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00551" y="5065776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substring 매칭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확률·유사도 없음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00551" y="5285232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Analyze 첫 관문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그래프 입구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78143" y="3310128"/>
            <a:ext cx="2650159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306159" y="3429000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53631" y="3410712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후보 진입점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6159" y="3767328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확정 라우터 아님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06159" y="4005072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최종 선택은 질문 문맥</a:t>
            </a:r>
          </a:p>
        </p:txBody>
      </p:sp>
      <p:pic>
        <p:nvPicPr>
          <p:cNvPr id="71" name="Picture 70" descr="git-branch_acc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2055" y="4315968"/>
            <a:ext cx="402336" cy="402336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6306159" y="5559552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06159" y="564184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다중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목적지</a:t>
            </a:r>
          </a:p>
        </p:txBody>
      </p:sp>
      <p:pic>
        <p:nvPicPr>
          <p:cNvPr id="74" name="Picture 73" descr="git-branch_prima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9311" y="5669280"/>
            <a:ext cx="155448" cy="155448"/>
          </a:xfrm>
          <a:prstGeom prst="rect">
            <a:avLst/>
          </a:prstGeom>
        </p:spPr>
      </p:pic>
      <p:sp>
        <p:nvSpPr>
          <p:cNvPr id="75" name="Rectangle 74"/>
          <p:cNvSpPr/>
          <p:nvPr/>
        </p:nvSpPr>
        <p:spPr>
          <a:xfrm>
            <a:off x="6306159" y="5861304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확정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아님</a:t>
            </a:r>
          </a:p>
        </p:txBody>
      </p:sp>
      <p:pic>
        <p:nvPicPr>
          <p:cNvPr id="76" name="Picture 75" descr="circle-x_prima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9311" y="5888736"/>
            <a:ext cx="155448" cy="155448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6306159" y="6080760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문맥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선택</a:t>
            </a:r>
          </a:p>
        </p:txBody>
      </p:sp>
      <p:pic>
        <p:nvPicPr>
          <p:cNvPr id="78" name="Picture 77" descr="circle-check-big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311" y="6108192"/>
            <a:ext cx="155448" cy="15544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315303" y="4846320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진입점 제안만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확정은 안 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15303" y="5065776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한 용어 → 여러 개념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다중 목적지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15303" y="5285232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최종 선택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질문 문맥이 담당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92895" y="3310128"/>
            <a:ext cx="2650159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120911" y="3429000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68383" y="3410712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사람 검수 색인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20911" y="3767328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3원천 · AI 창작 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20911" y="4005072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등재 423 · 전건 결정 로그</a:t>
            </a:r>
          </a:p>
        </p:txBody>
      </p:sp>
      <p:pic>
        <p:nvPicPr>
          <p:cNvPr id="87" name="Picture 86" descr="book-open_acc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6807" y="4315968"/>
            <a:ext cx="402336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9120911" y="5559552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120911" y="564184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288·123·9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3원천</a:t>
            </a:r>
          </a:p>
        </p:txBody>
      </p:sp>
      <p:pic>
        <p:nvPicPr>
          <p:cNvPr id="90" name="Picture 89" descr="book-open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063" y="5669280"/>
            <a:ext cx="155448" cy="155448"/>
          </a:xfrm>
          <a:prstGeom prst="rect">
            <a:avLst/>
          </a:prstGeom>
        </p:spPr>
      </p:pic>
      <p:sp>
        <p:nvSpPr>
          <p:cNvPr id="91" name="Rectangle 90"/>
          <p:cNvSpPr/>
          <p:nvPr/>
        </p:nvSpPr>
        <p:spPr>
          <a:xfrm>
            <a:off x="9120911" y="5861304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423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등재</a:t>
            </a:r>
          </a:p>
        </p:txBody>
      </p:sp>
      <p:pic>
        <p:nvPicPr>
          <p:cNvPr id="92" name="Picture 91" descr="circle-check-big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063" y="5888736"/>
            <a:ext cx="155448" cy="155448"/>
          </a:xfrm>
          <a:prstGeom prst="rect">
            <a:avLst/>
          </a:prstGeom>
        </p:spPr>
      </p:pic>
      <p:sp>
        <p:nvSpPr>
          <p:cNvPr id="93" name="Rectangle 92"/>
          <p:cNvSpPr/>
          <p:nvPr/>
        </p:nvSpPr>
        <p:spPr>
          <a:xfrm>
            <a:off x="9120911" y="6080760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316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자동 등급</a:t>
            </a:r>
          </a:p>
        </p:txBody>
      </p:sp>
      <p:pic>
        <p:nvPicPr>
          <p:cNvPr id="94" name="Picture 93" descr="file-text_primar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4063" y="6108192"/>
            <a:ext cx="155448" cy="15544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9130055" y="4846320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1차 자료 3종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288·123·9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30055" y="5065776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AI 초안 + 전수 검수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신규 창작 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30055" y="5285232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전건 결정 로그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누가·왜 추적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출처: 2_DATA-TAXONOMY.md §2.6 · 4_SEARCH-PIPELINE.md (00_factsheet.md §C·§D)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3. 기술 설명 — TECH 02 · Retrieve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지식그래프 — 기준서의 구조를 그대로 옮긴 결정적 지도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365760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구조 — 기준서의 위계 그대로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1014984"/>
            <a:ext cx="1463040" cy="248716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기준서 1115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1636776"/>
            <a:ext cx="914400" cy="2487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15171B"/>
                </a:solidFill>
                <a:latin typeface="Pretendard"/>
              </a:rPr>
              <a:t>변동대가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331720" y="1263700"/>
            <a:ext cx="548640" cy="373076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1636776"/>
            <a:ext cx="640080" cy="2487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15171B"/>
                </a:solidFill>
                <a:latin typeface="Pretendard"/>
              </a:rPr>
              <a:t>보증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0360" y="1263700"/>
            <a:ext cx="365760" cy="373076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03320" y="1636776"/>
            <a:ext cx="594360" cy="2487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15171B"/>
                </a:solidFill>
                <a:latin typeface="Pretendard"/>
              </a:rPr>
              <a:t>⋯ 80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80360" y="1263700"/>
            <a:ext cx="1120140" cy="373076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00200" y="2295144"/>
            <a:ext cx="731520" cy="248716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0" lang="ko-KR">
                <a:solidFill>
                  <a:srgbClr val="15171B"/>
                </a:solidFill>
                <a:latin typeface="Pretendard"/>
              </a:rPr>
              <a:t>문단 50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965960" y="1885492"/>
            <a:ext cx="365760" cy="409652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697480" y="2295144"/>
            <a:ext cx="731520" cy="248716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0" lang="ko-KR">
                <a:solidFill>
                  <a:srgbClr val="15171B"/>
                </a:solidFill>
                <a:latin typeface="Pretendard"/>
              </a:rPr>
              <a:t>문단 56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31720" y="1885492"/>
            <a:ext cx="731520" cy="409652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611880" y="2295144"/>
            <a:ext cx="548640" cy="248716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0" lang="ko-KR">
                <a:solidFill>
                  <a:srgbClr val="15171B"/>
                </a:solidFill>
                <a:latin typeface="Pretendard"/>
              </a:rPr>
              <a:t>B33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46120" y="1885492"/>
            <a:ext cx="640080" cy="409652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1673352"/>
            <a:ext cx="105156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개념층 80개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31720"/>
            <a:ext cx="105156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문단층 250개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014984"/>
            <a:ext cx="1325880" cy="2487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0" lang="ko-KR">
                <a:solidFill>
                  <a:srgbClr val="15171B"/>
                </a:solidFill>
                <a:latin typeface="Pretendard"/>
              </a:rPr>
              <a:t>“볼륨디스카운트”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292961"/>
            <a:ext cx="13716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용어 423 등재 · 400 진입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74519" y="1139342"/>
            <a:ext cx="0" cy="621792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48640" y="2660904"/>
            <a:ext cx="1005840" cy="24871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0" lang="ko-KR">
                <a:solidFill>
                  <a:srgbClr val="15171B"/>
                </a:solidFill>
                <a:latin typeface="Pretendard"/>
              </a:rPr>
              <a:t>사례 188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554480" y="2543860"/>
            <a:ext cx="45720" cy="241402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31720" y="2419502"/>
            <a:ext cx="365760" cy="0"/>
          </a:xfrm>
          <a:prstGeom prst="line">
            <a:avLst/>
          </a:prstGeom>
          <a:ln w="15875">
            <a:solidFill>
              <a:srgbClr val="8A9099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2946196"/>
            <a:ext cx="3931920" cy="1280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700" b="0" lang="ko-KR">
                <a:solidFill>
                  <a:srgbClr val="8A9099"/>
                </a:solidFill>
                <a:latin typeface="Pretendard"/>
              </a:rPr>
              <a:t>노드 929 = 개념 80 + 문단 250 + 사례 188 + BC 그룹 11 + 용어 400(423 중 간선 보유)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731520"/>
            <a:ext cx="7071055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간선 7종 — 무엇이 무엇을 잇고, 어디서 왔나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   7종 2,629 + BC 근거층 65 = 2,694 · 고립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1124712"/>
            <a:ext cx="960120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hier </a:t>
            </a:r>
            <a:r>
              <a:rPr sz="800" b="0" lang="ko-KR">
                <a:solidFill>
                  <a:srgbClr val="8A9099"/>
                </a:solidFill>
                <a:latin typeface="Pretendard"/>
              </a:rPr>
              <a:t>79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7" y="1115568"/>
            <a:ext cx="86868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15171B"/>
                </a:solidFill>
                <a:latin typeface="Pretendard"/>
              </a:rPr>
              <a:t>변동대가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1115568"/>
            <a:ext cx="1133856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15171B"/>
                </a:solidFill>
                <a:latin typeface="Pretendard"/>
              </a:rPr>
              <a:t>거래가격을 산정함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04888" y="1234440"/>
            <a:ext cx="960120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104888" y="1051560"/>
            <a:ext cx="960120" cy="155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0" lang="ko-KR">
                <a:solidFill>
                  <a:srgbClr val="8A9099"/>
                </a:solidFill>
                <a:latin typeface="Pretendard"/>
              </a:rPr>
              <a:t>속한다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0968" y="1124712"/>
            <a:ext cx="1612087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700" b="0" lang="ko-KR">
                <a:solidFill>
                  <a:srgbClr val="8A9099"/>
                </a:solidFill>
                <a:latin typeface="Pretendard"/>
              </a:rPr>
              <a:t>기준서 목차 level · 기계 생성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1399032"/>
            <a:ext cx="960120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cp </a:t>
            </a:r>
            <a:r>
              <a:rPr sz="800" b="0" lang="ko-KR">
                <a:solidFill>
                  <a:srgbClr val="8A9099"/>
                </a:solidFill>
                <a:latin typeface="Pretendard"/>
              </a:rPr>
              <a:t>250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6207" y="1389888"/>
            <a:ext cx="86868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15171B"/>
                </a:solidFill>
                <a:latin typeface="Pretendard"/>
              </a:rPr>
              <a:t>변동대가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1389888"/>
            <a:ext cx="8686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0" lang="ko-KR">
                <a:solidFill>
                  <a:srgbClr val="15171B"/>
                </a:solidFill>
                <a:latin typeface="Pretendard"/>
              </a:rPr>
              <a:t>문단 50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04888" y="1508760"/>
            <a:ext cx="960120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04888" y="1325880"/>
            <a:ext cx="960120" cy="155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0" lang="ko-KR">
                <a:solidFill>
                  <a:srgbClr val="8A9099"/>
                </a:solidFill>
                <a:latin typeface="Pretendard"/>
              </a:rPr>
              <a:t>관할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30968" y="1399032"/>
            <a:ext cx="1612087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700" b="0" lang="ko-KR">
                <a:solidFill>
                  <a:srgbClr val="8A9099"/>
                </a:solidFill>
                <a:latin typeface="Pretendard"/>
              </a:rPr>
              <a:t>documentId · 기계 생성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1673351"/>
            <a:ext cx="960120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e3 </a:t>
            </a:r>
            <a:r>
              <a:rPr sz="800" b="0" lang="ko-KR">
                <a:solidFill>
                  <a:srgbClr val="8A9099"/>
                </a:solidFill>
                <a:latin typeface="Pretendard"/>
              </a:rPr>
              <a:t>244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7" y="1664207"/>
            <a:ext cx="8686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0" lang="ko-KR">
                <a:solidFill>
                  <a:srgbClr val="15171B"/>
                </a:solidFill>
                <a:latin typeface="Pretendard"/>
              </a:rPr>
              <a:t>문단 56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65008" y="1664207"/>
            <a:ext cx="8686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0" lang="ko-KR">
                <a:solidFill>
                  <a:srgbClr val="15171B"/>
                </a:solidFill>
                <a:latin typeface="Pretendard"/>
              </a:rPr>
              <a:t>문단 53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04888" y="1783079"/>
            <a:ext cx="960120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104888" y="1600199"/>
            <a:ext cx="960120" cy="155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0" lang="ko-KR">
                <a:solidFill>
                  <a:srgbClr val="8A9099"/>
                </a:solidFill>
                <a:latin typeface="Pretendard"/>
              </a:rPr>
              <a:t>인용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30968" y="1673351"/>
            <a:ext cx="1612087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700" b="0" lang="ko-KR">
                <a:solidFill>
                  <a:srgbClr val="8A9099"/>
                </a:solidFill>
                <a:latin typeface="Pretendard"/>
              </a:rPr>
              <a:t>원문에 “문단 53” · 회계 항등식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1947671"/>
            <a:ext cx="960120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case </a:t>
            </a:r>
            <a:r>
              <a:rPr sz="800" b="0" lang="ko-KR">
                <a:solidFill>
                  <a:srgbClr val="8A9099"/>
                </a:solidFill>
                <a:latin typeface="Pretendard"/>
              </a:rPr>
              <a:t>1,220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8472" y="1938527"/>
            <a:ext cx="1296416" cy="23774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0" lang="ko-KR">
                <a:solidFill>
                  <a:srgbClr val="15171B"/>
                </a:solidFill>
                <a:latin typeface="Pretendard"/>
              </a:rPr>
              <a:t>QNA 201909A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65008" y="1938527"/>
            <a:ext cx="8686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0" lang="ko-KR">
                <a:solidFill>
                  <a:srgbClr val="15171B"/>
                </a:solidFill>
                <a:latin typeface="Pretendard"/>
              </a:rPr>
              <a:t>문단 50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104888" y="2057399"/>
            <a:ext cx="960120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104888" y="1874519"/>
            <a:ext cx="960120" cy="155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0" lang="ko-KR">
                <a:solidFill>
                  <a:srgbClr val="8A9099"/>
                </a:solidFill>
                <a:latin typeface="Pretendard"/>
              </a:rPr>
              <a:t>인용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30968" y="1947671"/>
            <a:ext cx="1612087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700" b="0" lang="ko-KR">
                <a:solidFill>
                  <a:srgbClr val="8A9099"/>
                </a:solidFill>
                <a:latin typeface="Pretendard"/>
              </a:rPr>
              <a:t>감사본 related_paragraphs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2221991"/>
            <a:ext cx="960120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term </a:t>
            </a:r>
            <a:r>
              <a:rPr sz="800" b="0" lang="ko-KR">
                <a:solidFill>
                  <a:srgbClr val="8A9099"/>
                </a:solidFill>
                <a:latin typeface="Pretendard"/>
              </a:rPr>
              <a:t>755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71031" y="2212848"/>
            <a:ext cx="1133856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0" lang="ko-KR">
                <a:solidFill>
                  <a:srgbClr val="15171B"/>
                </a:solidFill>
                <a:latin typeface="Pretendard"/>
              </a:rPr>
              <a:t>“볼륨디스카운트”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65008" y="2212848"/>
            <a:ext cx="86868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15171B"/>
                </a:solidFill>
                <a:latin typeface="Pretendard"/>
              </a:rPr>
              <a:t>변동대가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104888" y="2331720"/>
            <a:ext cx="960120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104888" y="2148839"/>
            <a:ext cx="960120" cy="155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0" lang="ko-KR">
                <a:solidFill>
                  <a:srgbClr val="8A9099"/>
                </a:solidFill>
                <a:latin typeface="Pretendard"/>
              </a:rPr>
              <a:t>진입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30968" y="2221991"/>
            <a:ext cx="1612087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700" b="0" lang="ko-KR">
                <a:solidFill>
                  <a:srgbClr val="8A9099"/>
                </a:solidFill>
                <a:latin typeface="Pretendard"/>
              </a:rPr>
              <a:t>사람 1차자료 전수검수 (TECH 01)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2496311"/>
            <a:ext cx="960120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example </a:t>
            </a:r>
            <a:r>
              <a:rPr sz="800" b="0" lang="ko-KR">
                <a:solidFill>
                  <a:srgbClr val="8A9099"/>
                </a:solidFill>
                <a:latin typeface="Pretendard"/>
              </a:rPr>
              <a:t>74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33592" y="2487168"/>
            <a:ext cx="971296" cy="23774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0" lang="ko-KR">
                <a:solidFill>
                  <a:srgbClr val="15171B"/>
                </a:solidFill>
                <a:latin typeface="Pretendard"/>
              </a:rPr>
              <a:t>IE 사례 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65008" y="2487168"/>
            <a:ext cx="971296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15171B"/>
                </a:solidFill>
                <a:latin typeface="Pretendard"/>
              </a:rPr>
              <a:t>계약을 식별함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104888" y="2606039"/>
            <a:ext cx="960120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104888" y="2423159"/>
            <a:ext cx="960120" cy="155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0" lang="ko-KR">
                <a:solidFill>
                  <a:srgbClr val="8A9099"/>
                </a:solidFill>
                <a:latin typeface="Pretendard"/>
              </a:rPr>
              <a:t>공식예시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30968" y="2496311"/>
            <a:ext cx="1612087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700" b="0" lang="ko-KR">
                <a:solidFill>
                  <a:srgbClr val="8A9099"/>
                </a:solidFill>
                <a:latin typeface="Pretendard"/>
              </a:rPr>
              <a:t>IE 목차 매핑 · 사람 확정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2770631"/>
            <a:ext cx="960120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e2 </a:t>
            </a:r>
            <a:r>
              <a:rPr sz="800" b="0" lang="ko-KR">
                <a:solidFill>
                  <a:srgbClr val="8A9099"/>
                </a:solidFill>
                <a:latin typeface="Pretendard"/>
              </a:rPr>
              <a:t>7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33592" y="2761487"/>
            <a:ext cx="971296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15171B"/>
                </a:solidFill>
                <a:latin typeface="Pretendard"/>
              </a:rPr>
              <a:t>계약을 식별함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65008" y="2761487"/>
            <a:ext cx="1133856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15171B"/>
                </a:solidFill>
                <a:latin typeface="Pretendard"/>
              </a:rPr>
              <a:t>수행의무를 식별함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104888" y="2880359"/>
            <a:ext cx="960120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104888" y="2697479"/>
            <a:ext cx="960120" cy="155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700" b="0" lang="ko-KR">
                <a:solidFill>
                  <a:srgbClr val="8A9099"/>
                </a:solidFill>
                <a:latin typeface="Pretendard"/>
              </a:rPr>
              <a:t>먼저판단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30968" y="2770631"/>
            <a:ext cx="1612087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5000"/>
              </a:lnSpc>
            </a:pPr>
            <a:r>
              <a:rPr sz="700" b="0" lang="ko-KR">
                <a:solidFill>
                  <a:srgbClr val="8A9099"/>
                </a:solidFill>
                <a:latin typeface="Pretendard"/>
              </a:rPr>
              <a:t>5단계 모형 1→2 · 사람 확정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3310128"/>
            <a:ext cx="2650159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76656" y="3429000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4128" y="3410712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구조로 검색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6656" y="3767328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텍스트 아닌 관계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6656" y="4005072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임베딩이 놓치는 법적 이웃</a:t>
            </a:r>
          </a:p>
        </p:txBody>
      </p:sp>
      <p:pic>
        <p:nvPicPr>
          <p:cNvPr id="77" name="Picture 76" descr="workflow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51" y="4315968"/>
            <a:ext cx="402336" cy="402336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676656" y="5559552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6656" y="564184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관계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로 연결</a:t>
            </a:r>
          </a:p>
        </p:txBody>
      </p:sp>
      <p:pic>
        <p:nvPicPr>
          <p:cNvPr id="80" name="Picture 79" descr="git-branch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69280"/>
            <a:ext cx="155448" cy="155448"/>
          </a:xfrm>
          <a:prstGeom prst="rect">
            <a:avLst/>
          </a:prstGeom>
        </p:spPr>
      </p:pic>
      <p:sp>
        <p:nvSpPr>
          <p:cNvPr id="81" name="Rectangle 80"/>
          <p:cNvSpPr/>
          <p:nvPr/>
        </p:nvSpPr>
        <p:spPr>
          <a:xfrm>
            <a:off x="676656" y="5861304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구조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검색</a:t>
            </a:r>
          </a:p>
        </p:txBody>
      </p:sp>
      <p:pic>
        <p:nvPicPr>
          <p:cNvPr id="82" name="Picture 81" descr="search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888736"/>
            <a:ext cx="155448" cy="155448"/>
          </a:xfrm>
          <a:prstGeom prst="rect">
            <a:avLst/>
          </a:prstGeom>
        </p:spPr>
      </p:pic>
      <p:sp>
        <p:nvSpPr>
          <p:cNvPr id="83" name="Rectangle 82"/>
          <p:cNvSpPr/>
          <p:nvPr/>
        </p:nvSpPr>
        <p:spPr>
          <a:xfrm>
            <a:off x="676656" y="6080760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임베딩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놓침</a:t>
            </a:r>
          </a:p>
        </p:txBody>
      </p:sp>
      <p:pic>
        <p:nvPicPr>
          <p:cNvPr id="84" name="Picture 83" descr="circle-x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6108192"/>
            <a:ext cx="155448" cy="15544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685800" y="4846320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문단 뭉치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순서·관계 없음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" y="5065776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기준서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계층·참조·사례 구조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" y="5285232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법적 이웃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관계가 잡는다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63391" y="3310128"/>
            <a:ext cx="2650159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491407" y="3429000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38879" y="3410712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1홉 수집 지도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91407" y="3767328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Retrieve의 지도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491407" y="4005072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수집 범위가 그래프로 고정</a:t>
            </a:r>
          </a:p>
        </p:txBody>
      </p:sp>
      <p:pic>
        <p:nvPicPr>
          <p:cNvPr id="93" name="Picture 92" descr="search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303" y="4315968"/>
            <a:ext cx="402336" cy="402336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3491407" y="5559552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491407" y="564184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1홉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탐색</a:t>
            </a:r>
          </a:p>
        </p:txBody>
      </p:sp>
      <p:pic>
        <p:nvPicPr>
          <p:cNvPr id="96" name="Picture 95" descr="git-branch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59" y="5669280"/>
            <a:ext cx="155448" cy="155448"/>
          </a:xfrm>
          <a:prstGeom prst="rect">
            <a:avLst/>
          </a:prstGeom>
        </p:spPr>
      </p:pic>
      <p:sp>
        <p:nvSpPr>
          <p:cNvPr id="97" name="Rectangle 96"/>
          <p:cNvSpPr/>
          <p:nvPr/>
        </p:nvSpPr>
        <p:spPr>
          <a:xfrm>
            <a:off x="3491407" y="5861304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문단·사례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수집</a:t>
            </a:r>
          </a:p>
        </p:txBody>
      </p:sp>
      <p:pic>
        <p:nvPicPr>
          <p:cNvPr id="98" name="Picture 97" descr="layers_prim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4559" y="5888736"/>
            <a:ext cx="155448" cy="155448"/>
          </a:xfrm>
          <a:prstGeom prst="rect">
            <a:avLst/>
          </a:prstGeom>
        </p:spPr>
      </p:pic>
      <p:sp>
        <p:nvSpPr>
          <p:cNvPr id="99" name="Rectangle 98"/>
          <p:cNvSpPr/>
          <p:nvPr/>
        </p:nvSpPr>
        <p:spPr>
          <a:xfrm>
            <a:off x="3491407" y="6080760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결정적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범위</a:t>
            </a:r>
          </a:p>
        </p:txBody>
      </p:sp>
      <p:pic>
        <p:nvPicPr>
          <p:cNvPr id="100" name="Picture 99" descr="circle-check-big_prima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4559" y="6108192"/>
            <a:ext cx="155448" cy="15544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3500551" y="4846320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진입 개념에서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관계 1단계만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500551" y="5065776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문단·사례·근거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결정적 수집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500551" y="5285232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수집 범위 자체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그래프로 고정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78143" y="3310128"/>
            <a:ext cx="2650159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306159" y="3429000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53631" y="3410712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기계 생성 뼈대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06159" y="3767328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AI 판단 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306159" y="4005072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공식 소제목 → 개념 80</a:t>
            </a:r>
          </a:p>
        </p:txBody>
      </p:sp>
      <p:pic>
        <p:nvPicPr>
          <p:cNvPr id="109" name="Picture 108" descr="git-branch_acc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2055" y="4315968"/>
            <a:ext cx="402336" cy="402336"/>
          </a:xfrm>
          <a:prstGeom prst="rect">
            <a:avLst/>
          </a:prstGeom>
        </p:spPr>
      </p:pic>
      <p:sp>
        <p:nvSpPr>
          <p:cNvPr id="110" name="Rectangle 109"/>
          <p:cNvSpPr/>
          <p:nvPr/>
        </p:nvSpPr>
        <p:spPr>
          <a:xfrm>
            <a:off x="6306159" y="5559552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306159" y="564184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개념 80</a:t>
            </a:r>
          </a:p>
        </p:txBody>
      </p:sp>
      <p:pic>
        <p:nvPicPr>
          <p:cNvPr id="112" name="Picture 111" descr="git-branch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311" y="5669280"/>
            <a:ext cx="155448" cy="155448"/>
          </a:xfrm>
          <a:prstGeom prst="rect">
            <a:avLst/>
          </a:prstGeom>
        </p:spPr>
      </p:pic>
      <p:sp>
        <p:nvSpPr>
          <p:cNvPr id="113" name="Rectangle 112"/>
          <p:cNvSpPr/>
          <p:nvPr/>
        </p:nvSpPr>
        <p:spPr>
          <a:xfrm>
            <a:off x="6306159" y="5861304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AI 판단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0</a:t>
            </a:r>
          </a:p>
        </p:txBody>
      </p:sp>
      <p:pic>
        <p:nvPicPr>
          <p:cNvPr id="114" name="Picture 113" descr="circle-x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311" y="5888736"/>
            <a:ext cx="155448" cy="155448"/>
          </a:xfrm>
          <a:prstGeom prst="rect">
            <a:avLst/>
          </a:prstGeom>
        </p:spPr>
      </p:pic>
      <p:sp>
        <p:nvSpPr>
          <p:cNvPr id="115" name="Rectangle 114"/>
          <p:cNvSpPr/>
          <p:nvPr/>
        </p:nvSpPr>
        <p:spPr>
          <a:xfrm>
            <a:off x="6306159" y="6080760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문단 250</a:t>
            </a:r>
          </a:p>
        </p:txBody>
      </p:sp>
      <p:pic>
        <p:nvPicPr>
          <p:cNvPr id="116" name="Picture 115" descr="book-open_primar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9311" y="6108192"/>
            <a:ext cx="155448" cy="155448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6315303" y="4846320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공식 소제목 80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그대로 개념 노드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15303" y="5065776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뼈대 간선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기준서에서 기계 생성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315303" y="5285232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AI 판단 0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사람 개입 최소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992895" y="3310128"/>
            <a:ext cx="2650159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120911" y="3429000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468383" y="3410712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규모·검증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20911" y="3767328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노드 929 · 간선 2,694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120911" y="4005072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고립 0 · 전수 감사 확인</a:t>
            </a:r>
          </a:p>
        </p:txBody>
      </p:sp>
      <p:pic>
        <p:nvPicPr>
          <p:cNvPr id="125" name="Picture 124" descr="layers_acc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6807" y="4315968"/>
            <a:ext cx="402336" cy="402336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9120911" y="5559552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120911" y="564184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929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노드</a:t>
            </a:r>
          </a:p>
        </p:txBody>
      </p:sp>
      <p:pic>
        <p:nvPicPr>
          <p:cNvPr id="128" name="Picture 127" descr="layers_prim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4063" y="5669280"/>
            <a:ext cx="155448" cy="155448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9120911" y="5861304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2,694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간선</a:t>
            </a:r>
          </a:p>
        </p:txBody>
      </p:sp>
      <p:pic>
        <p:nvPicPr>
          <p:cNvPr id="130" name="Picture 129" descr="git-branch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063" y="5888736"/>
            <a:ext cx="155448" cy="155448"/>
          </a:xfrm>
          <a:prstGeom prst="rect">
            <a:avLst/>
          </a:prstGeom>
        </p:spPr>
      </p:pic>
      <p:sp>
        <p:nvSpPr>
          <p:cNvPr id="131" name="Rectangle 130"/>
          <p:cNvSpPr/>
          <p:nvPr/>
        </p:nvSpPr>
        <p:spPr>
          <a:xfrm>
            <a:off x="9120911" y="6080760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0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고립</a:t>
            </a:r>
          </a:p>
        </p:txBody>
      </p:sp>
      <p:pic>
        <p:nvPicPr>
          <p:cNvPr id="132" name="Picture 131" descr="circle-check-big_prima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4063" y="6108192"/>
            <a:ext cx="155448" cy="155448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9130055" y="4846320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노드 929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개념+문단+사례+용어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30055" y="5065776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간선 2,694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7종 + BC 근거층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130055" y="5285232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고립 노드 0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감사로 확인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출처: 2_DATA-TAXONOMY.md · 3_KNOWLEDGE-GRAPH.md (00_factsheet.md §C·§D)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3. 기술 설명 — TECH 02 · Retrieve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노드 929개가 하나의 구조로 — 지식그래프 3D 뷰어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nowledge_graph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804672"/>
            <a:ext cx="9692640" cy="4726374"/>
          </a:xfrm>
          <a:prstGeom prst="rect">
            <a:avLst/>
          </a:prstGeom>
          <a:ln w="9144">
            <a:solidFill>
              <a:srgbClr val="8A9099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548640" y="5632704"/>
            <a:ext cx="2650159" cy="676656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pu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806440"/>
            <a:ext cx="329184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70432" y="5742432"/>
            <a:ext cx="1900351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실시간 3D 탐색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5980176"/>
            <a:ext cx="1900351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10000"/>
              </a:lnSpc>
            </a:pPr>
            <a:r>
              <a:rPr sz="800" b="0" lang="ko-KR">
                <a:solidFill>
                  <a:srgbClr val="8A9099"/>
                </a:solidFill>
                <a:latin typeface="Pretendard"/>
              </a:rPr>
              <a:t>클릭 상세 · 드래그 회전 · 휠 확대 · 더블클릭 초기화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3391" y="5632704"/>
            <a:ext cx="2650159" cy="676656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ayers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271" y="5806440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85183" y="5742432"/>
            <a:ext cx="1900351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레이어 토글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5183" y="5980176"/>
            <a:ext cx="1900351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10000"/>
              </a:lnSpc>
            </a:pPr>
            <a:r>
              <a:rPr sz="800" b="0" lang="ko-KR">
                <a:solidFill>
                  <a:srgbClr val="8A9099"/>
                </a:solidFill>
                <a:latin typeface="Pretendard"/>
              </a:rPr>
              <a:t>개념 · 문단 · 사례 · 간선 종류별 on · off 표시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5632704"/>
            <a:ext cx="2650159" cy="676656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orkflow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023" y="5806440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99935" y="5742432"/>
            <a:ext cx="1900351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한 화면에 전체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9935" y="5980176"/>
            <a:ext cx="1900351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10000"/>
              </a:lnSpc>
            </a:pPr>
            <a:r>
              <a:rPr sz="800" b="0" lang="ko-KR">
                <a:solidFill>
                  <a:srgbClr val="8A9099"/>
                </a:solidFill>
                <a:latin typeface="Pretendard"/>
              </a:rPr>
              <a:t>끊긴 섬 없이 하나의 구조로 렌더 — 눈으로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2895" y="5632704"/>
            <a:ext cx="2650159" cy="676656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ircle-check-big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5775" y="5806440"/>
            <a:ext cx="329184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14687" y="5742432"/>
            <a:ext cx="1900351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실운영 V1 화면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4687" y="5980176"/>
            <a:ext cx="1900351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10000"/>
              </a:lnSpc>
            </a:pPr>
            <a:r>
              <a:rPr sz="800" b="0" lang="ko-KR">
                <a:solidFill>
                  <a:srgbClr val="8A9099"/>
                </a:solidFill>
                <a:latin typeface="Pretendard"/>
              </a:rPr>
              <a:t>설계 목업 · 재현이 아닌 실제 시스템 캡처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출처: 3_KNOWLEDGE-GRAPH.md · knowledge_graph_3d.png (실운영 초기 V1 스냅샷 · 수치는 그래프 v14) · 그래프 설계·규모는 S9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3. 기술 설명 — TECH 03 · Generate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판단트리 41개 — 흩어진 조건-분기를 판단 순서로 미리 조립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493776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적용 실물 — 질문에서 트리 분기까지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7"/>
            <a:ext cx="4937760" cy="914"/>
          </a:xfrm>
          <a:prstGeom prst="rect">
            <a:avLst/>
          </a:prstGeom>
          <a:noFill/>
          <a:ln w="1270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1170432"/>
            <a:ext cx="43891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0" lang="ko-KR">
                <a:solidFill>
                  <a:srgbClr val="15171B"/>
                </a:solidFill>
                <a:latin typeface="Pretendard"/>
              </a:rPr>
              <a:t>“볼륨디스카운트 조항이 있는 계약은…”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1499616"/>
            <a:ext cx="0" cy="201168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27248" y="1490472"/>
            <a:ext cx="235915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주제 지목 — 변동대가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1719072"/>
            <a:ext cx="3474720" cy="310896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「변동대가 (추정)」 걸림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2029968"/>
            <a:ext cx="0" cy="164592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iamond 12"/>
          <p:cNvSpPr/>
          <p:nvPr/>
        </p:nvSpPr>
        <p:spPr>
          <a:xfrm>
            <a:off x="2331720" y="2194560"/>
            <a:ext cx="1371600" cy="530352"/>
          </a:xfrm>
          <a:prstGeom prst="diamond">
            <a:avLst/>
          </a:prstGeom>
          <a:solidFill>
            <a:srgbClr val="FFFFFF"/>
          </a:solidFill>
          <a:ln w="22225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15171B"/>
                </a:solidFill>
                <a:latin typeface="Pretendard"/>
              </a:rPr>
              <a:t>변동금액 포함?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3" y="2359152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문단 51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463040" y="2724912"/>
            <a:ext cx="1261872" cy="36576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310127" y="2724912"/>
            <a:ext cx="1261873" cy="36576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" y="2761488"/>
            <a:ext cx="16002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eaLnBrk="0"/>
            <a:r>
              <a:rPr b="1" sz="800" lang="ko-KR">
                <a:solidFill>
                  <a:srgbClr val="15171B"/>
                </a:solidFill>
                <a:latin typeface="Pretendard"/>
              </a:rPr>
              <a:t>기댓값</a:t>
            </a:r>
            <a:r>
              <a:rPr b="0" sz="700" lang="ko-KR">
                <a:solidFill>
                  <a:srgbClr val="8A9099"/>
                </a:solidFill>
                <a:latin typeface="Pretendard"/>
              </a:rPr>
              <a:t>  확률 가중 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13048" y="2761488"/>
            <a:ext cx="160020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eaLnBrk="0"/>
            <a:r>
              <a:rPr b="1" sz="800" lang="ko-KR">
                <a:solidFill>
                  <a:srgbClr val="15171B"/>
                </a:solidFill>
                <a:latin typeface="Pretendard"/>
              </a:rPr>
              <a:t>가능성 최고 금액</a:t>
            </a:r>
            <a:r>
              <a:rPr b="0" sz="700" lang="ko-KR">
                <a:solidFill>
                  <a:srgbClr val="8A9099"/>
                </a:solidFill>
                <a:latin typeface="Pretendard"/>
              </a:rPr>
              <a:t>  단일 결과치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786384"/>
            <a:ext cx="10972" cy="23317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749808"/>
            <a:ext cx="56080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트리는 이렇게 걸린다 — 주제기반 다중주입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024127"/>
            <a:ext cx="5608015" cy="914"/>
          </a:xfrm>
          <a:prstGeom prst="rect">
            <a:avLst/>
          </a:prstGeom>
          <a:noFill/>
          <a:ln w="1270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0" y="1170432"/>
            <a:ext cx="237744" cy="237744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1152144"/>
            <a:ext cx="1375562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주제 지목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517904"/>
            <a:ext cx="1686458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18000"/>
              </a:lnSpc>
            </a:pPr>
            <a:r>
              <a:rPr sz="800" b="0" lang="ko-KR">
                <a:solidFill>
                  <a:srgbClr val="8A9099"/>
                </a:solidFill>
                <a:latin typeface="Pretendard"/>
              </a:rPr>
              <a:t>35개 주제에서 최대 3개 지목 — 개념 80개를 직접 고르지 않는다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58074" y="1289304"/>
            <a:ext cx="201168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995818" y="1170432"/>
            <a:ext cx="237744" cy="237744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6714" y="1152144"/>
            <a:ext cx="1375562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직속 개념 매칭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5818" y="1517904"/>
            <a:ext cx="1686458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18000"/>
              </a:lnSpc>
            </a:pPr>
            <a:r>
              <a:rPr sz="800" b="0" lang="ko-KR">
                <a:solidFill>
                  <a:srgbClr val="8A9099"/>
                </a:solidFill>
                <a:latin typeface="Pretendard"/>
              </a:rPr>
              <a:t>직속 개념이 트리 발동 개념과 겹치면 걸린다 — 배경 개념 제외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18852" y="1289304"/>
            <a:ext cx="201168" cy="0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956596" y="1170432"/>
            <a:ext cx="237744" cy="237744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7492" y="1152144"/>
            <a:ext cx="1375562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걸린 트리 전부 주입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6596" y="1517904"/>
            <a:ext cx="1686458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18000"/>
              </a:lnSpc>
            </a:pPr>
            <a:r>
              <a:rPr sz="800" b="0" lang="ko-KR">
                <a:solidFill>
                  <a:srgbClr val="8A9099"/>
                </a:solidFill>
                <a:latin typeface="Pretendard"/>
              </a:rPr>
              <a:t>1개만 고르지 않고 걸린 절차 모두 주입 — 없으면 진입 개념 폴백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066543"/>
            <a:ext cx="56080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주입 뒤 — 답변은 질문 성격에 따라 세 갈래로 갈린다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2505456"/>
            <a:ext cx="1234440" cy="402336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주입된 질문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7269479" y="2423160"/>
            <a:ext cx="402336" cy="283464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26679" y="2322576"/>
            <a:ext cx="3916375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사실관계 부족</a:t>
            </a:r>
            <a:r>
              <a:rPr sz="800" b="0" lang="ko-KR">
                <a:solidFill>
                  <a:srgbClr val="8A9099"/>
                </a:solidFill>
                <a:latin typeface="Pretendard"/>
              </a:rPr>
              <a:t>  되물음 — 부족한 사실을 묻는다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7269479" y="2697480"/>
            <a:ext cx="402336" cy="9144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26679" y="2596896"/>
            <a:ext cx="3916375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산술 필요</a:t>
            </a:r>
            <a:r>
              <a:rPr sz="800" b="0" lang="ko-KR">
                <a:solidFill>
                  <a:srgbClr val="8A9099"/>
                </a:solidFill>
                <a:latin typeface="Pretendard"/>
              </a:rPr>
              <a:t>  계산을 확인한 뒤 답변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269479" y="2706624"/>
            <a:ext cx="402336" cy="265176"/>
          </a:xfrm>
          <a:prstGeom prst="line">
            <a:avLst/>
          </a:prstGeom>
          <a:ln w="1905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726679" y="2871216"/>
            <a:ext cx="3916375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그 외</a:t>
            </a:r>
            <a:r>
              <a:rPr sz="800" b="0" lang="ko-KR">
                <a:solidFill>
                  <a:srgbClr val="8A9099"/>
                </a:solidFill>
                <a:latin typeface="Pretendard"/>
              </a:rPr>
              <a:t>  확정 또는 조건부 답변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310128"/>
            <a:ext cx="2650159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6656" y="3429000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3410712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흩어진 조건 조립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3767328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판단이 문단에 흩어짐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6" y="4005072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조각 검색은 순서 복원 불가</a:t>
            </a:r>
          </a:p>
        </p:txBody>
      </p:sp>
      <p:pic>
        <p:nvPicPr>
          <p:cNvPr id="46" name="Picture 45" descr="layers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51" y="4315968"/>
            <a:ext cx="402336" cy="402336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676656" y="5559552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6656" y="564184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41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트리</a:t>
            </a:r>
          </a:p>
        </p:txBody>
      </p:sp>
      <p:pic>
        <p:nvPicPr>
          <p:cNvPr id="49" name="Picture 48" descr="layers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69280"/>
            <a:ext cx="155448" cy="155448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676656" y="5861304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조건-분기</a:t>
            </a:r>
          </a:p>
        </p:txBody>
      </p:sp>
      <p:pic>
        <p:nvPicPr>
          <p:cNvPr id="51" name="Picture 50" descr="git-branch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888736"/>
            <a:ext cx="155448" cy="155448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676656" y="6080760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순서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복원</a:t>
            </a:r>
          </a:p>
        </p:txBody>
      </p:sp>
      <p:pic>
        <p:nvPicPr>
          <p:cNvPr id="53" name="Picture 52" descr="circle-check-big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6108192"/>
            <a:ext cx="155448" cy="15544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85800" y="4846320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한 회계 판단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문단 32·35·36·37·B9~13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065776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조각 검색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판단 순서 안 복원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5285232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트리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순서를 미리 조립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63391" y="3310128"/>
            <a:ext cx="2650159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491407" y="3429000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38879" y="3410712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걸린 절차 전부 주입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91407" y="3767328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1개만 고르지 않음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91407" y="4005072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여러 판단 걸치면 전부</a:t>
            </a:r>
          </a:p>
        </p:txBody>
      </p:sp>
      <p:pic>
        <p:nvPicPr>
          <p:cNvPr id="62" name="Picture 61" descr="git-branch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303" y="4315968"/>
            <a:ext cx="402336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3491407" y="5559552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491407" y="564184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전부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주입</a:t>
            </a:r>
          </a:p>
        </p:txBody>
      </p:sp>
      <p:pic>
        <p:nvPicPr>
          <p:cNvPr id="65" name="Picture 64" descr="git-branch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59" y="5669280"/>
            <a:ext cx="155448" cy="155448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3491407" y="5861304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원문 앵커</a:t>
            </a:r>
          </a:p>
        </p:txBody>
      </p:sp>
      <p:pic>
        <p:nvPicPr>
          <p:cNvPr id="67" name="Picture 66" descr="circle-check-big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559" y="5888736"/>
            <a:ext cx="155448" cy="155448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3491407" y="6080760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41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트리</a:t>
            </a:r>
          </a:p>
        </p:txBody>
      </p:sp>
      <p:pic>
        <p:nvPicPr>
          <p:cNvPr id="69" name="Picture 68" descr="layers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59" y="6108192"/>
            <a:ext cx="155448" cy="15544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3500551" y="4846320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1개만 안 고름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걸린 절차 모두 주입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00551" y="5065776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직속 개념 없으면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진입 개념 전체 폴백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00551" y="5285232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전부 원문 앵커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근거 추적 가능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78143" y="3310128"/>
            <a:ext cx="2650159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306159" y="3429000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53631" y="3410712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원문 앵커 41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6159" y="3767328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AI 창작 아님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06159" y="4005072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조건-분기만 옮겨 41개</a:t>
            </a:r>
          </a:p>
        </p:txBody>
      </p:sp>
      <p:pic>
        <p:nvPicPr>
          <p:cNvPr id="78" name="Picture 77" descr="file-text_acc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055" y="4315968"/>
            <a:ext cx="402336" cy="402336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306159" y="5559552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306159" y="564184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41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트리</a:t>
            </a:r>
          </a:p>
        </p:txBody>
      </p:sp>
      <p:pic>
        <p:nvPicPr>
          <p:cNvPr id="81" name="Picture 80" descr="file-text_prima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9311" y="5669280"/>
            <a:ext cx="155448" cy="155448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6306159" y="5861304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AI 창작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0</a:t>
            </a:r>
          </a:p>
        </p:txBody>
      </p:sp>
      <p:pic>
        <p:nvPicPr>
          <p:cNvPr id="83" name="Picture 82" descr="circle-x_prima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9311" y="5888736"/>
            <a:ext cx="155448" cy="155448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6306159" y="6080760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전수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검수</a:t>
            </a:r>
          </a:p>
        </p:txBody>
      </p:sp>
      <p:pic>
        <p:nvPicPr>
          <p:cNvPr id="85" name="Picture 84" descr="circle-check-big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311" y="6108192"/>
            <a:ext cx="155448" cy="15544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315303" y="4846320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조건-분기만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원문 앵커=문단번호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15303" y="5065776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41개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미리 조립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15303" y="5285232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전 트리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사용자 검수 완료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92895" y="3310128"/>
            <a:ext cx="2650159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120911" y="3429000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468383" y="3410712"/>
            <a:ext cx="2046655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순서 창작 안 함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20911" y="3767328"/>
            <a:ext cx="2394127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Generate 직전 골격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120911" y="4005072"/>
            <a:ext cx="2394127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트리가 판단 순서 제공</a:t>
            </a:r>
          </a:p>
        </p:txBody>
      </p:sp>
      <p:pic>
        <p:nvPicPr>
          <p:cNvPr id="94" name="Picture 93" descr="cpu_acc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16807" y="4315968"/>
            <a:ext cx="402336" cy="402336"/>
          </a:xfrm>
          <a:prstGeom prst="rect">
            <a:avLst/>
          </a:prstGeom>
        </p:spPr>
      </p:pic>
      <p:sp>
        <p:nvSpPr>
          <p:cNvPr id="95" name="Rectangle 94"/>
          <p:cNvSpPr/>
          <p:nvPr/>
        </p:nvSpPr>
        <p:spPr>
          <a:xfrm>
            <a:off x="9120911" y="5559552"/>
            <a:ext cx="2394127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120911" y="5641848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골격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주입</a:t>
            </a:r>
          </a:p>
        </p:txBody>
      </p:sp>
      <p:pic>
        <p:nvPicPr>
          <p:cNvPr id="97" name="Picture 96" descr="git-branch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063" y="5669280"/>
            <a:ext cx="155448" cy="155448"/>
          </a:xfrm>
          <a:prstGeom prst="rect">
            <a:avLst/>
          </a:prstGeom>
        </p:spPr>
      </p:pic>
      <p:sp>
        <p:nvSpPr>
          <p:cNvPr id="98" name="Rectangle 97"/>
          <p:cNvSpPr/>
          <p:nvPr/>
        </p:nvSpPr>
        <p:spPr>
          <a:xfrm>
            <a:off x="9120911" y="5861304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순서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트리</a:t>
            </a:r>
          </a:p>
        </p:txBody>
      </p:sp>
      <p:pic>
        <p:nvPicPr>
          <p:cNvPr id="99" name="Picture 98" descr="circle-check-big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063" y="5888736"/>
            <a:ext cx="155448" cy="155448"/>
          </a:xfrm>
          <a:prstGeom prst="rect">
            <a:avLst/>
          </a:prstGeom>
        </p:spPr>
      </p:pic>
      <p:sp>
        <p:nvSpPr>
          <p:cNvPr id="100" name="Rectangle 99"/>
          <p:cNvSpPr/>
          <p:nvPr/>
        </p:nvSpPr>
        <p:spPr>
          <a:xfrm>
            <a:off x="9120911" y="6080760"/>
            <a:ext cx="2394127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AI 순서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0</a:t>
            </a:r>
          </a:p>
        </p:txBody>
      </p:sp>
      <p:pic>
        <p:nvPicPr>
          <p:cNvPr id="101" name="Picture 100" descr="circle-x_prima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4063" y="6108192"/>
            <a:ext cx="155448" cy="15544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9130055" y="4846320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Generate 직전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답변 골격 주입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30055" y="5065776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걸린 트리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판단 순서 제공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30055" y="5285232"/>
            <a:ext cx="2412415" cy="219455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AI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순서 창작 없이 채우기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출처: data/ontology/judgment_trees.json(트리 41 · 사용자 검수 완료) · 3_KNOWLEDGE-GRAPH.md §3.3 · 4_SEARCH-PIPELINE.md L72·78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3. 기술 설명 — TECH 04 · Generate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구조화 출력 — 답변의 형식을 코드가 강제한다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466344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실물 답변 화면 — 발췌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4663440" cy="914"/>
          </a:xfrm>
          <a:prstGeom prst="rect">
            <a:avLst/>
          </a:prstGeom>
          <a:noFill/>
          <a:ln w="1270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12_answ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42415"/>
            <a:ext cx="4012827" cy="3017520"/>
          </a:xfrm>
          <a:prstGeom prst="rect">
            <a:avLst/>
          </a:prstGeom>
          <a:ln w="9144">
            <a:solidFill>
              <a:srgbClr val="8A909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4224528"/>
            <a:ext cx="466344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출력 스키마 — ClarifyOutput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498848"/>
            <a:ext cx="4663440" cy="914"/>
          </a:xfrm>
          <a:prstGeom prst="rect">
            <a:avLst/>
          </a:prstGeom>
          <a:noFill/>
          <a:ln w="1270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4626864"/>
            <a:ext cx="4663440" cy="1847088"/>
          </a:xfrm>
          <a:prstGeom prst="roundRect">
            <a:avLst>
              <a:gd name="adj" fmla="val 3500"/>
            </a:avLst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773168"/>
            <a:ext cx="4206240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D66E3A"/>
                </a:solidFill>
                <a:latin typeface="Consolas"/>
              </a:rPr>
              <a:t>selected_branches</a:t>
            </a:r>
            <a:r>
              <a:rPr sz="800" b="0" lang="ko-KR">
                <a:solidFill>
                  <a:srgbClr val="F2F3F5"/>
                </a:solidFill>
                <a:latin typeface="Pretendard"/>
              </a:rPr>
              <a:t>   고른 결론 분기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009083"/>
            <a:ext cx="4206240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D66E3A"/>
                </a:solidFill>
                <a:latin typeface="Consolas"/>
              </a:rPr>
              <a:t>answer</a:t>
            </a:r>
            <a:r>
              <a:rPr sz="800" b="0" lang="ko-KR">
                <a:solidFill>
                  <a:srgbClr val="F2F3F5"/>
                </a:solidFill>
                <a:latin typeface="Pretendard"/>
              </a:rPr>
              <a:t>   답변 본문 (마크다운)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244998"/>
            <a:ext cx="4206240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D66E3A"/>
                </a:solidFill>
                <a:latin typeface="Consolas"/>
              </a:rPr>
              <a:t>cited_paragraphs</a:t>
            </a:r>
            <a:r>
              <a:rPr sz="800" b="0" lang="ko-KR">
                <a:solidFill>
                  <a:srgbClr val="F2F3F5"/>
                </a:solidFill>
                <a:latin typeface="Pretendard"/>
              </a:rPr>
              <a:t>   인용 문단 — 비면 거부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480913"/>
            <a:ext cx="4206240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D66E3A"/>
                </a:solidFill>
                <a:latin typeface="Consolas"/>
              </a:rPr>
              <a:t>cited_cases</a:t>
            </a:r>
            <a:r>
              <a:rPr sz="800" b="0" lang="ko-KR">
                <a:solidFill>
                  <a:srgbClr val="F2F3F5"/>
                </a:solidFill>
                <a:latin typeface="Pretendard"/>
              </a:rPr>
              <a:t>   인용 질의회신·감리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716828"/>
            <a:ext cx="4206240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D66E3A"/>
                </a:solidFill>
                <a:latin typeface="Consolas"/>
              </a:rPr>
              <a:t>cited_ie</a:t>
            </a:r>
            <a:r>
              <a:rPr sz="800" b="0" lang="ko-KR">
                <a:solidFill>
                  <a:srgbClr val="F2F3F5"/>
                </a:solidFill>
                <a:latin typeface="Pretendard"/>
              </a:rPr>
              <a:t>   인용 적용사례 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952744"/>
            <a:ext cx="4206240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D66E3A"/>
                </a:solidFill>
                <a:latin typeface="Consolas"/>
              </a:rPr>
              <a:t>follow_up_questions</a:t>
            </a:r>
            <a:r>
              <a:rPr sz="800" b="0" lang="ko-KR">
                <a:solidFill>
                  <a:srgbClr val="F2F3F5"/>
                </a:solidFill>
                <a:latin typeface="Pretendard"/>
              </a:rPr>
              <a:t>   확인 질문 3개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6188659"/>
            <a:ext cx="4206240" cy="21945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800" b="1" lang="ko-KR">
                <a:solidFill>
                  <a:srgbClr val="D66E3A"/>
                </a:solidFill>
                <a:latin typeface="Consolas"/>
              </a:rPr>
              <a:t>is_conclusion</a:t>
            </a:r>
            <a:r>
              <a:rPr sz="800" b="0" lang="ko-KR">
                <a:solidFill>
                  <a:srgbClr val="F2F3F5"/>
                </a:solidFill>
                <a:latin typeface="Pretendard"/>
              </a:rPr>
              <a:t>   결론 포함 — 항상 True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21808" y="768096"/>
            <a:ext cx="10972" cy="56692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2976" y="749808"/>
            <a:ext cx="2977743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50992" y="868680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8464" y="850392"/>
            <a:ext cx="2374239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자유형 폐기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0992" y="1207007"/>
            <a:ext cx="2721711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정량 평가 불가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50992" y="1444752"/>
            <a:ext cx="2721711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답변의 칸을 고정한다</a:t>
            </a:r>
          </a:p>
        </p:txBody>
      </p:sp>
      <p:pic>
        <p:nvPicPr>
          <p:cNvPr id="25" name="Picture 24" descr="file-text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967" y="1755648"/>
            <a:ext cx="365760" cy="36576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650992" y="2944368"/>
            <a:ext cx="2721711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50992" y="3026663"/>
            <a:ext cx="2721711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자유형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폐기</a:t>
            </a:r>
          </a:p>
        </p:txBody>
      </p:sp>
      <p:pic>
        <p:nvPicPr>
          <p:cNvPr id="28" name="Picture 27" descr="file-text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3054095"/>
            <a:ext cx="155448" cy="15544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650992" y="3246120"/>
            <a:ext cx="2721711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칸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고정</a:t>
            </a:r>
          </a:p>
        </p:txBody>
      </p:sp>
      <p:pic>
        <p:nvPicPr>
          <p:cNvPr id="30" name="Picture 29" descr="circle-check-big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144" y="3273551"/>
            <a:ext cx="155448" cy="1554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660136" y="2249424"/>
            <a:ext cx="2739999" cy="21335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같은 질문 매번 다른 형식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정량 평가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0136" y="2462784"/>
            <a:ext cx="2739999" cy="21335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자유형 텍스트 폐기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답변 칸을 고정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0136" y="2676143"/>
            <a:ext cx="2739999" cy="21335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형식 통제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화면·채점의 전제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65311" y="749808"/>
            <a:ext cx="2977743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93327" y="868680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0799" y="850392"/>
            <a:ext cx="2374239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같은 칸 출력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93327" y="1207007"/>
            <a:ext cx="2721711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Generate 출력 계약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93327" y="1444752"/>
            <a:ext cx="2721711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결론·인용·후속질문 한 칸</a:t>
            </a:r>
          </a:p>
        </p:txBody>
      </p:sp>
      <p:pic>
        <p:nvPicPr>
          <p:cNvPr id="39" name="Picture 38" descr="lock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1303" y="1755648"/>
            <a:ext cx="365760" cy="36576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793327" y="2944368"/>
            <a:ext cx="2721711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93327" y="3026663"/>
            <a:ext cx="2721711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출력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계약</a:t>
            </a:r>
          </a:p>
        </p:txBody>
      </p:sp>
      <p:pic>
        <p:nvPicPr>
          <p:cNvPr id="42" name="Picture 41" descr="lock_prim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6479" y="3054095"/>
            <a:ext cx="155448" cy="155448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8793327" y="3246120"/>
            <a:ext cx="2721711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채점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자동</a:t>
            </a:r>
          </a:p>
        </p:txBody>
      </p:sp>
      <p:pic>
        <p:nvPicPr>
          <p:cNvPr id="44" name="Picture 43" descr="circle-check-big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6479" y="3273551"/>
            <a:ext cx="155448" cy="15544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802471" y="2249424"/>
            <a:ext cx="2739999" cy="21335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결론·인용·후속질문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같은 칸으로 출력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02471" y="2462784"/>
            <a:ext cx="2739999" cy="21335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모든 답변 동형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화면 배치 기계화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02471" y="2676143"/>
            <a:ext cx="2739999" cy="21335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정형 출력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채점 자동 가능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22976" y="3639312"/>
            <a:ext cx="2977743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650992" y="3758184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98464" y="3739896"/>
            <a:ext cx="2374239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인용 강제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50992" y="4096512"/>
            <a:ext cx="2721711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빈 인용·빈 분기 거부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50992" y="4334256"/>
            <a:ext cx="2721711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cited 비면 검증기가 거부</a:t>
            </a:r>
          </a:p>
        </p:txBody>
      </p:sp>
      <p:pic>
        <p:nvPicPr>
          <p:cNvPr id="53" name="Picture 52" descr="shield-check_acc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8967" y="4645152"/>
            <a:ext cx="365760" cy="36576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5650992" y="5833872"/>
            <a:ext cx="2721711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50992" y="5916168"/>
            <a:ext cx="2721711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빈 인용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거부</a:t>
            </a:r>
          </a:p>
        </p:txBody>
      </p:sp>
      <p:pic>
        <p:nvPicPr>
          <p:cNvPr id="56" name="Picture 55" descr="circle-x_prima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4144" y="5943600"/>
            <a:ext cx="155448" cy="155448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5650992" y="6135624"/>
            <a:ext cx="2721711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단정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차단</a:t>
            </a:r>
          </a:p>
        </p:txBody>
      </p:sp>
      <p:pic>
        <p:nvPicPr>
          <p:cNvPr id="58" name="Picture 57" descr="triangle-alert_primar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4144" y="6163056"/>
            <a:ext cx="155448" cy="15544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660136" y="5138928"/>
            <a:ext cx="2739999" cy="213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cited_paragraphs 비면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검증기가 거부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0136" y="5352288"/>
            <a:ext cx="2739999" cy="213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빈 분기·결론 없는 단정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함께 거부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0136" y="5565648"/>
            <a:ext cx="2739999" cy="213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인용 없는 주장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화면 밖으로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65311" y="3639312"/>
            <a:ext cx="2977743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93327" y="3758184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0799" y="3739896"/>
            <a:ext cx="2374239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화면 미도달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93327" y="4096512"/>
            <a:ext cx="2721711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미달은 자동 재시도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93327" y="4334256"/>
            <a:ext cx="2721711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통과분만 화면에 도달</a:t>
            </a:r>
          </a:p>
        </p:txBody>
      </p:sp>
      <p:pic>
        <p:nvPicPr>
          <p:cNvPr id="67" name="Picture 66" descr="circle-check-big_acc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71303" y="4645152"/>
            <a:ext cx="365760" cy="365760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8793327" y="5833872"/>
            <a:ext cx="2721711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793327" y="5916168"/>
            <a:ext cx="2721711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재시도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자동</a:t>
            </a:r>
          </a:p>
        </p:txBody>
      </p:sp>
      <p:pic>
        <p:nvPicPr>
          <p:cNvPr id="70" name="Picture 69" descr="gauge_primar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66479" y="5943600"/>
            <a:ext cx="155448" cy="155448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8793327" y="6135624"/>
            <a:ext cx="2721711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1" lang="ko-KR">
                <a:solidFill>
                  <a:srgbClr val="D66E3A"/>
                </a:solidFill>
                <a:latin typeface="Pretendard"/>
              </a:rPr>
              <a:t>미달</a:t>
            </a:r>
            <a:r>
              <a:rPr sz="900" b="0" lang="ko-KR">
                <a:solidFill>
                  <a:srgbClr val="8A9099"/>
                </a:solidFill>
                <a:latin typeface="Pretendard"/>
              </a:rPr>
              <a:t> 0</a:t>
            </a:r>
          </a:p>
        </p:txBody>
      </p:sp>
      <p:pic>
        <p:nvPicPr>
          <p:cNvPr id="72" name="Picture 71" descr="circle-x_prima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6479" y="6163056"/>
            <a:ext cx="155448" cy="15544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802471" y="5138928"/>
            <a:ext cx="2739999" cy="213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형식 미달 답변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화면 도달 못 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02471" y="5352288"/>
            <a:ext cx="2739999" cy="213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result_validator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자동 재시도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02471" y="5565648"/>
            <a:ext cx="2739999" cy="2133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통과분만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사용자에게 노출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출처: app/agents.py (ClarifyOutput · output_validator) · 5_INTERFACE.md · 7_JOURNEY.md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1737360"/>
            <a:ext cx="5486400" cy="2377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r"/>
            <a:r>
              <a:rPr sz="16000" b="1" lang="ko-KR">
                <a:solidFill>
                  <a:srgbClr val="2F3237"/>
                </a:solidFill>
                <a:latin typeface="Pretendard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828800"/>
            <a:ext cx="1188720" cy="38404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900" b="1" lang="ko-KR">
                <a:solidFill>
                  <a:srgbClr val="FFFFFF"/>
                </a:solidFill>
                <a:latin typeface="Pretendard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685800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4000" b="1" lang="ko-KR">
                <a:solidFill>
                  <a:srgbClr val="FFFFFF"/>
                </a:solidFill>
                <a:latin typeface="Pretendard"/>
              </a:rPr>
              <a:t>문제와 해결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4023360"/>
            <a:ext cx="45720" cy="32004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8686800" cy="3200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400" b="0" lang="ko-KR">
                <a:solidFill>
                  <a:srgbClr val="F2F3F5"/>
                </a:solidFill>
                <a:latin typeface="Pretendard"/>
              </a:rPr>
              <a:t>실측된 네 균열마다 구조적 대체물을 배치했습니다 — 확률 신호의 전량 폐기, 그리고 정직한 한계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79" y="5257800"/>
            <a:ext cx="118872" cy="118872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74519" y="5257800"/>
            <a:ext cx="118872" cy="118872"/>
          </a:xfrm>
          <a:prstGeom prst="ellipse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4. 문제와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같은 질문, 두 시스템 — 점수는 떨어뜨리고, 경로는 도달한다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94415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0" lang="ko-KR">
                <a:solidFill>
                  <a:srgbClr val="8A9099"/>
                </a:solidFill>
                <a:latin typeface="Pretendard"/>
              </a:rPr>
              <a:t>확률 신호가 있던 자리마다 기준서의 구조가 들어간다 — 임베딩·가중치·리랭커 없이 온톨로지 그래프로 동작한다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5257800" cy="5120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94816"/>
            <a:ext cx="4800600" cy="31861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리랭커 — 점수가 근거다, 그런데 점수엔 근거가 없다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85900" y="1672742"/>
            <a:ext cx="3383280" cy="47792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 eaLnBrk="0"/>
            <a:r>
              <a:rPr b="0" sz="900" lang="ko-KR">
                <a:solidFill>
                  <a:srgbClr val="15171B"/>
                </a:solidFill>
                <a:latin typeface="Pretendard"/>
              </a:rPr>
              <a:t>“볼륨디스카운트 조항이 있는 계약은…”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517904" y="2150668"/>
            <a:ext cx="1659636" cy="1035508"/>
          </a:xfrm>
          <a:prstGeom prst="line">
            <a:avLst/>
          </a:prstGeom>
          <a:ln w="15875">
            <a:solidFill>
              <a:srgbClr val="8A9099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19122" y="2558694"/>
            <a:ext cx="4572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900" b="1" lang="ko-KR">
                <a:solidFill>
                  <a:srgbClr val="15171B"/>
                </a:solidFill>
                <a:latin typeface="Pretendard"/>
              </a:rPr>
              <a:t>1위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86176"/>
            <a:ext cx="1481328" cy="56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 eaLnBrk="0"/>
            <a:r>
              <a:rPr b="0" sz="900" lang="ko-KR">
                <a:solidFill>
                  <a:srgbClr val="8A9099"/>
                </a:solidFill>
                <a:latin typeface="Pretendard"/>
              </a:rPr>
              <a:t>표면 단어가
비슷한 문단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77540" y="2150668"/>
            <a:ext cx="4572" cy="1035508"/>
          </a:xfrm>
          <a:prstGeom prst="line">
            <a:avLst/>
          </a:prstGeom>
          <a:ln w="15875">
            <a:solidFill>
              <a:srgbClr val="8A9099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51226" y="2558694"/>
            <a:ext cx="4572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900" b="1" lang="ko-KR">
                <a:solidFill>
                  <a:srgbClr val="15171B"/>
                </a:solidFill>
                <a:latin typeface="Pretendard"/>
              </a:rPr>
              <a:t>2위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41448" y="3186176"/>
            <a:ext cx="1481328" cy="56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 eaLnBrk="0"/>
            <a:r>
              <a:rPr b="0" sz="900" lang="ko-KR">
                <a:solidFill>
                  <a:srgbClr val="8A9099"/>
                </a:solidFill>
                <a:latin typeface="Pretendard"/>
              </a:rPr>
              <a:t>표면 단어가
비슷한 문단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77540" y="2150668"/>
            <a:ext cx="1668780" cy="1035508"/>
          </a:xfrm>
          <a:prstGeom prst="line">
            <a:avLst/>
          </a:prstGeom>
          <a:ln w="15875">
            <a:solidFill>
              <a:srgbClr val="8A9099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83330" y="2558694"/>
            <a:ext cx="4572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900" b="1" lang="ko-KR">
                <a:solidFill>
                  <a:srgbClr val="15171B"/>
                </a:solidFill>
                <a:latin typeface="Pretendard"/>
              </a:rPr>
              <a:t>3위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05656" y="3186176"/>
            <a:ext cx="1481328" cy="56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 eaLnBrk="0"/>
            <a:r>
              <a:rPr b="0" sz="900" lang="ko-KR">
                <a:solidFill>
                  <a:srgbClr val="8A9099"/>
                </a:solidFill>
                <a:latin typeface="Pretendard"/>
              </a:rPr>
              <a:t>표면 단어가
비슷한 문단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4176166"/>
            <a:ext cx="4800600" cy="0"/>
          </a:xfrm>
          <a:prstGeom prst="line">
            <a:avLst/>
          </a:prstGeom>
          <a:ln w="15875">
            <a:solidFill>
              <a:srgbClr val="1517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03320" y="3938422"/>
            <a:ext cx="1874519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r"/>
            <a:r>
              <a:rPr sz="900" b="0" lang="ko-KR">
                <a:solidFill>
                  <a:srgbClr val="8A9099"/>
                </a:solidFill>
                <a:latin typeface="Pretendard"/>
              </a:rPr>
              <a:t>상위 컷 — 아래는 버려진다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49267"/>
            <a:ext cx="365760" cy="3868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3200" b="1" lang="ko-KR">
                <a:solidFill>
                  <a:srgbClr val="15171B"/>
                </a:solidFill>
                <a:latin typeface="Pretendard"/>
              </a:rPr>
              <a:t>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4403750"/>
            <a:ext cx="3108960" cy="568960"/>
          </a:xfrm>
          <a:prstGeom prst="roundRect">
            <a:avLst/>
          </a:prstGeom>
          <a:solidFill>
            <a:srgbClr val="D8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 eaLnBrk="0"/>
            <a:r>
              <a:rPr b="0" sz="900" lang="ko-KR">
                <a:solidFill>
                  <a:srgbClr val="15171B"/>
                </a:solidFill>
                <a:latin typeface="Pretendard"/>
              </a:rPr>
              <a:t>전문가 큐레이션 문단 — 정답인데 표면 유사도가 낮다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77536"/>
            <a:ext cx="4800600" cy="9672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900" b="0" lang="ko-KR">
                <a:solidFill>
                  <a:srgbClr val="8A9099"/>
                </a:solidFill>
                <a:latin typeface="Pretendard"/>
              </a:rPr>
              <a:t>실측 — 전문가 배정 큐레이션 문서가 표면 유사도 낮아 105건 중 103건 탈락(98%). 게다가 점수엔 근거가 없고(왜 3점인지 설명 불가), 3중 매칭 신호가 서로 압도해 라우팅이 비결정적 — 같은 질문에 토픽이 바뀌면 답도 바뀌었다. 유사도 필터가 정답을 거른다는 신호.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024128"/>
            <a:ext cx="5470855" cy="3200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1063955"/>
            <a:ext cx="5470855" cy="5080812"/>
          </a:xfrm>
          <a:prstGeom prst="rect">
            <a:avLst/>
          </a:prstGeom>
          <a:solidFill>
            <a:srgbClr val="FFFFFF"/>
          </a:solidFill>
          <a:ln w="12700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194816"/>
            <a:ext cx="5013655" cy="31861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지식그래프 — 경로가 근거다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1672742"/>
            <a:ext cx="3246120" cy="47792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 eaLnBrk="0"/>
            <a:r>
              <a:rPr b="0" sz="900" lang="ko-KR">
                <a:solidFill>
                  <a:srgbClr val="15171B"/>
                </a:solidFill>
                <a:latin typeface="Pretendard"/>
              </a:rPr>
              <a:t>“볼륨디스카운트 조항이 있는 계약은…”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15300" y="2150668"/>
            <a:ext cx="0" cy="409652"/>
          </a:xfrm>
          <a:prstGeom prst="line">
            <a:avLst/>
          </a:prstGeom>
          <a:ln w="22225">
            <a:solidFill>
              <a:srgbClr val="1517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92240" y="2560320"/>
            <a:ext cx="3246120" cy="52344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 eaLnBrk="0"/>
            <a:r>
              <a:rPr b="1" sz="900" lang="ko-KR">
                <a:solidFill>
                  <a:srgbClr val="15171B"/>
                </a:solidFill>
                <a:latin typeface="Pretendard"/>
              </a:rPr>
              <a:t>용어사전 매칭 — 볼륨디스카운트 → 변동대가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2674112"/>
            <a:ext cx="1447495" cy="455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900" b="0" lang="ko-KR">
                <a:solidFill>
                  <a:srgbClr val="8A9099"/>
                </a:solidFill>
                <a:latin typeface="Pretendard"/>
              </a:rPr>
              <a:t>사람이 전수 검수한 색인 (등재 423)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15300" y="3083763"/>
            <a:ext cx="0" cy="364134"/>
          </a:xfrm>
          <a:prstGeom prst="line">
            <a:avLst/>
          </a:prstGeom>
          <a:ln w="22225">
            <a:solidFill>
              <a:srgbClr val="1517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92240" y="3447897"/>
            <a:ext cx="3246120" cy="523443"/>
          </a:xfrm>
          <a:prstGeom prst="round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 eaLnBrk="0"/>
            <a:r>
              <a:rPr b="1" sz="900" lang="ko-KR">
                <a:solidFill>
                  <a:srgbClr val="FFFFFF"/>
                </a:solidFill>
                <a:latin typeface="Pretendard"/>
              </a:rPr>
              <a:t>개념 노드 — 변동대가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19" y="3561689"/>
            <a:ext cx="1447495" cy="455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900" b="0" lang="ko-KR">
                <a:solidFill>
                  <a:srgbClr val="8A9099"/>
                </a:solidFill>
                <a:latin typeface="Pretendard"/>
              </a:rPr>
              <a:t>목차 위계의 그 자리 — 측정 &gt; 거래가격 산정 &gt; 변동대가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115300" y="3971340"/>
            <a:ext cx="0" cy="364135"/>
          </a:xfrm>
          <a:prstGeom prst="line">
            <a:avLst/>
          </a:prstGeom>
          <a:ln w="22225">
            <a:solidFill>
              <a:srgbClr val="1517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92240" y="4335475"/>
            <a:ext cx="3246120" cy="52344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 eaLnBrk="0"/>
            <a:r>
              <a:rPr b="1" sz="900" lang="ko-KR">
                <a:solidFill>
                  <a:srgbClr val="15171B"/>
                </a:solidFill>
                <a:latin typeface="Pretendard"/>
              </a:rPr>
              <a:t>관할 문단 50~54 — 변동대가 추정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19" y="4449267"/>
            <a:ext cx="1447495" cy="455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20000"/>
              </a:lnSpc>
            </a:pPr>
            <a:r>
              <a:rPr sz="900" b="0" lang="ko-KR">
                <a:solidFill>
                  <a:srgbClr val="8A9099"/>
                </a:solidFill>
                <a:latin typeface="Pretendard"/>
              </a:rPr>
              <a:t>개념에 배정된 문단으로 — 간선 자체가 근거 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177536"/>
            <a:ext cx="5013655" cy="9672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30000"/>
              </a:lnSpc>
            </a:pPr>
            <a:r>
              <a:rPr sz="900" b="0" lang="ko-KR">
                <a:solidFill>
                  <a:srgbClr val="1F2329"/>
                </a:solidFill>
                <a:latin typeface="Pretendard"/>
              </a:rPr>
              <a:t>탈락시킬 점수가 없다 — 연결이 있으면 도달하고, 지난 간선이 그대로 답변의 근거다. 위계(계층 간선)·사례마다 붙은 문단번호·문단 간 상호참조가 이미 기준서에 명시돼 있어, 확률로 추정할 필요가 없다. 판단트리도 원문 앵커로 재검수했다.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출처: 7_JOURNEY.md §7.3·§7.4 (재구축 여정) · 00_factsheet.md §A'·§D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4. 문제와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골든테스트 92건 — 정답 문서를 차단하고 78건 재현, 떨어진 14건은 실제 개선 대상 1건뿐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94415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0" lang="ko-KR">
                <a:solidFill>
                  <a:srgbClr val="8A9099"/>
                </a:solidFill>
                <a:latin typeface="Pretendard"/>
              </a:rPr>
              <a:t>실제 질의회신 92건 · 격리 증명 0/92 · 실행 에러 0 · 소프트 채점 92/92 · 재현 72→78 — 개선은 튜닝이 아니라 온톨로지 구조에서 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42415"/>
            <a:ext cx="493776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① 어떻게 시험했나 — 정답을 못 보게 하고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35024"/>
            <a:ext cx="4937760" cy="914"/>
          </a:xfrm>
          <a:prstGeom prst="rect">
            <a:avLst/>
          </a:prstGeom>
          <a:noFill/>
          <a:ln w="1270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137160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76272"/>
            <a:ext cx="1371600" cy="12801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64208"/>
            <a:ext cx="13716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>
              <a:lnSpc>
                <a:spcPct val="115000"/>
              </a:lnSpc>
            </a:pPr>
            <a:r>
              <a:rPr sz="900" b="1" lang="ko-KR">
                <a:solidFill>
                  <a:srgbClr val="15171B"/>
                </a:solidFill>
                <a:latin typeface="Pretendard"/>
              </a:rPr>
              <a:t>질문</a:t>
            </a:r>
          </a:p>
          <a:p>
            <a:pPr eaLnBrk="0" algn="ctr">
              <a:lnSpc>
                <a:spcPct val="115000"/>
              </a:lnSpc>
            </a:pPr>
            <a:r>
              <a:rPr sz="900" b="0" lang="ko-KR">
                <a:solidFill>
                  <a:srgbClr val="8A9099"/>
                </a:solidFill>
                <a:latin typeface="Pretendard"/>
              </a:rPr>
              <a:t>실무 사실관계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67712"/>
            <a:ext cx="13716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>
              <a:lnSpc>
                <a:spcPct val="115000"/>
              </a:lnSpc>
            </a:pPr>
            <a:r>
              <a:rPr sz="900" b="1" lang="ko-KR">
                <a:solidFill>
                  <a:srgbClr val="15171B"/>
                </a:solidFill>
                <a:latin typeface="Pretendard"/>
              </a:rPr>
              <a:t>회신</a:t>
            </a:r>
          </a:p>
          <a:p>
            <a:pPr eaLnBrk="0" algn="ctr">
              <a:lnSpc>
                <a:spcPct val="115000"/>
              </a:lnSpc>
            </a:pPr>
            <a:r>
              <a:rPr sz="900" b="0" lang="ko-KR">
                <a:solidFill>
                  <a:srgbClr val="8A9099"/>
                </a:solidFill>
                <a:latin typeface="Pretendard"/>
              </a:rPr>
              <a:t>전문가 결론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920240" y="1764792"/>
            <a:ext cx="685800" cy="118872"/>
          </a:xfrm>
          <a:prstGeom prst="line">
            <a:avLst/>
          </a:prstGeom>
          <a:ln w="17780">
            <a:solidFill>
              <a:srgbClr val="15171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51760" y="1536192"/>
            <a:ext cx="2834640" cy="457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73152"/>
          <a:lstStyle/>
          <a:p>
            <a:pPr algn="l" eaLnBrk="0"/>
            <a:r>
              <a:rPr b="1" sz="800">
                <a:solidFill>
                  <a:srgbClr val="15171B"/>
                </a:solidFill>
                <a:latin typeface="Pretendard"/>
              </a:rPr>
              <a:t>질문만 시스템 입력</a:t>
            </a:r>
          </a:p>
        </p:txBody>
      </p:sp>
      <p:pic>
        <p:nvPicPr>
          <p:cNvPr id="15" name="Picture 14" descr="circle-check-big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1627632"/>
            <a:ext cx="274320" cy="274320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 flipV="1">
            <a:off x="1920240" y="2276856"/>
            <a:ext cx="685800" cy="192024"/>
          </a:xfrm>
          <a:prstGeom prst="line">
            <a:avLst/>
          </a:prstGeom>
          <a:ln w="17780">
            <a:solidFill>
              <a:srgbClr val="15171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51760" y="2048256"/>
            <a:ext cx="2834640" cy="457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73152"/>
          <a:lstStyle/>
          <a:p>
            <a:pPr algn="l" eaLnBrk="0"/>
            <a:r>
              <a:rPr b="1" sz="800">
                <a:solidFill>
                  <a:srgbClr val="15171B"/>
                </a:solidFill>
                <a:latin typeface="Pretendard"/>
              </a:rPr>
              <a:t>회신 = 채점 정답지</a:t>
            </a:r>
          </a:p>
          <a:p>
            <a:pPr algn="l" eaLnBrk="0"/>
            <a:r>
              <a:rPr b="0" sz="800">
                <a:solidFill>
                  <a:srgbClr val="8A9099"/>
                </a:solidFill>
                <a:latin typeface="Pretendard"/>
              </a:rPr>
              <a:t>3축: 결론·문단·분기</a:t>
            </a:r>
          </a:p>
        </p:txBody>
      </p:sp>
      <p:pic>
        <p:nvPicPr>
          <p:cNvPr id="18" name="Picture 17" descr="circle-check-big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2139696"/>
            <a:ext cx="274320" cy="274320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1920240" y="2176272"/>
            <a:ext cx="685800" cy="612648"/>
          </a:xfrm>
          <a:prstGeom prst="line">
            <a:avLst/>
          </a:prstGeom>
          <a:ln w="17780">
            <a:solidFill>
              <a:srgbClr val="8A9099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651760" y="2560320"/>
            <a:ext cx="2834640" cy="457200"/>
          </a:xfrm>
          <a:prstGeom prst="roundRect">
            <a:avLst/>
          </a:prstGeom>
          <a:solidFill>
            <a:srgbClr val="F2F3F5"/>
          </a:solidFill>
          <a:ln w="1778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73152"/>
          <a:lstStyle/>
          <a:p>
            <a:pPr algn="l" eaLnBrk="0"/>
            <a:r>
              <a:rPr b="1" sz="800">
                <a:solidFill>
                  <a:srgbClr val="15171B"/>
                </a:solidFill>
                <a:latin typeface="Pretendard"/>
              </a:rPr>
              <a:t>문서 자체는 검색 차단</a:t>
            </a:r>
          </a:p>
          <a:p>
            <a:pPr algn="l" eaLnBrk="0"/>
            <a:r>
              <a:rPr b="0" sz="800">
                <a:solidFill>
                  <a:srgbClr val="8A9099"/>
                </a:solidFill>
                <a:latin typeface="Pretendard"/>
              </a:rPr>
              <a:t>격리 증명 0/92</a:t>
            </a:r>
          </a:p>
        </p:txBody>
      </p:sp>
      <p:pic>
        <p:nvPicPr>
          <p:cNvPr id="21" name="Picture 20" descr="circle-x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776" y="2651760"/>
            <a:ext cx="274320" cy="27432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349240" y="960120"/>
            <a:ext cx="10972" cy="21488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1042415"/>
            <a:ext cx="5973775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② 결과 — 92건 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335024"/>
            <a:ext cx="5973775" cy="914"/>
          </a:xfrm>
          <a:prstGeom prst="rect">
            <a:avLst/>
          </a:prstGeom>
          <a:noFill/>
          <a:ln w="1270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669280" y="1481328"/>
          <a:ext cx="1517904" cy="151790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669280" y="1911096"/>
            <a:ext cx="1517904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3200" b="1" lang="ko-KR">
                <a:solidFill>
                  <a:srgbClr val="15171B"/>
                </a:solidFill>
                <a:latin typeface="Pretendard"/>
              </a:rPr>
              <a:t>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331720"/>
            <a:ext cx="1517904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900" b="1" lang="ko-KR">
                <a:solidFill>
                  <a:srgbClr val="8A9099"/>
                </a:solidFill>
                <a:latin typeface="Pretendard"/>
              </a:rPr>
              <a:t>/ 92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017520"/>
            <a:ext cx="2066543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800" b="1" lang="ko-KR">
                <a:solidFill>
                  <a:srgbClr val="15171B"/>
                </a:solidFill>
                <a:latin typeface="Pretendard"/>
              </a:rPr>
              <a:t>재현 (홀드아웃)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1517904"/>
            <a:ext cx="2011680" cy="34747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 eaLnBrk="0"/>
            <a:r>
              <a:rPr b="0" sz="800">
                <a:solidFill>
                  <a:srgbClr val="8A9099"/>
                </a:solidFill>
                <a:latin typeface="Pretendard"/>
              </a:rPr>
              <a:t>실행 에러  </a:t>
            </a:r>
            <a:r>
              <a:rPr b="1" sz="800">
                <a:solidFill>
                  <a:srgbClr val="D66E3A"/>
                </a:solidFill>
                <a:latin typeface="Pretendard"/>
              </a:rPr>
              <a:t>0건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73768" y="1517904"/>
            <a:ext cx="2011680" cy="34747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 eaLnBrk="0"/>
            <a:r>
              <a:rPr b="0" sz="800">
                <a:solidFill>
                  <a:srgbClr val="8A9099"/>
                </a:solidFill>
                <a:latin typeface="Pretendard"/>
              </a:rPr>
              <a:t>소프트 채점  </a:t>
            </a:r>
            <a:r>
              <a:rPr b="1" sz="800">
                <a:solidFill>
                  <a:srgbClr val="D66E3A"/>
                </a:solidFill>
                <a:latin typeface="Pretendard"/>
              </a:rPr>
              <a:t>92 / 92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1938528"/>
            <a:ext cx="2011680" cy="34747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 eaLnBrk="0"/>
            <a:r>
              <a:rPr b="0" sz="800">
                <a:solidFill>
                  <a:srgbClr val="8A9099"/>
                </a:solidFill>
                <a:latin typeface="Pretendard"/>
              </a:rPr>
              <a:t>재현 추적  </a:t>
            </a:r>
            <a:r>
              <a:rPr b="1" sz="800">
                <a:solidFill>
                  <a:srgbClr val="D66E3A"/>
                </a:solidFill>
                <a:latin typeface="Pretendard"/>
              </a:rPr>
              <a:t>72 → 78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73768" y="1938528"/>
            <a:ext cx="2011680" cy="34747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 eaLnBrk="0"/>
            <a:r>
              <a:rPr b="0" sz="800">
                <a:solidFill>
                  <a:srgbClr val="8A9099"/>
                </a:solidFill>
                <a:latin typeface="Pretendard"/>
              </a:rPr>
              <a:t>평균 총점  </a:t>
            </a:r>
            <a:r>
              <a:rPr b="1" sz="800">
                <a:solidFill>
                  <a:srgbClr val="D66E3A"/>
                </a:solidFill>
                <a:latin typeface="Pretendard"/>
              </a:rPr>
              <a:t>4.79 → 4.88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2432304"/>
            <a:ext cx="41906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25000"/>
              </a:lnSpc>
            </a:pPr>
            <a:r>
              <a:rPr sz="800" b="0" lang="ko-KR">
                <a:solidFill>
                  <a:srgbClr val="8A9099"/>
                </a:solidFill>
                <a:latin typeface="Pretendard"/>
              </a:rPr>
              <a:t>정답이 적힌 문서를 검색에서 차단한 채 사람 전문가의 결론을 재현한 수치 — 하드 인용 재현 59.1%는 별도 보고.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310128"/>
            <a:ext cx="11094415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15171B"/>
                </a:solidFill>
                <a:latin typeface="Pretendard"/>
              </a:rPr>
              <a:t>③ 떨어진 14건 — 전수 원인 귀속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602736"/>
            <a:ext cx="11094415" cy="914"/>
          </a:xfrm>
          <a:prstGeom prst="rect">
            <a:avLst/>
          </a:prstGeom>
          <a:noFill/>
          <a:ln w="12700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3694176"/>
            <a:ext cx="7818120" cy="2615184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3840480"/>
            <a:ext cx="745236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200" b="1" lang="ko-KR">
                <a:solidFill>
                  <a:srgbClr val="8A9099"/>
                </a:solidFill>
                <a:latin typeface="Pretendard"/>
              </a:rPr>
              <a:t>못 고치는 유형 · 13건 — 시스템이 손댈 수 없는 구조적 비대상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" y="4151376"/>
            <a:ext cx="7379208" cy="914"/>
          </a:xfrm>
          <a:prstGeom prst="rect">
            <a:avLst/>
          </a:prstGeom>
          <a:noFill/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6" y="4279392"/>
            <a:ext cx="420624" cy="42062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5024" y="4261104"/>
            <a:ext cx="210312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200" b="1" lang="ko-KR">
                <a:solidFill>
                  <a:srgbClr val="15171B"/>
                </a:solidFill>
                <a:latin typeface="Pretendard"/>
              </a:rPr>
              <a:t>코퍼스 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261104"/>
            <a:ext cx="45720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18000"/>
              </a:lnSpc>
            </a:pPr>
            <a:r>
              <a:rPr sz="900" b="0" lang="ko-KR">
                <a:solidFill>
                  <a:srgbClr val="8A9099"/>
                </a:solidFill>
                <a:latin typeface="Pretendard"/>
              </a:rPr>
              <a:t>타 기준서 4건은 1115 코퍼스 밖이라 인용 자체가 불가 · 범위 밖 2건은 라우팅이 정답 회수 0으로 판정 — 대상 자체가 아니다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6" y="4791456"/>
            <a:ext cx="420624" cy="42062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35024" y="4773168"/>
            <a:ext cx="210312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200" b="1" lang="ko-KR">
                <a:solidFill>
                  <a:srgbClr val="15171B"/>
                </a:solidFill>
                <a:latin typeface="Pretendard"/>
              </a:rPr>
              <a:t>결론 미확정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773168"/>
            <a:ext cx="45720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18000"/>
              </a:lnSpc>
            </a:pPr>
            <a:r>
              <a:rPr sz="900" b="0" lang="ko-KR">
                <a:solidFill>
                  <a:srgbClr val="8A9099"/>
                </a:solidFill>
                <a:latin typeface="Pretendard"/>
              </a:rPr>
              <a:t>헤지 2건 — 근거는 확보했으나 전문가도 결론을 확정하지 않은 유보 사안, 시스템이 만들어낼 정답 자체가 없다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" y="5303520"/>
            <a:ext cx="420624" cy="42062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35024" y="5285232"/>
            <a:ext cx="210312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200" b="1" lang="ko-KR">
                <a:solidFill>
                  <a:srgbClr val="15171B"/>
                </a:solidFill>
                <a:latin typeface="Pretendard"/>
              </a:rPr>
              <a:t>질문 프레임 상이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160" y="5285232"/>
            <a:ext cx="45720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18000"/>
              </a:lnSpc>
            </a:pPr>
            <a:r>
              <a:rPr sz="900" b="0" lang="ko-KR">
                <a:solidFill>
                  <a:srgbClr val="8A9099"/>
                </a:solidFill>
                <a:latin typeface="Pretendard"/>
              </a:rPr>
              <a:t>정답 규칙은 판단트리가 이미 주입 · 기준서 개념도 교차연결됨 — 시스템 결함이 아니라 질문을 보는 각도가 다른 것뿐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" y="5815583"/>
            <a:ext cx="420624" cy="42062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35024" y="5797296"/>
            <a:ext cx="210312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200" b="1" lang="ko-KR">
                <a:solidFill>
                  <a:srgbClr val="15171B"/>
                </a:solidFill>
                <a:latin typeface="Pretendard"/>
              </a:rPr>
              <a:t>진입 실패(실익 없음)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797296"/>
            <a:ext cx="45720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18000"/>
              </a:lnSpc>
            </a:pPr>
            <a:r>
              <a:rPr sz="900" b="0" lang="ko-KR">
                <a:solidFill>
                  <a:srgbClr val="8A9099"/>
                </a:solidFill>
                <a:latin typeface="Pretendard"/>
              </a:rPr>
              <a:t>정답 개념에 검색이 미진입한 케이스 중, 검색을 고쳐도 회수 실익이 없는 1건 — 개선해도 안 잡힌다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49640" y="3694176"/>
            <a:ext cx="3093415" cy="2615184"/>
          </a:xfrm>
          <a:prstGeom prst="roundRect">
            <a:avLst/>
          </a:prstGeom>
          <a:solidFill>
            <a:srgbClr val="FBF0EB"/>
          </a:solidFill>
          <a:ln w="19050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49640" y="3694176"/>
            <a:ext cx="54864" cy="261518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target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096" y="3877056"/>
            <a:ext cx="365760" cy="36576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226296" y="3895344"/>
            <a:ext cx="2270455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200" b="1" lang="ko-KR">
                <a:solidFill>
                  <a:srgbClr val="D66E3A"/>
                </a:solidFill>
                <a:latin typeface="Pretendard"/>
              </a:rPr>
              <a:t>실제 개선 대상 · 1건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69096" y="4334256"/>
            <a:ext cx="2691079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22000"/>
              </a:lnSpc>
            </a:pPr>
            <a:r>
              <a:rPr sz="900" b="0" lang="ko-KR">
                <a:solidFill>
                  <a:srgbClr val="15171B"/>
                </a:solidFill>
                <a:latin typeface="Pretendard"/>
              </a:rPr>
              <a:t>회수 가능한 건 단 1건 — 나머지 13은 손댈 대상이 아니다.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69096" y="4864608"/>
            <a:ext cx="2654503" cy="914"/>
          </a:xfrm>
          <a:prstGeom prst="rect">
            <a:avLst/>
          </a:prstGeom>
          <a:noFill/>
          <a:ln w="9525">
            <a:solidFill>
              <a:srgbClr val="EAB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69096" y="4992624"/>
            <a:ext cx="2691079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이 1건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69096" y="5230368"/>
            <a:ext cx="269107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15000"/>
              </a:lnSpc>
            </a:pPr>
            <a:r>
              <a:rPr sz="800" b="0" lang="ko-KR">
                <a:solidFill>
                  <a:srgbClr val="8A9099"/>
                </a:solidFill>
                <a:latin typeface="Pretendard"/>
              </a:rPr>
              <a:t>진입 개념 후보를 놓친 검색 문제 — 진입점을 넓히면 회수 가능.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69096" y="5669280"/>
            <a:ext cx="2691079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그래서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69096" y="5907024"/>
            <a:ext cx="269107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>
              <a:lnSpc>
                <a:spcPct val="115000"/>
              </a:lnSpc>
            </a:pPr>
            <a:r>
              <a:rPr sz="800" b="0" lang="ko-KR">
                <a:solidFill>
                  <a:srgbClr val="8A9099"/>
                </a:solidFill>
                <a:latin typeface="Pretendard"/>
              </a:rPr>
              <a:t>실패의 78%가 검색 단계 — 개선축은 생성 아닌 검색뿐.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출처: 6_TEST-DECISIONS.md (00_factsheet.md §F·§H) — 사람 작성 골든테스트 92건 홀드아웃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7315200" cy="1463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8A9099"/>
                </a:solidFill>
                <a:latin typeface="Pretendard"/>
              </a:rPr>
              <a:t>4. 문제와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400" b="1" lang="ko-KR">
                <a:solidFill>
                  <a:srgbClr val="15171B"/>
                </a:solidFill>
                <a:latin typeface="Pretendard"/>
              </a:rPr>
              <a:t>정직한 한계 — 이 시스템이 서 있는 경계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3504"/>
            <a:ext cx="11094415" cy="914"/>
          </a:xfrm>
          <a:prstGeom prst="rect">
            <a:avLst/>
          </a:prstGeom>
          <a:noFill/>
          <a:ln w="1778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94415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0" lang="ko-KR">
                <a:solidFill>
                  <a:srgbClr val="8A9099"/>
                </a:solidFill>
                <a:latin typeface="Pretendard"/>
              </a:rPr>
              <a:t>안이면 결정적으로 답하고, 밖이면 거절·유보 — 못 하는 것까지 실측으로 세어 두었다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1094415" cy="173736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15568"/>
            <a:ext cx="274320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8A9099"/>
                </a:solidFill>
                <a:latin typeface="Pretendard"/>
              </a:rPr>
              <a:t>경계 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38447" y="1298448"/>
            <a:ext cx="411480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38447" y="1426464"/>
            <a:ext cx="4114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1500" b="1" lang="ko-KR">
                <a:solidFill>
                  <a:srgbClr val="15171B"/>
                </a:solidFill>
                <a:latin typeface="Pretendard"/>
              </a:rPr>
              <a:t>K-IFRS 1115 — 경계 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4479" y="1737360"/>
            <a:ext cx="3602736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>
              <a:lnSpc>
                <a:spcPct val="120000"/>
              </a:lnSpc>
            </a:pPr>
            <a:r>
              <a:rPr sz="900" b="0" lang="ko-KR">
                <a:solidFill>
                  <a:srgbClr val="8A9099"/>
                </a:solidFill>
                <a:latin typeface="Pretendard"/>
              </a:rPr>
              <a:t>등재된 기준서·용어 안에서만 결정적으로 답한다 — 아는 척이 구조적으로 불가능한 설계.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5647" y="2194560"/>
            <a:ext cx="3200400" cy="914"/>
          </a:xfrm>
          <a:prstGeom prst="rect">
            <a:avLst/>
          </a:prstGeom>
          <a:noFill/>
          <a:ln w="9525">
            <a:solidFill>
              <a:srgbClr val="969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38447" y="2267712"/>
            <a:ext cx="41148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900" b="0" lang="ko-KR">
                <a:solidFill>
                  <a:srgbClr val="15171B"/>
                </a:solidFill>
                <a:latin typeface="Pretendard"/>
              </a:rPr>
              <a:t>홀드아웃 </a:t>
            </a:r>
            <a:r>
              <a:rPr sz="900" b="1" lang="ko-KR">
                <a:solidFill>
                  <a:srgbClr val="D66E3A"/>
                </a:solidFill>
                <a:latin typeface="Pretendard"/>
              </a:rPr>
              <a:t>78 / 92</a:t>
            </a:r>
            <a:r>
              <a:rPr sz="900" b="0" lang="ko-KR">
                <a:solidFill>
                  <a:srgbClr val="15171B"/>
                </a:solidFill>
                <a:latin typeface="Pretendard"/>
              </a:rPr>
              <a:t> 재현 · 실행 에러 </a:t>
            </a:r>
            <a:r>
              <a:rPr sz="900" b="1" lang="ko-KR">
                <a:solidFill>
                  <a:srgbClr val="D66E3A"/>
                </a:solidFill>
                <a:latin typeface="Pretendard"/>
              </a:rPr>
              <a:t>0</a:t>
            </a:r>
            <a:r>
              <a:rPr sz="900" b="0" lang="ko-KR">
                <a:solidFill>
                  <a:srgbClr val="15171B"/>
                </a:solidFill>
                <a:latin typeface="Pretendard"/>
              </a:rPr>
              <a:t>건 · 격리 0/92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627631"/>
            <a:ext cx="22860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 eaLnBrk="0"/>
            <a:r>
              <a:rPr b="1" sz="900" lang="ko-KR">
                <a:solidFill>
                  <a:srgbClr val="15171B"/>
                </a:solidFill>
                <a:latin typeface="Pretendard"/>
              </a:rPr>
              <a:t>타 기준서 질문</a:t>
            </a:r>
          </a:p>
          <a:p>
            <a:pPr algn="ctr" eaLnBrk="0"/>
            <a:r>
              <a:rPr b="0" sz="900" lang="ko-KR">
                <a:solidFill>
                  <a:srgbClr val="8A9099"/>
                </a:solidFill>
                <a:latin typeface="Pretendard"/>
              </a:rPr>
              <a:t>IAS 38 · 1002 · 1008 · 1037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27248" y="1929384"/>
            <a:ext cx="527151" cy="0"/>
          </a:xfrm>
          <a:prstGeom prst="line">
            <a:avLst/>
          </a:prstGeom>
          <a:ln w="19050">
            <a:solidFill>
              <a:srgbClr val="8A9099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992727" y="1728216"/>
            <a:ext cx="45720" cy="40233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2687" y="1801367"/>
            <a:ext cx="274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200" b="1" lang="ko-KR">
                <a:solidFill>
                  <a:srgbClr val="15171B"/>
                </a:solidFill>
                <a:latin typeface="Pretendard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1453895"/>
            <a:ext cx="86868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800" b="1" lang="ko-KR">
                <a:solidFill>
                  <a:srgbClr val="D66E3A"/>
                </a:solidFill>
                <a:latin typeface="Pretendard"/>
              </a:rPr>
              <a:t>강제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1655063"/>
            <a:ext cx="868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800" b="0" lang="ko-KR">
                <a:solidFill>
                  <a:srgbClr val="8A9099"/>
                </a:solidFill>
                <a:latin typeface="Pretendard"/>
              </a:rPr>
              <a:t>실측 4건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57055" y="1627631"/>
            <a:ext cx="22860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 eaLnBrk="0"/>
            <a:r>
              <a:rPr b="1" sz="900" lang="ko-KR">
                <a:solidFill>
                  <a:srgbClr val="15171B"/>
                </a:solidFill>
                <a:latin typeface="Pretendard"/>
              </a:rPr>
              <a:t>등재되지 않은 표현</a:t>
            </a:r>
          </a:p>
          <a:p>
            <a:pPr algn="ctr" eaLnBrk="0"/>
            <a:r>
              <a:rPr b="0" sz="900" lang="ko-KR">
                <a:solidFill>
                  <a:srgbClr val="8A9099"/>
                </a:solidFill>
                <a:latin typeface="Pretendard"/>
              </a:rPr>
              <a:t>임베딩식 유사 확장 없음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8583015" y="1929384"/>
            <a:ext cx="774040" cy="0"/>
          </a:xfrm>
          <a:prstGeom prst="line">
            <a:avLst/>
          </a:prstGeom>
          <a:ln w="19050">
            <a:solidFill>
              <a:srgbClr val="8A9099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153247" y="1728216"/>
            <a:ext cx="45720" cy="40233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2119" y="1801367"/>
            <a:ext cx="274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1200" b="1" lang="ko-KR">
                <a:solidFill>
                  <a:srgbClr val="15171B"/>
                </a:solidFill>
                <a:latin typeface="Pretendard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8375" y="1453895"/>
            <a:ext cx="86868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800" b="1" lang="ko-KR">
                <a:solidFill>
                  <a:srgbClr val="D66E3A"/>
                </a:solidFill>
                <a:latin typeface="Pretendard"/>
              </a:rPr>
              <a:t>유보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8375" y="1655063"/>
            <a:ext cx="868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ctr"/>
            <a:r>
              <a:rPr sz="800" b="0" lang="ko-KR">
                <a:solidFill>
                  <a:srgbClr val="8A9099"/>
                </a:solidFill>
                <a:latin typeface="Pretendard"/>
              </a:rPr>
              <a:t>실측 2건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71216"/>
            <a:ext cx="11094415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1" lang="ko-KR">
                <a:solidFill>
                  <a:srgbClr val="15171B"/>
                </a:solidFill>
                <a:latin typeface="Pretendard"/>
              </a:rPr>
              <a:t>경계의 비용은 실측돼 있다 — </a:t>
            </a:r>
            <a:r>
              <a:rPr sz="800" b="0" lang="ko-KR">
                <a:solidFill>
                  <a:srgbClr val="8A9099"/>
                </a:solidFill>
                <a:latin typeface="Pretendard"/>
              </a:rPr>
              <a:t>미재현 14건 중 6건이 이 경계에서 나온다 — 타 기준서 4 · 진입 누락 2. 나머지는 경계 안의 결함이 아니라 생성·검증 계층의 문제였다.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163824"/>
            <a:ext cx="353354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6656" y="3282696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264408"/>
            <a:ext cx="2930042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결론 미확정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" y="3621024"/>
            <a:ext cx="3277514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생성 계층의 한계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" y="3858768"/>
            <a:ext cx="3277514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헤지 2건 · 결론 유보</a:t>
            </a:r>
          </a:p>
        </p:txBody>
      </p:sp>
      <p:pic>
        <p:nvPicPr>
          <p:cNvPr id="32" name="Picture 31" descr="scale_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957" y="4169664"/>
            <a:ext cx="438912" cy="43891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76656" y="5340096"/>
            <a:ext cx="327751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6656" y="5422392"/>
            <a:ext cx="3277514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0" lang="ko-KR">
                <a:solidFill>
                  <a:srgbClr val="8A9099"/>
                </a:solidFill>
                <a:latin typeface="Pretendard"/>
              </a:rPr>
              <a:t>타 기준서·범위 밖 — 검색 대상 아님</a:t>
            </a:r>
          </a:p>
        </p:txBody>
      </p:sp>
      <p:pic>
        <p:nvPicPr>
          <p:cNvPr id="35" name="Picture 34" descr="circle-x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449824"/>
            <a:ext cx="155448" cy="155448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676656" y="5641848"/>
            <a:ext cx="3277514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0" lang="ko-KR">
                <a:solidFill>
                  <a:srgbClr val="8A9099"/>
                </a:solidFill>
                <a:latin typeface="Pretendard"/>
              </a:rPr>
              <a:t>실제 개선은 생성 계층에서만</a:t>
            </a:r>
          </a:p>
        </p:txBody>
      </p:sp>
      <p:pic>
        <p:nvPicPr>
          <p:cNvPr id="37" name="Picture 36" descr="target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669280"/>
            <a:ext cx="155448" cy="1554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5800" y="4736592"/>
            <a:ext cx="3295802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근거는 확보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— 문단 다 찾고도 미확정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010912"/>
            <a:ext cx="3295802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정답 부재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— 만들어낼 답 자체가 없음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9074" y="3163824"/>
            <a:ext cx="353354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57090" y="3282696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4562" y="3264408"/>
            <a:ext cx="2930042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인용 완전성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57090" y="3621024"/>
            <a:ext cx="3277514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결론과 별개 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57090" y="3858768"/>
            <a:ext cx="3277514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하드 인용 재현 59.1%</a:t>
            </a:r>
          </a:p>
        </p:txBody>
      </p:sp>
      <p:pic>
        <p:nvPicPr>
          <p:cNvPr id="45" name="Picture 44" descr="file-text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91" y="4169664"/>
            <a:ext cx="438912" cy="438912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457090" y="5340096"/>
            <a:ext cx="327751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57090" y="5422392"/>
            <a:ext cx="3277514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0" lang="ko-KR">
                <a:solidFill>
                  <a:srgbClr val="8A9099"/>
                </a:solidFill>
                <a:latin typeface="Pretendard"/>
              </a:rPr>
              <a:t>결론 정확도와는 별개 축이다</a:t>
            </a:r>
          </a:p>
        </p:txBody>
      </p:sp>
      <p:pic>
        <p:nvPicPr>
          <p:cNvPr id="48" name="Picture 47" descr="triangle-alert_pri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0242" y="5449824"/>
            <a:ext cx="155448" cy="155448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4457090" y="5641848"/>
            <a:ext cx="3277514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0" lang="ko-KR">
                <a:solidFill>
                  <a:srgbClr val="8A9099"/>
                </a:solidFill>
                <a:latin typeface="Pretendard"/>
              </a:rPr>
              <a:t>인용률은 별도 지표로 추적</a:t>
            </a:r>
          </a:p>
        </p:txBody>
      </p:sp>
      <p:pic>
        <p:nvPicPr>
          <p:cNvPr id="50" name="Picture 49" descr="search_prim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0242" y="5669280"/>
            <a:ext cx="155448" cy="15544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466234" y="4736592"/>
            <a:ext cx="3295802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결론 맞아도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— 근거 전부 인용은 못 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66234" y="5010912"/>
            <a:ext cx="3295802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정확도와 독립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— 인용률은 별개 지표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09508" y="3163824"/>
            <a:ext cx="353354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37524" y="3282696"/>
            <a:ext cx="256032" cy="256032"/>
          </a:xfrm>
          <a:prstGeom prst="ellipse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/>
            <a:r>
              <a:rPr sz="800" b="1" lang="ko-KR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84996" y="3264408"/>
            <a:ext cx="2930042" cy="292608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검증 자체의 한계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37524" y="3621024"/>
            <a:ext cx="3277514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D66E3A"/>
                </a:solidFill>
                <a:latin typeface="Pretendard"/>
              </a:rPr>
              <a:t>측정 신뢰도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37524" y="3858768"/>
            <a:ext cx="3277514" cy="2743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eaLnBrk="0"/>
            <a:r>
              <a:rPr sz="900" b="1" lang="ko-KR">
                <a:solidFill>
                  <a:srgbClr val="15171B"/>
                </a:solidFill>
                <a:latin typeface="Pretendard"/>
              </a:rPr>
              <a:t>92건 전수 열람 · 비홀드아웃</a:t>
            </a:r>
          </a:p>
        </p:txBody>
      </p:sp>
      <p:pic>
        <p:nvPicPr>
          <p:cNvPr id="58" name="Picture 57" descr="gauge_acc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6826" y="4169664"/>
            <a:ext cx="438912" cy="438912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8237524" y="5340096"/>
            <a:ext cx="3277514" cy="914"/>
          </a:xfrm>
          <a:prstGeom prst="rect">
            <a:avLst/>
          </a:prstGeom>
          <a:noFill/>
          <a:ln w="9525">
            <a:solidFill>
              <a:srgbClr val="D0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37524" y="5422392"/>
            <a:ext cx="3277514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0" lang="ko-KR">
                <a:solidFill>
                  <a:srgbClr val="8A9099"/>
                </a:solidFill>
                <a:latin typeface="Pretendard"/>
              </a:rPr>
              <a:t>순수 홀드아웃이 아니라 과대 여지</a:t>
            </a:r>
          </a:p>
        </p:txBody>
      </p:sp>
      <p:pic>
        <p:nvPicPr>
          <p:cNvPr id="61" name="Picture 60" descr="search_prim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0676" y="5449824"/>
            <a:ext cx="155448" cy="155448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8237524" y="5641848"/>
            <a:ext cx="3277514" cy="21031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/>
          <a:lstStyle/>
          <a:p>
            <a:pPr algn="l" eaLnBrk="0"/>
            <a:r>
              <a:rPr sz="900" b="0" lang="ko-KR">
                <a:solidFill>
                  <a:srgbClr val="8A9099"/>
                </a:solidFill>
                <a:latin typeface="Pretendard"/>
              </a:rPr>
              <a:t>안 본 질문으로 최종 재검증</a:t>
            </a:r>
          </a:p>
        </p:txBody>
      </p:sp>
      <p:pic>
        <p:nvPicPr>
          <p:cNvPr id="63" name="Picture 62" descr="circle-check-big_prima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0676" y="5669280"/>
            <a:ext cx="155448" cy="15544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246668" y="4736592"/>
            <a:ext cx="3295802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순수 홀드아웃 아님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— 성능 과대 여지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46668" y="5010912"/>
            <a:ext cx="3295802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>
              <a:lnSpc>
                <a:spcPct val="100000"/>
              </a:lnSpc>
            </a:pPr>
            <a:r>
              <a:rPr sz="900" b="1" lang="ko-KR">
                <a:solidFill>
                  <a:srgbClr val="D66E3A"/>
                </a:solidFill>
                <a:latin typeface="Pretendard"/>
              </a:rPr>
              <a:t>· </a:t>
            </a:r>
            <a:r>
              <a:rPr sz="900" b="1" lang="ko-KR">
                <a:solidFill>
                  <a:srgbClr val="15171B"/>
                </a:solidFill>
                <a:latin typeface="Pretendard"/>
              </a:rPr>
              <a:t>재검증 필요</a:t>
            </a:r>
            <a:r>
              <a:rPr sz="900" b="0" lang="ko-KR">
                <a:solidFill>
                  <a:srgbClr val="555A60"/>
                </a:solidFill>
                <a:latin typeface="Pretendard"/>
              </a:rPr>
              <a:t> — 안 본 질문으로 확인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528816"/>
            <a:ext cx="11094415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800" b="0" lang="ko-KR">
                <a:solidFill>
                  <a:srgbClr val="8A9099"/>
                </a:solidFill>
                <a:latin typeface="Pretendard"/>
              </a:rPr>
              <a:t>출처: 6_TEST-DECISIONS.md §6.3 · 4_SEARCH-PIPELINE.md (라우팅 강제 OUT) · 00_factsheet.md §D·§H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8229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900" b="1" lang="ko-KR">
                <a:solidFill>
                  <a:srgbClr val="8A9099"/>
                </a:solidFill>
                <a:latin typeface="Pretendard"/>
              </a:rPr>
              <a:t>CLOSING — K-IFRS 1115 온톨로지 지식그래프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41248"/>
            <a:ext cx="11002975" cy="12801"/>
          </a:xfrm>
          <a:prstGeom prst="rect">
            <a:avLst/>
          </a:prstGeom>
          <a:solidFill>
            <a:srgbClr val="505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2395728"/>
            <a:ext cx="274320" cy="27432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4000" b="1" lang="ko-KR">
                <a:solidFill>
                  <a:srgbClr val="FFFFFF"/>
                </a:solidFill>
                <a:latin typeface="Pretendard"/>
              </a:rPr>
              <a:t>확실할 때만 확정하고,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47287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eaLnBrk="0" algn="l"/>
            <a:r>
              <a:rPr sz="4000" b="1" lang="ko-KR">
                <a:solidFill>
                  <a:srgbClr val="FFFFFF"/>
                </a:solidFill>
                <a:latin typeface="Pretendard"/>
              </a:rPr>
              <a:t>애매하면 근거를 보여주며 유보한다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4617720"/>
            <a:ext cx="118872" cy="118872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4617720"/>
            <a:ext cx="118872" cy="118872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4617720"/>
            <a:ext cx="118872" cy="118872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79" y="4617720"/>
            <a:ext cx="118872" cy="118872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74519" y="4617720"/>
            <a:ext cx="118872" cy="118872"/>
          </a:xfrm>
          <a:prstGeom prst="ellipse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53328"/>
            <a:ext cx="12191695" cy="80467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318504"/>
            <a:ext cx="4572000" cy="2743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eaLnBrk="0" algn="l"/>
            <a:r>
              <a:rPr sz="1500" b="1" lang="ko-KR">
                <a:solidFill>
                  <a:srgbClr val="15171B"/>
                </a:solidFill>
                <a:latin typeface="Pretendard"/>
              </a:rPr>
              <a:t>My Company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85655" y="6236208"/>
            <a:ext cx="2011680" cy="438912"/>
          </a:xfrm>
          <a:prstGeom prst="rect">
            <a:avLst/>
          </a:prstGeom>
          <a:noFill/>
          <a:ln w="1270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8A9099"/>
                </a:solidFill>
                <a:latin typeface="Pretendard"/>
              </a:rPr>
              <a:t>회사 로고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